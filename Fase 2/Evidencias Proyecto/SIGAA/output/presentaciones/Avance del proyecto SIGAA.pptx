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fcaa4a60f74eed" /><Relationship Type="http://schemas.openxmlformats.org/officeDocument/2006/relationships/extended-properties" Target="/docProps/app.xml" Id="R278924deb6cb4c53" /><Relationship Type="http://schemas.openxmlformats.org/officeDocument/2006/relationships/officeDocument" Target="/ppt/presentation.xml" Id="Re953e88207e44d0a" /></Relationships>
</file>

<file path=ppt/presentation.xml><?xml version="1.0" encoding="utf-8"?>
<p:presentation xmlns:p="http://schemas.openxmlformats.org/presentationml/2006/main">
  <p:sldMasterIdLst>
    <p:sldMasterId xmlns:r="http://schemas.openxmlformats.org/officeDocument/2006/relationships" id="2147483648" r:id="R467f53a0fc674660"/>
  </p:sldMasterIdLst>
  <p:notesMasterIdLst>
    <p:notesMasterId xmlns:r="http://schemas.openxmlformats.org/officeDocument/2006/relationships" r:id="R7f79b543cc98414b"/>
  </p:notesMasterIdLst>
  <p:sldIdLst>
    <p:sldId xmlns:r="http://schemas.openxmlformats.org/officeDocument/2006/relationships" id="256" r:id="R56d5a6d5545f49fa"/>
    <p:sldId xmlns:r="http://schemas.openxmlformats.org/officeDocument/2006/relationships" id="257" r:id="Re95c9a1cb7c945bd"/>
    <p:sldId xmlns:r="http://schemas.openxmlformats.org/officeDocument/2006/relationships" id="258" r:id="R551b76b503a6424f"/>
    <p:sldId xmlns:r="http://schemas.openxmlformats.org/officeDocument/2006/relationships" id="259" r:id="Re2864de464374baf"/>
    <p:sldId xmlns:r="http://schemas.openxmlformats.org/officeDocument/2006/relationships" id="260" r:id="Rcee022ce4dac4039"/>
    <p:sldId xmlns:r="http://schemas.openxmlformats.org/officeDocument/2006/relationships" id="261" r:id="R7da3a62a931a4e92"/>
    <p:sldId xmlns:r="http://schemas.openxmlformats.org/officeDocument/2006/relationships" id="262" r:id="R62b4ea763e4b4fcd"/>
    <p:sldId xmlns:r="http://schemas.openxmlformats.org/officeDocument/2006/relationships" id="263" r:id="Re3f9a435ca5f48b0"/>
    <p:sldId xmlns:r="http://schemas.openxmlformats.org/officeDocument/2006/relationships" id="264" r:id="R5871584f923d42e6"/>
    <p:sldId xmlns:r="http://schemas.openxmlformats.org/officeDocument/2006/relationships" id="265" r:id="R31abe3f2fd3e437a"/>
    <p:sldId xmlns:r="http://schemas.openxmlformats.org/officeDocument/2006/relationships" id="266" r:id="R0d034dd27ca84b9a"/>
    <p:sldId xmlns:r="http://schemas.openxmlformats.org/officeDocument/2006/relationships" id="267" r:id="Rd7a7bb3317f0486e"/>
    <p:sldId xmlns:r="http://schemas.openxmlformats.org/officeDocument/2006/relationships" id="268" r:id="R9c50f8c1eb9e4723"/>
    <p:sldId xmlns:r="http://schemas.openxmlformats.org/officeDocument/2006/relationships" id="269" r:id="R8138a59083f34807"/>
    <p:sldId xmlns:r="http://schemas.openxmlformats.org/officeDocument/2006/relationships" id="270" r:id="Rbb13def6aa464796"/>
    <p:sldId xmlns:r="http://schemas.openxmlformats.org/officeDocument/2006/relationships" id="271" r:id="R11c5f104038f4471"/>
    <p:sldId xmlns:r="http://schemas.openxmlformats.org/officeDocument/2006/relationships" id="272" r:id="Rab7c56e40d0e4059"/>
    <p:sldId xmlns:r="http://schemas.openxmlformats.org/officeDocument/2006/relationships" id="273" r:id="R910b4ff26d584b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aedd35eacda4b49" /><Relationship Type="http://schemas.openxmlformats.org/officeDocument/2006/relationships/slideMaster" Target="/ppt/slideMasters/slideMaster1.xml" Id="R467f53a0fc674660" /><Relationship Type="http://schemas.openxmlformats.org/officeDocument/2006/relationships/notesMaster" Target="/ppt/notesMasters/notesMaster1.xml" Id="R7f79b543cc98414b" /><Relationship Type="http://schemas.openxmlformats.org/officeDocument/2006/relationships/presProps" Target="/ppt/presProps.xml" Id="R8aa1c62dbe584d2c" /><Relationship Type="http://schemas.openxmlformats.org/officeDocument/2006/relationships/tableStyles" Target="/ppt/tableStyles.xml" Id="Rb031bc735ef04823" /><Relationship Type="http://schemas.openxmlformats.org/officeDocument/2006/relationships/slide" Target="/ppt/slides/slide1.xml" Id="R56d5a6d5545f49fa" /><Relationship Type="http://schemas.openxmlformats.org/officeDocument/2006/relationships/slide" Target="/ppt/slides/slide2.xml" Id="Re95c9a1cb7c945bd" /><Relationship Type="http://schemas.openxmlformats.org/officeDocument/2006/relationships/slide" Target="/ppt/slides/slide3.xml" Id="R551b76b503a6424f" /><Relationship Type="http://schemas.openxmlformats.org/officeDocument/2006/relationships/slide" Target="/ppt/slides/slide4.xml" Id="Re2864de464374baf" /><Relationship Type="http://schemas.openxmlformats.org/officeDocument/2006/relationships/slide" Target="/ppt/slides/slide5.xml" Id="Rcee022ce4dac4039" /><Relationship Type="http://schemas.openxmlformats.org/officeDocument/2006/relationships/slide" Target="/ppt/slides/slide6.xml" Id="R7da3a62a931a4e92" /><Relationship Type="http://schemas.openxmlformats.org/officeDocument/2006/relationships/slide" Target="/ppt/slides/slide7.xml" Id="R62b4ea763e4b4fcd" /><Relationship Type="http://schemas.openxmlformats.org/officeDocument/2006/relationships/slide" Target="/ppt/slides/slide8.xml" Id="Re3f9a435ca5f48b0" /><Relationship Type="http://schemas.openxmlformats.org/officeDocument/2006/relationships/slide" Target="/ppt/slides/slide9.xml" Id="R5871584f923d42e6" /><Relationship Type="http://schemas.openxmlformats.org/officeDocument/2006/relationships/slide" Target="/ppt/slides/slide10.xml" Id="R31abe3f2fd3e437a" /><Relationship Type="http://schemas.openxmlformats.org/officeDocument/2006/relationships/slide" Target="/ppt/slides/slide11.xml" Id="R0d034dd27ca84b9a" /><Relationship Type="http://schemas.openxmlformats.org/officeDocument/2006/relationships/slide" Target="/ppt/slides/slide12.xml" Id="Rd7a7bb3317f0486e" /><Relationship Type="http://schemas.openxmlformats.org/officeDocument/2006/relationships/slide" Target="/ppt/slides/slide13.xml" Id="R9c50f8c1eb9e4723" /><Relationship Type="http://schemas.openxmlformats.org/officeDocument/2006/relationships/slide" Target="/ppt/slides/slide14.xml" Id="R8138a59083f34807" /><Relationship Type="http://schemas.openxmlformats.org/officeDocument/2006/relationships/slide" Target="/ppt/slides/slide15.xml" Id="Rbb13def6aa464796" /><Relationship Type="http://schemas.openxmlformats.org/officeDocument/2006/relationships/slide" Target="/ppt/slides/slide16.xml" Id="R11c5f104038f4471" /><Relationship Type="http://schemas.openxmlformats.org/officeDocument/2006/relationships/slide" Target="/ppt/slides/slide17.xml" Id="Rab7c56e40d0e4059" /><Relationship Type="http://schemas.openxmlformats.org/officeDocument/2006/relationships/slide" Target="/ppt/slides/slide18.xml" Id="R910b4ff26d584b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3f22fb3e3514a8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GAA">
  <a:themeElements>
    <a:clrScheme name="SIGAA">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SIGAA">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2c40a13a334076" /><Relationship Type="http://schemas.openxmlformats.org/officeDocument/2006/relationships/notesMaster" Target="/ppt/notesMasters/notesMaster1.xml" Id="Rf2ccb1ff5d8a4846"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f7664751eb4627" /><Relationship Type="http://schemas.openxmlformats.org/officeDocument/2006/relationships/notesMaster" Target="/ppt/notesMasters/notesMaster1.xml" Id="Rc87dc72b0d3745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d954472f80c42ff" /><Relationship Type="http://schemas.openxmlformats.org/officeDocument/2006/relationships/notesMaster" Target="/ppt/notesMasters/notesMaster1.xml" Id="R894ee4d6249846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053ba664294888" /><Relationship Type="http://schemas.openxmlformats.org/officeDocument/2006/relationships/notesMaster" Target="/ppt/notesMasters/notesMaster1.xml" Id="Rf88aa4cc6dc647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fa5692b81c34ca8" /><Relationship Type="http://schemas.openxmlformats.org/officeDocument/2006/relationships/notesMaster" Target="/ppt/notesMasters/notesMaster1.xml" Id="R24c71e08497745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05e3118c3734918" /><Relationship Type="http://schemas.openxmlformats.org/officeDocument/2006/relationships/notesMaster" Target="/ppt/notesMasters/notesMaster1.xml" Id="R1bda99505c3348f9" /></Relationships>
</file>

<file path=ppt/notesSlides/_rels/notesSlide7.xml.rels>&#65279;<?xml version="1.0" encoding="utf-8"?><Relationships xmlns="http://schemas.openxmlformats.org/package/2006/relationships"><Relationship Type="http://schemas.openxmlformats.org/officeDocument/2006/relationships/slide" Target="/ppt/slides/slide7.xml" Id="R42a73600ad1342fe" /><Relationship Type="http://schemas.openxmlformats.org/officeDocument/2006/relationships/notesMaster" Target="/ppt/notesMasters/notesMaster1.xml" Id="Rf13952ace73244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e2018267b64b1b" /><Relationship Type="http://schemas.openxmlformats.org/officeDocument/2006/relationships/notesMaster" Target="/ppt/notesMasters/notesMaster1.xml" Id="R7d4e23fce16e4fc0" /></Relationships>
</file>

<file path=ppt/notesSlides/_rels/notesSlide9.xml.rels>&#65279;<?xml version="1.0" encoding="utf-8"?><Relationships xmlns="http://schemas.openxmlformats.org/package/2006/relationships"><Relationship Type="http://schemas.openxmlformats.org/officeDocument/2006/relationships/slide" Target="/ppt/slides/slide9.xml" Id="R0e9518b3681f4b52" /><Relationship Type="http://schemas.openxmlformats.org/officeDocument/2006/relationships/notesMaster" Target="/ppt/notesMasters/notesMaster1.xml" Id="R4cb79b110e56433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0d3ddf648e493c" /><Relationship Type="http://schemas.openxmlformats.org/officeDocument/2006/relationships/notesMaster" Target="/ppt/notesMasters/notesMaster1.xml" Id="Re88e0a0874884cd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0a5baa569c44e60" /><Relationship Type="http://schemas.openxmlformats.org/officeDocument/2006/relationships/notesMaster" Target="/ppt/notesMasters/notesMaster1.xml" Id="Rb0b5112d6f984a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419166c245b4a89" /><Relationship Type="http://schemas.openxmlformats.org/officeDocument/2006/relationships/notesMaster" Target="/ppt/notesMasters/notesMaster1.xml" Id="R4785975ae199439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545399062b644df" /><Relationship Type="http://schemas.openxmlformats.org/officeDocument/2006/relationships/notesMaster" Target="/ppt/notesMasters/notesMaster1.xml" Id="R9118b74858144b5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b1994a0b8444d3c" /><Relationship Type="http://schemas.openxmlformats.org/officeDocument/2006/relationships/notesMaster" Target="/ppt/notesMasters/notesMaster1.xml" Id="R34e567bc8c0b4e1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85420895bd54e91" /><Relationship Type="http://schemas.openxmlformats.org/officeDocument/2006/relationships/notesMaster" Target="/ppt/notesMasters/notesMaster1.xml" Id="Rbcbcd9c53b5d43d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75db3f0bc9a4c61" /><Relationship Type="http://schemas.openxmlformats.org/officeDocument/2006/relationships/notesMaster" Target="/ppt/notesMasters/notesMaster1.xml" Id="R04c099b3ae9646f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94b769269f34a65" /><Relationship Type="http://schemas.openxmlformats.org/officeDocument/2006/relationships/notesMaster" Target="/ppt/notesMasters/notesMaster1.xml" Id="Rcd1debcb4a23452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a5afdd126e84952" /><Relationship Type="http://schemas.openxmlformats.org/officeDocument/2006/relationships/notesMaster" Target="/ppt/notesMasters/notesMaster1.xml" Id="R18f39140f427405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Joel. Diapositiva 1 de 18. Tiempo orientativo: 30 segundos.</a:t>
            </a:r>
          </a:p>
          <a:p xmlns:a="http://schemas.openxmlformats.org/drawingml/2006/main">
            <a:r>
              <a:t/>
            </a:r>
          </a:p>
          <a:p xmlns:a="http://schemas.openxmlformats.org/drawingml/2006/main">
            <a:r>
              <a:t>IDEA CENTRAL: Presentar al equipo, el tema y el recorrido.</a:t>
            </a:r>
          </a:p>
          <a:p xmlns:a="http://schemas.openxmlformats.org/drawingml/2006/main">
            <a:r>
              <a:t/>
            </a:r>
          </a:p>
          <a:p xmlns:a="http://schemas.openxmlformats.org/drawingml/2006/main">
            <a:r>
              <a:t>GUION SUGERIDO</a:t>
            </a:r>
          </a:p>
          <a:p xmlns:a="http://schemas.openxmlformats.org/drawingml/2006/main">
            <a:r>
              <a:t>Buenas tardes. Somos Joel López, Agustín Sorolla y Matías Martínez. Vamos a presentar el avance de SIGAA, nuestro proyecto de gestión académica para colegios y liceos. Primero explicaré el contexto y la base del sistema. Agustín mostrará el seguimiento y sus evidencias. Matías cerrará con los pendientes y la ruta para terminar el proyecto.</a:t>
            </a:r>
          </a:p>
          <a:p xmlns:a="http://schemas.openxmlformats.org/drawingml/2006/main">
            <a:r>
              <a:t/>
            </a:r>
          </a:p>
          <a:p xmlns:a="http://schemas.openxmlformats.org/drawingml/2006/main">
            <a:r>
              <a:t>APOYO VISUAL</a:t>
            </a:r>
          </a:p>
          <a:p xmlns:a="http://schemas.openxmlformats.org/drawingml/2006/main">
            <a:r>
              <a:t>Señala el nombre SIGAA y la fecha de corte.</a:t>
            </a:r>
          </a:p>
          <a:p xmlns:a="http://schemas.openxmlformats.org/drawingml/2006/main">
            <a:r>
              <a:t/>
            </a:r>
          </a:p>
          <a:p xmlns:a="http://schemas.openxmlformats.org/drawingml/2006/main">
            <a:r>
              <a:t>RECORDATORIO</a:t>
            </a:r>
          </a:p>
          <a:p xmlns:a="http://schemas.openxmlformats.org/drawingml/2006/main">
            <a:r>
              <a:t>El informe corresponde al 28 de octubre de 2026.</a:t>
            </a:r>
          </a:p>
          <a:p xmlns:a="http://schemas.openxmlformats.org/drawingml/2006/main">
            <a:r>
              <a:t/>
            </a:r>
          </a:p>
          <a:p xmlns:a="http://schemas.openxmlformats.org/drawingml/2006/main">
            <a:r>
              <a:t>TRANSICIÓN</a:t>
            </a:r>
          </a:p>
          <a:p xmlns:a="http://schemas.openxmlformats.org/drawingml/2006/main">
            <a:r>
              <a:t>Para entender el avance, primero explicaré qué problema aborda SIGAA.</a:t>
            </a:r>
          </a:p>
          <a:p xmlns:a="http://schemas.openxmlformats.org/drawingml/2006/main">
            <a:r>
              <a:t/>
            </a:r>
          </a:p>
          <a:p xmlns:a="http://schemas.openxmlformats.org/drawingml/2006/main">
            <a:r>
              <a:t>FUENTES Y CONTEXTO</a:t>
            </a:r>
          </a:p>
          <a:p xmlns:a="http://schemas.openxmlformats.org/drawingml/2006/main">
            <a:r>
              <a:t>Presentación general de avance del proyecto SIGAA para colegios y liceos. Equipo: Joel, Matías y Agustín. Joel ejerce la responsabilidad del producto. No distribuye autorías individuales de implementaciones.</a:t>
            </a:r>
          </a:p>
          <a:p xmlns:a="http://schemas.openxmlformats.org/drawingml/2006/main">
            <a:r>
              <a:t/>
            </a:r>
          </a:p>
          <a:p xmlns:a="http://schemas.openxmlformats.org/drawingml/2006/main">
            <a:r>
              <a:t>Fuentes: https://github.com/joellopez775/SIGAA-Capstone-2026</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Joel. Diapositiva 2 de 18. Tiempo orientativo: 90 segundos.</a:t>
            </a:r>
          </a:p>
          <a:p xmlns:a="http://schemas.openxmlformats.org/drawingml/2006/main">
            <a:r>
              <a:t/>
            </a:r>
          </a:p>
          <a:p xmlns:a="http://schemas.openxmlformats.org/drawingml/2006/main">
            <a:r>
              <a:t>IDEA CENTRAL: Explicar el propósito escolar antes de hablar de tecnología.</a:t>
            </a:r>
          </a:p>
          <a:p xmlns:a="http://schemas.openxmlformats.org/drawingml/2006/main">
            <a:r>
              <a:t/>
            </a:r>
          </a:p>
          <a:p xmlns:a="http://schemas.openxmlformats.org/drawingml/2006/main">
            <a:r>
              <a:t>GUION SUGERIDO</a:t>
            </a:r>
          </a:p>
          <a:p xmlns:a="http://schemas.openxmlformats.org/drawingml/2006/main">
            <a:r>
              <a:t>SIGAA significa Sistema Integral de Gestión Académica y Alertas Tempranas. Es una plataforma web orientada a colegios y liceos que reúne información académica y de seguimiento en un mismo lugar. El docente trabaja con sus cursos y registra asistencia, notas y anotaciones. El estudiante consulta sus propios resultados publicados. Administración mantiene los registros escolares e Inspectoría revisa alertas y seguimiento. Por ejemplo, una condición de asistencia puede generar una alerta. Una persona autorizada revisa su motivo, abre un caso y registra una próxima acción. El sistema ayuda a organizar ese trabajo, pero las decisiones siguen a cargo de las personas. Los apoderados se registran como contactos vinculados; todavía no tienen un acceso propio al portal.</a:t>
            </a:r>
          </a:p>
          <a:p xmlns:a="http://schemas.openxmlformats.org/drawingml/2006/main">
            <a:r>
              <a:t/>
            </a:r>
          </a:p>
          <a:p xmlns:a="http://schemas.openxmlformats.org/drawingml/2006/main">
            <a:r>
              <a:t>APOYO VISUAL</a:t>
            </a:r>
          </a:p>
          <a:p xmlns:a="http://schemas.openxmlformats.org/drawingml/2006/main">
            <a:r>
              <a:t>Recorre qué es, para qué sirve y a quién está dirigido. Usa el ejemplo sin presentarlo como un caso real.</a:t>
            </a:r>
          </a:p>
          <a:p xmlns:a="http://schemas.openxmlformats.org/drawingml/2006/main">
            <a:r>
              <a:t/>
            </a:r>
          </a:p>
          <a:p xmlns:a="http://schemas.openxmlformats.org/drawingml/2006/main">
            <a:r>
              <a:t>RECORDATORIO</a:t>
            </a:r>
          </a:p>
          <a:p xmlns:a="http://schemas.openxmlformats.org/drawingml/2006/main">
            <a:r>
              <a:t>No es una plataforma universitaria. No existe todavía un portal de apoderados.</a:t>
            </a:r>
          </a:p>
          <a:p xmlns:a="http://schemas.openxmlformats.org/drawingml/2006/main">
            <a:r>
              <a:t/>
            </a:r>
          </a:p>
          <a:p xmlns:a="http://schemas.openxmlformats.org/drawingml/2006/main">
            <a:r>
              <a:t>TRANSICIÓN</a:t>
            </a:r>
          </a:p>
          <a:p xmlns:a="http://schemas.openxmlformats.org/drawingml/2006/main">
            <a:r>
              <a:t>Con ese contexto, este es el punto del desarrollo en que estamos.</a:t>
            </a:r>
          </a:p>
          <a:p xmlns:a="http://schemas.openxmlformats.org/drawingml/2006/main">
            <a:r>
              <a:t/>
            </a:r>
          </a:p>
          <a:p xmlns:a="http://schemas.openxmlformats.org/drawingml/2006/main">
            <a:r>
              <a:t>FUENTES Y CONTEXTO</a:t>
            </a:r>
          </a:p>
          <a:p xmlns:a="http://schemas.openxmlformats.org/drawingml/2006/main">
            <a:r>
              <a:t>Contexto basado en README.md y los módulos escolares del repositorio SIGAA-Capstone-2026. La plataforma apoya decisiones humanas mediante reglas explicables y no acredita validación institucional de resultados. Fuente: https://github.com/joellopez775/SIGAA-Capstone-2026</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Joel. Diapositiva 3 de 18. Tiempo orientativo: 65 segundos.</a:t>
            </a:r>
          </a:p>
          <a:p xmlns:a="http://schemas.openxmlformats.org/drawingml/2006/main">
            <a:r>
              <a:t/>
            </a:r>
          </a:p>
          <a:p xmlns:a="http://schemas.openxmlformats.org/drawingml/2006/main">
            <a:r>
              <a:t>IDEA CENTRAL: Distinguir implementación, revisión e instalación en el servidor.</a:t>
            </a:r>
          </a:p>
          <a:p xmlns:a="http://schemas.openxmlformats.org/drawingml/2006/main">
            <a:r>
              <a:t/>
            </a:r>
          </a:p>
          <a:p xmlns:a="http://schemas.openxmlformats.org/drawingml/2006/main">
            <a:r>
              <a:t>GUION SUGERIDO</a:t>
            </a:r>
          </a:p>
          <a:p xmlns:a="http://schemas.openxmlformats.org/drawingml/2006/main">
            <a:r>
              <a:t>Actualmente estamos trabajando en el Sprint 5, dedicado al seguimiento. El incremento 0.9.0 incorpora casos, apoderados y ficha integral con registros persistentes. Eso significa que la información se guarda en la base de datos y no depende solo de lo que muestra una pantalla. Los tres módulos tienen pruebas locales y están en revisión. Debemos distinguir esto de su aprobación e instalación en el servidor: esas etapas siguen pendientes. La ventana del sprint se planificó del 19 al 31 de octubre, mientras que Jira registra su activación efectiva el 28. Estamos mostrando resultados implementados, con sus límites claramente identificados.</a:t>
            </a:r>
          </a:p>
          <a:p xmlns:a="http://schemas.openxmlformats.org/drawingml/2006/main">
            <a:r>
              <a:t/>
            </a:r>
          </a:p>
          <a:p xmlns:a="http://schemas.openxmlformats.org/drawingml/2006/main">
            <a:r>
              <a:t>APOYO VISUAL</a:t>
            </a:r>
          </a:p>
          <a:p xmlns:a="http://schemas.openxmlformats.org/drawingml/2006/main">
            <a:r>
              <a:t>Señala 0.9.0 y las líneas de revisión e integración pendiente.</a:t>
            </a:r>
          </a:p>
          <a:p xmlns:a="http://schemas.openxmlformats.org/drawingml/2006/main">
            <a:r>
              <a:t/>
            </a:r>
          </a:p>
          <a:p xmlns:a="http://schemas.openxmlformats.org/drawingml/2006/main">
            <a:r>
              <a:t>RECORDATORIO</a:t>
            </a:r>
          </a:p>
          <a:p xmlns:a="http://schemas.openxmlformats.org/drawingml/2006/main">
            <a:r>
              <a:t>La última versión desplegada documentada es 0.8.0. No afirmar que 0.9.0 ya está en producción.</a:t>
            </a:r>
          </a:p>
          <a:p xmlns:a="http://schemas.openxmlformats.org/drawingml/2006/main">
            <a:r>
              <a:t/>
            </a:r>
          </a:p>
          <a:p xmlns:a="http://schemas.openxmlformats.org/drawingml/2006/main">
            <a:r>
              <a:t>TRANSICIÓN</a:t>
            </a:r>
          </a:p>
          <a:p xmlns:a="http://schemas.openxmlformats.org/drawingml/2006/main">
            <a:r>
              <a:t>El funcionamiento de esos módulos depende de los permisos de cada usuario.</a:t>
            </a:r>
          </a:p>
          <a:p xmlns:a="http://schemas.openxmlformats.org/drawingml/2006/main">
            <a:r>
              <a:t/>
            </a:r>
          </a:p>
          <a:p xmlns:a="http://schemas.openxmlformats.org/drawingml/2006/main">
            <a:r>
              <a:t>FUENTES Y CONTEXTO</a:t>
            </a:r>
          </a:p>
          <a:p xmlns:a="http://schemas.openxmlformats.org/drawingml/2006/main">
            <a:r>
              <a:t>El último despliegue documentado corresponde al incremento 0.8.0. No se verificó el servidor público en este corte. La solicitud de integración #1 está abierta y la rama principal no incluye aún el incremento.</a:t>
            </a:r>
          </a:p>
          <a:p xmlns:a="http://schemas.openxmlformats.org/drawingml/2006/main">
            <a:r>
              <a:t/>
            </a:r>
          </a:p>
          <a:p xmlns:a="http://schemas.openxmlformats.org/drawingml/2006/main">
            <a:r>
              <a:t>Fuentes: https://github.com/joellopez775/SIGAA-Capstone-2026/pull/1</a:t>
            </a:r>
          </a:p>
          <a:p xmlns:a="http://schemas.openxmlformats.org/drawingml/2006/main">
            <a:r>
              <a:t>https://sigaa-duoc-2026.atlassian.net/browse/SCRUM-35</a:t>
            </a:r>
          </a:p>
          <a:p xmlns:a="http://schemas.openxmlformats.org/drawingml/2006/main">
            <a:r>
              <a:t>https://sigaa-duoc-2026.atlassian.net/browse/SCRUM-36</a:t>
            </a:r>
          </a:p>
          <a:p xmlns:a="http://schemas.openxmlformats.org/drawingml/2006/main">
            <a:r>
              <a:t>https://sigaa-duoc-2026.atlassian.net/browse/SCRUM-48</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Joel. Diapositiva 4 de 18. Tiempo orientativo: 65 segundos.</a:t>
            </a:r>
          </a:p>
          <a:p xmlns:a="http://schemas.openxmlformats.org/drawingml/2006/main">
            <a:r>
              <a:t/>
            </a:r>
          </a:p>
          <a:p xmlns:a="http://schemas.openxmlformats.org/drawingml/2006/main">
            <a:r>
              <a:t>IDEA CENTRAL: Relacionar cada rol con su trabajo y sus restricciones.</a:t>
            </a:r>
          </a:p>
          <a:p xmlns:a="http://schemas.openxmlformats.org/drawingml/2006/main">
            <a:r>
              <a:t/>
            </a:r>
          </a:p>
          <a:p xmlns:a="http://schemas.openxmlformats.org/drawingml/2006/main">
            <a:r>
              <a:t>GUION SUGERIDO</a:t>
            </a:r>
          </a:p>
          <a:p xmlns:a="http://schemas.openxmlformats.org/drawingml/2006/main">
            <a:r>
              <a:t>La misma plataforma ofrece distintas operaciones según el rol. El docente trabaja sobre sus cursos asignados y el estudiante consulta sus propios registros publicados. Administración mantiene la estructura y los datos escolares. Inspectoría utiliza alertas, justificaciones y seguimiento. Lo importante es que el permiso no consiste solamente en esconder un botón. El servidor comprueba quién realiza la petición y qué datos puede consultar o modificar. Así, cambiar una dirección en el navegador no debería permitir que un estudiante vea información de otro. Las pruebas disponibles incluyen rechazos de accesos no autorizados, además de los recorridos que deben funcionar.</a:t>
            </a:r>
          </a:p>
          <a:p xmlns:a="http://schemas.openxmlformats.org/drawingml/2006/main">
            <a:r>
              <a:t/>
            </a:r>
          </a:p>
          <a:p xmlns:a="http://schemas.openxmlformats.org/drawingml/2006/main">
            <a:r>
              <a:t>APOYO VISUAL</a:t>
            </a:r>
          </a:p>
          <a:p xmlns:a="http://schemas.openxmlformats.org/drawingml/2006/main">
            <a:r>
              <a:t>Recorre la tabla por rol y termina en la frase sobre la API.</a:t>
            </a:r>
          </a:p>
          <a:p xmlns:a="http://schemas.openxmlformats.org/drawingml/2006/main">
            <a:r>
              <a:t/>
            </a:r>
          </a:p>
          <a:p xmlns:a="http://schemas.openxmlformats.org/drawingml/2006/main">
            <a:r>
              <a:t>RECORDATORIO</a:t>
            </a:r>
          </a:p>
          <a:p xmlns:a="http://schemas.openxmlformats.org/drawingml/2006/main">
            <a:r>
              <a:t>Rol indica qué operación se permite. Alcance indica sobre qué cursos o estudiantes.</a:t>
            </a:r>
          </a:p>
          <a:p xmlns:a="http://schemas.openxmlformats.org/drawingml/2006/main">
            <a:r>
              <a:t/>
            </a:r>
          </a:p>
          <a:p xmlns:a="http://schemas.openxmlformats.org/drawingml/2006/main">
            <a:r>
              <a:t>TRANSICIÓN</a:t>
            </a:r>
          </a:p>
          <a:p xmlns:a="http://schemas.openxmlformats.org/drawingml/2006/main">
            <a:r>
              <a:t>Ahora explicaré cómo se organizan las partes técnicas que hacen posible ese control.</a:t>
            </a:r>
          </a:p>
          <a:p xmlns:a="http://schemas.openxmlformats.org/drawingml/2006/main">
            <a:r>
              <a:t/>
            </a:r>
          </a:p>
          <a:p xmlns:a="http://schemas.openxmlformats.org/drawingml/2006/main">
            <a:r>
              <a:t>FUENTES Y CONTEXTO</a:t>
            </a:r>
          </a:p>
          <a:p xmlns:a="http://schemas.openxmlformats.org/drawingml/2006/main">
            <a:r>
              <a:t>Resumen funcional acumulado según pruebas del servidor y evidencia de navegador. La ficha no expone datos de otros estudiantes. Las funciones del docente requieren asignación vigente a cursos.</a:t>
            </a:r>
          </a:p>
          <a:p xmlns:a="http://schemas.openxmlformats.org/drawingml/2006/main">
            <a:r>
              <a:t/>
            </a:r>
          </a:p>
          <a:p xmlns:a="http://schemas.openxmlformats.org/drawingml/2006/main">
            <a:r>
              <a:t>Fuentes: https://github.com/joellopez775/SIGAA-Capstone-2026/tree/feature/sprint-5-seguimiento/Fase%202/Evidencias%20Proyecto/SIGAA/apps</a:t>
            </a:r>
          </a:p>
          <a:p xmlns:a="http://schemas.openxmlformats.org/drawingml/2006/main">
            <a:r>
              <a:t>https://sigaa-duoc-2026.atlassian.net/browse/SCRUM-24</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Joel. Diapositiva 5 de 18. Tiempo orientativo: 70 segundos.</a:t>
            </a:r>
          </a:p>
          <a:p xmlns:a="http://schemas.openxmlformats.org/drawingml/2006/main">
            <a:r>
              <a:t/>
            </a:r>
          </a:p>
          <a:p xmlns:a="http://schemas.openxmlformats.org/drawingml/2006/main">
            <a:r>
              <a:t>IDEA CENTRAL: Explicar las capas con un ejemplo comprensible.</a:t>
            </a:r>
          </a:p>
          <a:p xmlns:a="http://schemas.openxmlformats.org/drawingml/2006/main">
            <a:r>
              <a:t/>
            </a:r>
          </a:p>
          <a:p xmlns:a="http://schemas.openxmlformats.org/drawingml/2006/main">
            <a:r>
              <a:t>GUION SUGERIDO</a:t>
            </a:r>
          </a:p>
          <a:p xmlns:a="http://schemas.openxmlformats.org/drawingml/2006/main">
            <a:r>
              <a:t>El sistema tiene una interfaz construida con React y Vite. La interfaz envía solicitudes a una API desarrollada con Node.js y Express. La API valida la sesión, los permisos y los datos antes de trabajar con PostgreSQL. Por ejemplo, al guardar una asistencia, la pantalla solicita el cambio, el servidor comprueba que el docente tenga ese curso y la base almacena el registro. Docker ayuda a ejecutar los componentes con una configuración compartida. Nginx y Cloudflare forman parte de la publicación documentada. Para este incremento, las pruebas usaron PostgreSQL 14 aislado. Todavía debemos comprobar el entorno Docker con PostgreSQL 16 antes de dar por cerrado ese punto.</a:t>
            </a:r>
          </a:p>
          <a:p xmlns:a="http://schemas.openxmlformats.org/drawingml/2006/main">
            <a:r>
              <a:t/>
            </a:r>
          </a:p>
          <a:p xmlns:a="http://schemas.openxmlformats.org/drawingml/2006/main">
            <a:r>
              <a:t>APOYO VISUAL</a:t>
            </a:r>
          </a:p>
          <a:p xmlns:a="http://schemas.openxmlformats.org/drawingml/2006/main">
            <a:r>
              <a:t>Explica interfaz, API y base en ese orden. Cierra con la diferencia entre entorno probado y objetivo.</a:t>
            </a:r>
          </a:p>
          <a:p xmlns:a="http://schemas.openxmlformats.org/drawingml/2006/main">
            <a:r>
              <a:t/>
            </a:r>
          </a:p>
          <a:p xmlns:a="http://schemas.openxmlformats.org/drawingml/2006/main">
            <a:r>
              <a:t>RECORDATORIO</a:t>
            </a:r>
          </a:p>
          <a:p xmlns:a="http://schemas.openxmlformats.org/drawingml/2006/main">
            <a:r>
              <a:t>Una migración es un cambio versionado de la estructura de datos. El incremento añade la 009.</a:t>
            </a:r>
          </a:p>
          <a:p xmlns:a="http://schemas.openxmlformats.org/drawingml/2006/main">
            <a:r>
              <a:t/>
            </a:r>
          </a:p>
          <a:p xmlns:a="http://schemas.openxmlformats.org/drawingml/2006/main">
            <a:r>
              <a:t>TRANSICIÓN</a:t>
            </a:r>
          </a:p>
          <a:p xmlns:a="http://schemas.openxmlformats.org/drawingml/2006/main">
            <a:r>
              <a:t>Esta base se fue construyendo mediante los sprints anteriores.</a:t>
            </a:r>
          </a:p>
          <a:p xmlns:a="http://schemas.openxmlformats.org/drawingml/2006/main">
            <a:r>
              <a:t/>
            </a:r>
          </a:p>
          <a:p xmlns:a="http://schemas.openxmlformats.org/drawingml/2006/main">
            <a:r>
              <a:t>FUENTES Y CONTEXTO</a:t>
            </a:r>
          </a:p>
          <a:p xmlns:a="http://schemas.openxmlformats.org/drawingml/2006/main">
            <a:r>
              <a:t>Versiones fijadas en el repositorio: React 19.2.8, Vite 8.2.4 y Express 5.2.1. Docker/PostgreSQL 16 sigue pendiente de validación para este incremento. Cloudflare describe la arquitectura documentada, no una nueva prueba de disponibilidad.</a:t>
            </a:r>
          </a:p>
          <a:p xmlns:a="http://schemas.openxmlformats.org/drawingml/2006/main">
            <a:r>
              <a:t/>
            </a:r>
          </a:p>
          <a:p xmlns:a="http://schemas.openxmlformats.org/drawingml/2006/main">
            <a:r>
              <a:t>Fuentes: https://github.com/joellopez775/SIGAA-Capstone-2026/tree/feature/sprint-5-seguimiento/Fase%202/Evidencias%20Proyecto/SIGAA</a:t>
            </a:r>
          </a:p>
          <a:p xmlns:a="http://schemas.openxmlformats.org/drawingml/2006/main">
            <a:r>
              <a:t>https://sigaa-duoc-2026.atlassian.net/browse/SCRUM-26</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Joel. Diapositiva 6 de 18. Tiempo orientativo: 40 segundos.</a:t>
            </a:r>
          </a:p>
          <a:p xmlns:a="http://schemas.openxmlformats.org/drawingml/2006/main">
            <a:r>
              <a:t/>
            </a:r>
          </a:p>
          <a:p xmlns:a="http://schemas.openxmlformats.org/drawingml/2006/main">
            <a:r>
              <a:t>IDEA CENTRAL: Resumir lo construido sin declarar cierres inexistentes.</a:t>
            </a:r>
          </a:p>
          <a:p xmlns:a="http://schemas.openxmlformats.org/drawingml/2006/main">
            <a:r>
              <a:t/>
            </a:r>
          </a:p>
          <a:p xmlns:a="http://schemas.openxmlformats.org/drawingml/2006/main">
            <a:r>
              <a:t>GUION SUGERIDO</a:t>
            </a:r>
          </a:p>
          <a:p xmlns:a="http://schemas.openxmlformats.org/drawingml/2006/main">
            <a:r>
              <a:t>Los sprints anteriores dejaron la arquitectura y el prototipo, la estructura escolar y Docker, el login con permisos y la gestión de estudiantes y matrículas. Después se conectaron notas, asistencia, alertas y justificaciones. La tabla también muestra lo que falta validar. Que una función exista no significa que la historia ya esté aceptada o que el sprint esté formalmente cerrado. Con esa base, Agustín explicará el seguimiento que incorporamos en el Sprint 5.</a:t>
            </a:r>
          </a:p>
          <a:p xmlns:a="http://schemas.openxmlformats.org/drawingml/2006/main">
            <a:r>
              <a:t/>
            </a:r>
          </a:p>
          <a:p xmlns:a="http://schemas.openxmlformats.org/drawingml/2006/main">
            <a:r>
              <a:t>APOYO VISUAL</a:t>
            </a:r>
          </a:p>
          <a:p xmlns:a="http://schemas.openxmlformats.org/drawingml/2006/main">
            <a:r>
              <a:t>Recorre los cuatro resultados sin leer toda la tabla.</a:t>
            </a:r>
          </a:p>
          <a:p xmlns:a="http://schemas.openxmlformats.org/drawingml/2006/main">
            <a:r>
              <a:t/>
            </a:r>
          </a:p>
          <a:p xmlns:a="http://schemas.openxmlformats.org/drawingml/2006/main">
            <a:r>
              <a:t>RECORDATORIO</a:t>
            </a:r>
          </a:p>
          <a:p xmlns:a="http://schemas.openxmlformats.org/drawingml/2006/main">
            <a:r>
              <a:t>Hay pendientes históricos de UML, alcance del estudiante y validación del entorno.</a:t>
            </a:r>
          </a:p>
          <a:p xmlns:a="http://schemas.openxmlformats.org/drawingml/2006/main">
            <a:r>
              <a:t/>
            </a:r>
          </a:p>
          <a:p xmlns:a="http://schemas.openxmlformats.org/drawingml/2006/main">
            <a:r>
              <a:t>TRANSICIÓN</a:t>
            </a:r>
          </a:p>
          <a:p xmlns:a="http://schemas.openxmlformats.org/drawingml/2006/main">
            <a:r>
              <a:t>Agustín, te dejo con los casos de seguimiento y las funciones del nuevo incremento.</a:t>
            </a:r>
          </a:p>
          <a:p xmlns:a="http://schemas.openxmlformats.org/drawingml/2006/main">
            <a:r>
              <a:t/>
            </a:r>
          </a:p>
          <a:p xmlns:a="http://schemas.openxmlformats.org/drawingml/2006/main">
            <a:r>
              <a:t>FUENTES Y CONTEXTO</a:t>
            </a:r>
          </a:p>
          <a:p xmlns:a="http://schemas.openxmlformats.org/drawingml/2006/main">
            <a:r>
              <a:t>Las fechas administrativas de sprints históricos en Jira no son fechas reales de ejecución. Permanecen historias abiertas que deben conciliarse con evidencia y aprobación. Las anotaciones también forman parte de la operación académica persistente.</a:t>
            </a:r>
          </a:p>
          <a:p xmlns:a="http://schemas.openxmlformats.org/drawingml/2006/main">
            <a:r>
              <a:t/>
            </a:r>
          </a:p>
          <a:p xmlns:a="http://schemas.openxmlformats.org/drawingml/2006/main">
            <a:r>
              <a:t>Fuentes: https://sigaa-duoc-2026.atlassian.net/browse/SCRUM-18</a:t>
            </a:r>
          </a:p>
          <a:p xmlns:a="http://schemas.openxmlformats.org/drawingml/2006/main">
            <a:r>
              <a:t>https://sigaa-duoc-2026.atlassian.net/browse/SCRUM-21</a:t>
            </a:r>
          </a:p>
          <a:p xmlns:a="http://schemas.openxmlformats.org/drawingml/2006/main">
            <a:r>
              <a:t>https://sigaa-duoc-2026.atlassian.net/browse/SCRUM-23</a:t>
            </a:r>
          </a:p>
          <a:p xmlns:a="http://schemas.openxmlformats.org/drawingml/2006/main">
            <a:r>
              <a:t>https://sigaa-duoc-2026.atlassian.net/browse/SCRUM-29</a:t>
            </a:r>
          </a:p>
          <a:p xmlns:a="http://schemas.openxmlformats.org/drawingml/2006/main">
            <a:r>
              <a:t>https://sigaa-duoc-2026.atlassian.net/browse/SCRUM-49</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Agustín. Diapositiva 7 de 18. Tiempo orientativo: 65 segundos.</a:t>
            </a:r>
          </a:p>
          <a:p xmlns:a="http://schemas.openxmlformats.org/drawingml/2006/main">
            <a:r>
              <a:t/>
            </a:r>
          </a:p>
          <a:p xmlns:a="http://schemas.openxmlformats.org/drawingml/2006/main">
            <a:r>
              <a:t>IDEA CENTRAL: Mostrar cómo una alerta se transforma en trabajo organizado.</a:t>
            </a:r>
          </a:p>
          <a:p xmlns:a="http://schemas.openxmlformats.org/drawingml/2006/main">
            <a:r>
              <a:t/>
            </a:r>
          </a:p>
          <a:p xmlns:a="http://schemas.openxmlformats.org/drawingml/2006/main">
            <a:r>
              <a:t>GUION SUGERIDO</a:t>
            </a:r>
          </a:p>
          <a:p xmlns:a="http://schemas.openxmlformats.org/drawingml/2006/main">
            <a:r>
              <a:t>Gracias, Joel. El módulo de casos permite organizar la atención de una alerta. Una persona autorizada puede asignar un responsable, definir una prioridad y dejar una próxima acción con fecha. Después registra intervenciones para conservar lo ocurrido. El sistema permite cerrar el caso con un resultado y reabrirlo manteniendo el historial. También evita tener más de un caso activo para la misma alerta y controla cambios simultáneos. La captura muestra datos sintéticos usados en las pruebas locales. La historia ya tiene implementación y evidencia, pero sigue en revisión y todavía no la estamos presentando como desplegada en el servidor.</a:t>
            </a:r>
          </a:p>
          <a:p xmlns:a="http://schemas.openxmlformats.org/drawingml/2006/main">
            <a:r>
              <a:t/>
            </a:r>
          </a:p>
          <a:p xmlns:a="http://schemas.openxmlformats.org/drawingml/2006/main">
            <a:r>
              <a:t>APOYO VISUAL</a:t>
            </a:r>
          </a:p>
          <a:p xmlns:a="http://schemas.openxmlformats.org/drawingml/2006/main">
            <a:r>
              <a:t>Señala apertura, intervención, cierre y reapertura en el historial.</a:t>
            </a:r>
          </a:p>
          <a:p xmlns:a="http://schemas.openxmlformats.org/drawingml/2006/main">
            <a:r>
              <a:t/>
            </a:r>
          </a:p>
          <a:p xmlns:a="http://schemas.openxmlformats.org/drawingml/2006/main">
            <a:r>
              <a:t>RECORDATORIO</a:t>
            </a:r>
          </a:p>
          <a:p xmlns:a="http://schemas.openxmlformats.org/drawingml/2006/main">
            <a:r>
              <a:t>Una alerta detecta una condición. Un caso organiza su seguimiento humano.</a:t>
            </a:r>
          </a:p>
          <a:p xmlns:a="http://schemas.openxmlformats.org/drawingml/2006/main">
            <a:r>
              <a:t/>
            </a:r>
          </a:p>
          <a:p xmlns:a="http://schemas.openxmlformats.org/drawingml/2006/main">
            <a:r>
              <a:t>TRANSICIÓN</a:t>
            </a:r>
          </a:p>
          <a:p xmlns:a="http://schemas.openxmlformats.org/drawingml/2006/main">
            <a:r>
              <a:t>El seguimiento también necesita saber quiénes están vinculados al estudiante.</a:t>
            </a:r>
          </a:p>
          <a:p xmlns:a="http://schemas.openxmlformats.org/drawingml/2006/main">
            <a:r>
              <a:t/>
            </a:r>
          </a:p>
          <a:p xmlns:a="http://schemas.openxmlformats.org/drawingml/2006/main">
            <a:r>
              <a:t>FUENTES Y CONTEXTO</a:t>
            </a:r>
          </a:p>
          <a:p xmlns:a="http://schemas.openxmlformats.org/drawingml/2006/main">
            <a:r>
              <a:t>Caso implementado con validación de alcance, resultado obligatorio para cerrar y control de modificaciones concurrentes. Historia en revisión, sin aceptación ni despliegue. Imagen original de pruebas locales del 28 de octubre.</a:t>
            </a:r>
          </a:p>
          <a:p xmlns:a="http://schemas.openxmlformats.org/drawingml/2006/main">
            <a:r>
              <a:t/>
            </a:r>
          </a:p>
          <a:p xmlns:a="http://schemas.openxmlformats.org/drawingml/2006/main">
            <a:r>
              <a:t>Fuentes: https://sigaa-duoc-2026.atlassian.net/browse/SCRUM-35</a:t>
            </a:r>
          </a:p>
          <a:p xmlns:a="http://schemas.openxmlformats.org/drawingml/2006/main">
            <a:r>
              <a:t>https://github.com/joellopez775/SIGAA-Capstone-2026/blob/feature/sprint-5-seguimiento/Fase%202/Evidencias%20Proyecto/SIGAA/output/evidence/sprint-5/validation.json</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Agustín. Diapositiva 8 de 18. Tiempo orientativo: 55 segundos.</a:t>
            </a:r>
          </a:p>
          <a:p xmlns:a="http://schemas.openxmlformats.org/drawingml/2006/main">
            <a:r>
              <a:t/>
            </a:r>
          </a:p>
          <a:p xmlns:a="http://schemas.openxmlformats.org/drawingml/2006/main">
            <a:r>
              <a:t>IDEA CENTRAL: Describir la gestión de contactos y su límite actual.</a:t>
            </a:r>
          </a:p>
          <a:p xmlns:a="http://schemas.openxmlformats.org/drawingml/2006/main">
            <a:r>
              <a:t/>
            </a:r>
          </a:p>
          <a:p xmlns:a="http://schemas.openxmlformats.org/drawingml/2006/main">
            <a:r>
              <a:t>GUION SUGERIDO</a:t>
            </a:r>
          </a:p>
          <a:p xmlns:a="http://schemas.openxmlformats.org/drawingml/2006/main">
            <a:r>
              <a:t>El módulo de apoderados permite mantener contactos y relacionarlos con estudiantes. Incluye datos de contacto, estado y vínculos. Se controla que cada estudiante tenga un solo apoderado principal activo, evitando relaciones principales contradictorias. También se conserva el historial al cambiar los vínculos. Administración e Inspectoría realizan las operaciones de gestión autorizadas. No estamos diciendo que el apoderado pueda iniciar sesión ni que el sistema ya le envíe avisos. Esas capacidades no forman parte de este incremento. Lo implementado es el registro de contactos y relaciones que necesita el personal del establecimiento.</a:t>
            </a:r>
          </a:p>
          <a:p xmlns:a="http://schemas.openxmlformats.org/drawingml/2006/main">
            <a:r>
              <a:t/>
            </a:r>
          </a:p>
          <a:p xmlns:a="http://schemas.openxmlformats.org/drawingml/2006/main">
            <a:r>
              <a:t>APOYO VISUAL</a:t>
            </a:r>
          </a:p>
          <a:p xmlns:a="http://schemas.openxmlformats.org/drawingml/2006/main">
            <a:r>
              <a:t>Muestra el registro y los campos del formulario. No ingreses datos reales durante la exposición.</a:t>
            </a:r>
          </a:p>
          <a:p xmlns:a="http://schemas.openxmlformats.org/drawingml/2006/main">
            <a:r>
              <a:t/>
            </a:r>
          </a:p>
          <a:p xmlns:a="http://schemas.openxmlformats.org/drawingml/2006/main">
            <a:r>
              <a:t>RECORDATORIO</a:t>
            </a:r>
          </a:p>
          <a:p xmlns:a="http://schemas.openxmlformats.org/drawingml/2006/main">
            <a:r>
              <a:t>Contacto registrado no equivale a una cuenta de usuario.</a:t>
            </a:r>
          </a:p>
          <a:p xmlns:a="http://schemas.openxmlformats.org/drawingml/2006/main">
            <a:r>
              <a:t/>
            </a:r>
          </a:p>
          <a:p xmlns:a="http://schemas.openxmlformats.org/drawingml/2006/main">
            <a:r>
              <a:t>TRANSICIÓN</a:t>
            </a:r>
          </a:p>
          <a:p xmlns:a="http://schemas.openxmlformats.org/drawingml/2006/main">
            <a:r>
              <a:t>La ficha integral reúne estos antecedentes junto con la información académica.</a:t>
            </a:r>
          </a:p>
          <a:p xmlns:a="http://schemas.openxmlformats.org/drawingml/2006/main">
            <a:r>
              <a:t/>
            </a:r>
          </a:p>
          <a:p xmlns:a="http://schemas.openxmlformats.org/drawingml/2006/main">
            <a:r>
              <a:t>FUENTES Y CONTEXTO</a:t>
            </a:r>
          </a:p>
          <a:p xmlns:a="http://schemas.openxmlformats.org/drawingml/2006/main">
            <a:r>
              <a:t>Admin e Inspectoría pueden gestionar registros. Dirección tiene consulta. Los docentes no acceden al registro de contactos completo. La captura usa datos sintéticos. No incluye notificaciones.</a:t>
            </a:r>
          </a:p>
          <a:p xmlns:a="http://schemas.openxmlformats.org/drawingml/2006/main">
            <a:r>
              <a:t/>
            </a:r>
          </a:p>
          <a:p xmlns:a="http://schemas.openxmlformats.org/drawingml/2006/main">
            <a:r>
              <a:t>Fuentes: https://sigaa-duoc-2026.atlassian.net/browse/SCRUM-48</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Agustín. Diapositiva 9 de 18. Tiempo orientativo: 60 segundos.</a:t>
            </a:r>
          </a:p>
          <a:p xmlns:a="http://schemas.openxmlformats.org/drawingml/2006/main">
            <a:r>
              <a:t/>
            </a:r>
          </a:p>
          <a:p xmlns:a="http://schemas.openxmlformats.org/drawingml/2006/main">
            <a:r>
              <a:t>IDEA CENTRAL: Explicar la consolidación de información y la privacidad.</a:t>
            </a:r>
          </a:p>
          <a:p xmlns:a="http://schemas.openxmlformats.org/drawingml/2006/main">
            <a:r>
              <a:t/>
            </a:r>
          </a:p>
          <a:p xmlns:a="http://schemas.openxmlformats.org/drawingml/2006/main">
            <a:r>
              <a:t>GUION SUGERIDO</a:t>
            </a:r>
          </a:p>
          <a:p xmlns:a="http://schemas.openxmlformats.org/drawingml/2006/main">
            <a:r>
              <a:t>La ficha integral permite revisar en un mismo lugar la matrícula, las notas publicadas, la asistencia y otros antecedentes autorizados. El personal con permisos también puede consultar alertas, casos y vínculos con apoderados. La vista del estudiante es más acotada: solo muestra sus propios datos publicados. Una pantalla única no significa acceso ilimitado. Se respetan las restricciones de anotaciones privadas y el alcance de cada rol. La captura corresponde a una prueba móvil de Inspectoría. Cada sección limita la consulta a quinientos registros y avisa cuando existe ese límite, por lo que no debemos afirmar que la pantalla carga un historial ilimitado.</a:t>
            </a:r>
          </a:p>
          <a:p xmlns:a="http://schemas.openxmlformats.org/drawingml/2006/main">
            <a:r>
              <a:t/>
            </a:r>
          </a:p>
          <a:p xmlns:a="http://schemas.openxmlformats.org/drawingml/2006/main">
            <a:r>
              <a:t>APOYO VISUAL</a:t>
            </a:r>
          </a:p>
          <a:p xmlns:a="http://schemas.openxmlformats.org/drawingml/2006/main">
            <a:r>
              <a:t>Señala la vista móvil y luego explica qué cambiaría al entrar como estudiante.</a:t>
            </a:r>
          </a:p>
          <a:p xmlns:a="http://schemas.openxmlformats.org/drawingml/2006/main">
            <a:r>
              <a:t/>
            </a:r>
          </a:p>
          <a:p xmlns:a="http://schemas.openxmlformats.org/drawingml/2006/main">
            <a:r>
              <a:t>RECORDATORIO</a:t>
            </a:r>
          </a:p>
          <a:p xmlns:a="http://schemas.openxmlformats.org/drawingml/2006/main">
            <a:r>
              <a:t>La ficha consulta registros guardados. No es una copia independiente de toda la base.</a:t>
            </a:r>
          </a:p>
          <a:p xmlns:a="http://schemas.openxmlformats.org/drawingml/2006/main">
            <a:r>
              <a:t/>
            </a:r>
          </a:p>
          <a:p xmlns:a="http://schemas.openxmlformats.org/drawingml/2006/main">
            <a:r>
              <a:t>TRANSICIÓN</a:t>
            </a:r>
          </a:p>
          <a:p xmlns:a="http://schemas.openxmlformats.org/drawingml/2006/main">
            <a:r>
              <a:t>Estas funciones se respaldan con pruebas que revisan tanto lo permitido como lo que se debe bloquear.</a:t>
            </a:r>
          </a:p>
          <a:p xmlns:a="http://schemas.openxmlformats.org/drawingml/2006/main">
            <a:r>
              <a:t/>
            </a:r>
          </a:p>
          <a:p xmlns:a="http://schemas.openxmlformats.org/drawingml/2006/main">
            <a:r>
              <a:t>FUENTES Y CONTEXTO</a:t>
            </a:r>
          </a:p>
          <a:p xmlns:a="http://schemas.openxmlformats.org/drawingml/2006/main">
            <a:r>
              <a:t>La ficha conserva controles de privacidad de anotaciones y alcance de cursos. La imagen es evidencia sintética de Inspectoría en móvil. La integración y el despliegue están pendientes.</a:t>
            </a:r>
          </a:p>
          <a:p xmlns:a="http://schemas.openxmlformats.org/drawingml/2006/main">
            <a:r>
              <a:t/>
            </a:r>
          </a:p>
          <a:p xmlns:a="http://schemas.openxmlformats.org/drawingml/2006/main">
            <a:r>
              <a:t>Fuentes: https://sigaa-duoc-2026.atlassian.net/browse/SCRUM-36</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Agustín. Diapositiva 10 de 18. Tiempo orientativo: 60 segundos.</a:t>
            </a:r>
          </a:p>
          <a:p xmlns:a="http://schemas.openxmlformats.org/drawingml/2006/main">
            <a:r>
              <a:t/>
            </a:r>
          </a:p>
          <a:p xmlns:a="http://schemas.openxmlformats.org/drawingml/2006/main">
            <a:r>
              <a:t>IDEA CENTRAL: Presentar cifras verificables sin exagerar la cobertura.</a:t>
            </a:r>
          </a:p>
          <a:p xmlns:a="http://schemas.openxmlformats.org/drawingml/2006/main">
            <a:r>
              <a:t/>
            </a:r>
          </a:p>
          <a:p xmlns:a="http://schemas.openxmlformats.org/drawingml/2006/main">
            <a:r>
              <a:t>GUION SUGERIDO</a:t>
            </a:r>
          </a:p>
          <a:p xmlns:a="http://schemas.openxmlformats.org/drawingml/2006/main">
            <a:r>
              <a:t>El registro del 28 de octubre informa seis pruebas unitarias y cincuenta y siete de integración aprobadas. Juntas son sesenta y tres pruebas de servidor. Además, hay ocho escenarios nuevos de navegador y once de regresión: diecinueve en total. La compilación web también pasó. Las pruebas cubren permisos, persistencia, modificaciones concurrentes y recorridos en Chromium. Estas cifras muestran evidencia del trabajo, pero no equivalen a una certificación total del sistema. Falta validar Docker con PostgreSQL 16 y ampliar otros navegadores, carga, accesibilidad y recuperación de respaldos. Las trece pruebas específicas de seguimiento ya están dentro de las cincuenta y siete, no se suman otra vez.</a:t>
            </a:r>
          </a:p>
          <a:p xmlns:a="http://schemas.openxmlformats.org/drawingml/2006/main">
            <a:r>
              <a:t/>
            </a:r>
          </a:p>
          <a:p xmlns:a="http://schemas.openxmlformats.org/drawingml/2006/main">
            <a:r>
              <a:t>APOYO VISUAL</a:t>
            </a:r>
          </a:p>
          <a:p xmlns:a="http://schemas.openxmlformats.org/drawingml/2006/main">
            <a:r>
              <a:t>Presenta los dos totales y después explica sus límites.</a:t>
            </a:r>
          </a:p>
          <a:p xmlns:a="http://schemas.openxmlformats.org/drawingml/2006/main">
            <a:r>
              <a:t/>
            </a:r>
          </a:p>
          <a:p xmlns:a="http://schemas.openxmlformats.org/drawingml/2006/main">
            <a:r>
              <a:t>RECORDATORIO</a:t>
            </a:r>
          </a:p>
          <a:p xmlns:a="http://schemas.openxmlformats.org/drawingml/2006/main">
            <a:r>
              <a:t>63 = 6 + 57. 19 = 8 + 11. No sumar otra vez las 13 de seguimiento.</a:t>
            </a:r>
          </a:p>
          <a:p xmlns:a="http://schemas.openxmlformats.org/drawingml/2006/main">
            <a:r>
              <a:t/>
            </a:r>
          </a:p>
          <a:p xmlns:a="http://schemas.openxmlformats.org/drawingml/2006/main">
            <a:r>
              <a:t>TRANSICIÓN</a:t>
            </a:r>
          </a:p>
          <a:p xmlns:a="http://schemas.openxmlformats.org/drawingml/2006/main">
            <a:r>
              <a:t>Ahora relacionemos esa evidencia con el estado real de las historias en Jira.</a:t>
            </a:r>
          </a:p>
          <a:p xmlns:a="http://schemas.openxmlformats.org/drawingml/2006/main">
            <a:r>
              <a:t/>
            </a:r>
          </a:p>
          <a:p xmlns:a="http://schemas.openxmlformats.org/drawingml/2006/main">
            <a:r>
              <a:t>FUENTES Y CONTEXTO</a:t>
            </a:r>
          </a:p>
          <a:p xmlns:a="http://schemas.openxmlformats.org/drawingml/2006/main">
            <a:r>
              <a:t>Fuente validation.json. Las 13 pruebas específicas de seguimiento son parte de las 57 pruebas de integración, no adicionales. Entorno Node 22.22, PostgreSQL 14 aislado y Chromium con datos sintéticos. No representa auditoría de seguridad completa ni aprobación del PO.</a:t>
            </a:r>
          </a:p>
          <a:p xmlns:a="http://schemas.openxmlformats.org/drawingml/2006/main">
            <a:r>
              <a:t/>
            </a:r>
          </a:p>
          <a:p xmlns:a="http://schemas.openxmlformats.org/drawingml/2006/main">
            <a:r>
              <a:t>Fuentes: https://github.com/joellopez775/SIGAA-Capstone-2026/blob/feature/sprint-5-seguimiento/Fase%202/Evidencias%20Proyecto/SIGAA/output/evidence/sprint-5/validation.json</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Agustín. Diapositiva 11 de 18. Tiempo orientativo: 60 segundos.</a:t>
            </a:r>
          </a:p>
          <a:p xmlns:a="http://schemas.openxmlformats.org/drawingml/2006/main">
            <a:r>
              <a:t/>
            </a:r>
          </a:p>
          <a:p xmlns:a="http://schemas.openxmlformats.org/drawingml/2006/main">
            <a:r>
              <a:t>IDEA CENTRAL: Explicar por qué muchas historias están en revisión.</a:t>
            </a:r>
          </a:p>
          <a:p xmlns:a="http://schemas.openxmlformats.org/drawingml/2006/main">
            <a:r>
              <a:t/>
            </a:r>
          </a:p>
          <a:p xmlns:a="http://schemas.openxmlformats.org/drawingml/2006/main">
            <a:r>
              <a:t>GUION SUGERIDO</a:t>
            </a:r>
          </a:p>
          <a:p xmlns:a="http://schemas.openxmlformats.org/drawingml/2006/main">
            <a:r>
              <a:t>El corte de Jira considera cuarenta historias del producto, sin sumar tareas y subtareas nuevamente. Hay dos terminadas, veinticinco en revisión, cuatro en curso y nueve pendientes. En revisión significa que existe trabajo que debe contrastarse con los criterios y la aceptación correspondiente. Por eso no convertimos estas cantidades en un porcentaje terminado. En el Sprint 5 hay veintiún puntos en revisión y cinco pendientes de notificaciones, sin puntos aceptados todavía. Los puntos son una estimación relativa de esfuerzo, no horas trabajadas. La prioridad es revisar la evidencia y actualizar las tarjetas existentes cuando realmente corresponda, sin crear duplicados.</a:t>
            </a:r>
          </a:p>
          <a:p xmlns:a="http://schemas.openxmlformats.org/drawingml/2006/main">
            <a:r>
              <a:t/>
            </a:r>
          </a:p>
          <a:p xmlns:a="http://schemas.openxmlformats.org/drawingml/2006/main">
            <a:r>
              <a:t>APOYO VISUAL</a:t>
            </a:r>
          </a:p>
          <a:p xmlns:a="http://schemas.openxmlformats.org/drawingml/2006/main">
            <a:r>
              <a:t>Recorre los cuatro estados y destaca la diferencia entre revisión y terminada.</a:t>
            </a:r>
          </a:p>
          <a:p xmlns:a="http://schemas.openxmlformats.org/drawingml/2006/main">
            <a:r>
              <a:t/>
            </a:r>
          </a:p>
          <a:p xmlns:a="http://schemas.openxmlformats.org/drawingml/2006/main">
            <a:r>
              <a:t>RECORDATORIO</a:t>
            </a:r>
          </a:p>
          <a:p xmlns:a="http://schemas.openxmlformats.org/drawingml/2006/main">
            <a:r>
              <a:t>40 historias y 255 puntos totales. No usar 25 en revisión como 25 aprobadas.</a:t>
            </a:r>
          </a:p>
          <a:p xmlns:a="http://schemas.openxmlformats.org/drawingml/2006/main">
            <a:r>
              <a:t/>
            </a:r>
          </a:p>
          <a:p xmlns:a="http://schemas.openxmlformats.org/drawingml/2006/main">
            <a:r>
              <a:t>TRANSICIÓN</a:t>
            </a:r>
          </a:p>
          <a:p xmlns:a="http://schemas.openxmlformats.org/drawingml/2006/main">
            <a:r>
              <a:t>Para ordenar esa revisión y el trabajo siguiente, utilizamos Scrum.</a:t>
            </a:r>
          </a:p>
          <a:p xmlns:a="http://schemas.openxmlformats.org/drawingml/2006/main">
            <a:r>
              <a:t/>
            </a:r>
          </a:p>
          <a:p xmlns:a="http://schemas.openxmlformats.org/drawingml/2006/main">
            <a:r>
              <a:t>FUENTES Y CONTEXTO</a:t>
            </a:r>
          </a:p>
          <a:p xmlns:a="http://schemas.openxmlformats.org/drawingml/2006/main">
            <a:r>
              <a:t>Consulta de 40 historias PB, SCRUM-13 a SCRUM-52. Dos terminadas: arquitectura y adaptación al dominio escolar. No hay duplicación de puntos de subtareas. Las 25 historias en revisión requieren aceptación. Sprint 5 incluye casos (8 puntos), apoderados (5), ficha (8) y notificaciones (5).</a:t>
            </a:r>
          </a:p>
          <a:p xmlns:a="http://schemas.openxmlformats.org/drawingml/2006/main">
            <a:r>
              <a:t/>
            </a:r>
          </a:p>
          <a:p xmlns:a="http://schemas.openxmlformats.org/drawingml/2006/main">
            <a:r>
              <a:t>Fuentes: https://github.com/joellopez775/SIGAA-Capstone-2026/blob/feature/sprint-5-seguimiento/Fase%202/Evidencias%20Proyecto/SIGAA/output/evidence/actualizacion-2026-10-28.json</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Agustín. Diapositiva 12 de 18. Tiempo orientativo: 60 segundos.</a:t>
            </a:r>
          </a:p>
          <a:p xmlns:a="http://schemas.openxmlformats.org/drawingml/2006/main">
            <a:r>
              <a:t/>
            </a:r>
          </a:p>
          <a:p xmlns:a="http://schemas.openxmlformats.org/drawingml/2006/main">
            <a:r>
              <a:t>IDEA CENTRAL: Explicar la metodología y la honestidad de los registros.</a:t>
            </a:r>
          </a:p>
          <a:p xmlns:a="http://schemas.openxmlformats.org/drawingml/2006/main">
            <a:r>
              <a:t/>
            </a:r>
          </a:p>
          <a:p xmlns:a="http://schemas.openxmlformats.org/drawingml/2006/main">
            <a:r>
              <a:t>GUION SUGERIDO</a:t>
            </a:r>
          </a:p>
          <a:p xmlns:a="http://schemas.openxmlformats.org/drawingml/2006/main">
            <a:r>
              <a:t>Organizamos el trabajo en sprints para entregar partes revisables del sistema. El backlog reúne lo que el producto necesita. En la planificación seleccionamos lo que cabe en el sprint y definimos cómo comprobarlo. Durante el trabajo, el tablero permite ver qué está pendiente, en curso o en revisión. La daily es una conversación breve para coordinar avances e impedimentos. En la review se revisa el producto y en la retrospectiva el equipo decide cómo mejorar su forma de trabajar. Tener documentos técnicos no demuestra que esas reuniones hayan ocurrido. Por eso conservamos los pendientes reales y registramos las ceremonias solo cuando se realizan. Matías explicará ahora el trabajo necesario para cerrar el proyecto.</a:t>
            </a:r>
          </a:p>
          <a:p xmlns:a="http://schemas.openxmlformats.org/drawingml/2006/main">
            <a:r>
              <a:t/>
            </a:r>
          </a:p>
          <a:p xmlns:a="http://schemas.openxmlformats.org/drawingml/2006/main">
            <a:r>
              <a:t>APOYO VISUAL</a:t>
            </a:r>
          </a:p>
          <a:p xmlns:a="http://schemas.openxmlformats.org/drawingml/2006/main">
            <a:r>
              <a:t>Diferencia planificación, seguimiento, revisión del producto y mejora del equipo.</a:t>
            </a:r>
          </a:p>
          <a:p xmlns:a="http://schemas.openxmlformats.org/drawingml/2006/main">
            <a:r>
              <a:t/>
            </a:r>
          </a:p>
          <a:p xmlns:a="http://schemas.openxmlformats.org/drawingml/2006/main">
            <a:r>
              <a:t>RECORDATORIO</a:t>
            </a:r>
          </a:p>
          <a:p xmlns:a="http://schemas.openxmlformats.org/drawingml/2006/main">
            <a:r>
              <a:t>Review: producto. Retrospectiva: forma de trabajo. Ninguna debe inventarse.</a:t>
            </a:r>
          </a:p>
          <a:p xmlns:a="http://schemas.openxmlformats.org/drawingml/2006/main">
            <a:r>
              <a:t/>
            </a:r>
          </a:p>
          <a:p xmlns:a="http://schemas.openxmlformats.org/drawingml/2006/main">
            <a:r>
              <a:t>TRANSICIÓN</a:t>
            </a:r>
          </a:p>
          <a:p xmlns:a="http://schemas.openxmlformats.org/drawingml/2006/main">
            <a:r>
              <a:t>Matías, te dejo con los pendientes y el calendario de cierre.</a:t>
            </a:r>
          </a:p>
          <a:p xmlns:a="http://schemas.openxmlformats.org/drawingml/2006/main">
            <a:r>
              <a:t/>
            </a:r>
          </a:p>
          <a:p xmlns:a="http://schemas.openxmlformats.org/drawingml/2006/main">
            <a:r>
              <a:t>FUENTES Y CONTEXTO</a:t>
            </a:r>
          </a:p>
          <a:p xmlns:a="http://schemas.openxmlformats.org/drawingml/2006/main">
            <a:r>
              <a:t>Síntesis de la metodología documentada y del estado de entregas. La review y retrospectiva del Sprint 5 no se presentan como realizadas. Fuentes: ESTADO DE ENTREGAS.md y expediente Scrum del repositorio. La explicación de los eventos es conceptual, no un registro de reuniones.</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Matías. Diapositiva 13 de 18. Tiempo orientativo: 80 segundos.</a:t>
            </a:r>
          </a:p>
          <a:p xmlns:a="http://schemas.openxmlformats.org/drawingml/2006/main">
            <a:r>
              <a:t/>
            </a:r>
          </a:p>
          <a:p xmlns:a="http://schemas.openxmlformats.org/drawingml/2006/main">
            <a:r>
              <a:t>IDEA CENTRAL: Separar lo necesario para cerrar de lo que depende de capacidad.</a:t>
            </a:r>
          </a:p>
          <a:p xmlns:a="http://schemas.openxmlformats.org/drawingml/2006/main">
            <a:r>
              <a:t/>
            </a:r>
          </a:p>
          <a:p xmlns:a="http://schemas.openxmlformats.org/drawingml/2006/main">
            <a:r>
              <a:t>GUION SUGERIDO</a:t>
            </a:r>
          </a:p>
          <a:p xmlns:a="http://schemas.openxmlformats.org/drawingml/2006/main">
            <a:r>
              <a:t>Gracias, Agustín. Para el cierre debemos completar los diagramas UML y contrastar el alcance de la vista del estudiante. También falta comprobar el entorno Docker, el aislamiento del servidor y el acceso HTTPS, completar la consulta de auditoría y ampliar las pruebas. Un punto clave es demostrar que un respaldo se puede restaurar en un ambiente aislado. Tener un archivo de respaldo no basta. Notificaciones e indicadores siguen sujetos a una decisión de alcance y capacidad. La importación y exportación completas no tienen una fecha comprometida. Esta separación no elimina funciones automáticamente: Joel debe ratificar lo que se entrega o se aplaza y dejar la decisión en las tarjetas existentes.</a:t>
            </a:r>
          </a:p>
          <a:p xmlns:a="http://schemas.openxmlformats.org/drawingml/2006/main">
            <a:r>
              <a:t/>
            </a:r>
          </a:p>
          <a:p xmlns:a="http://schemas.openxmlformats.org/drawingml/2006/main">
            <a:r>
              <a:t>APOYO VISUAL</a:t>
            </a:r>
          </a:p>
          <a:p xmlns:a="http://schemas.openxmlformats.org/drawingml/2006/main">
            <a:r>
              <a:t>Recorre primero la columna de cierre y luego la de decisión de alcance.</a:t>
            </a:r>
          </a:p>
          <a:p xmlns:a="http://schemas.openxmlformats.org/drawingml/2006/main">
            <a:r>
              <a:t/>
            </a:r>
          </a:p>
          <a:p xmlns:a="http://schemas.openxmlformats.org/drawingml/2006/main">
            <a:r>
              <a:t>RECORDATORIO</a:t>
            </a:r>
          </a:p>
          <a:p xmlns:a="http://schemas.openxmlformats.org/drawingml/2006/main">
            <a:r>
              <a:t>Auditoría ya tiene eventos parciales, pero falta completar consulta y cobertura.</a:t>
            </a:r>
          </a:p>
          <a:p xmlns:a="http://schemas.openxmlformats.org/drawingml/2006/main">
            <a:r>
              <a:t/>
            </a:r>
          </a:p>
          <a:p xmlns:a="http://schemas.openxmlformats.org/drawingml/2006/main">
            <a:r>
              <a:t>TRANSICIÓN</a:t>
            </a:r>
          </a:p>
          <a:p xmlns:a="http://schemas.openxmlformats.org/drawingml/2006/main">
            <a:r>
              <a:t>Además del desarrollo, necesitamos cerrar las evidencias académicas y los manuales.</a:t>
            </a:r>
          </a:p>
          <a:p xmlns:a="http://schemas.openxmlformats.org/drawingml/2006/main">
            <a:r>
              <a:t/>
            </a:r>
          </a:p>
          <a:p xmlns:a="http://schemas.openxmlformats.org/drawingml/2006/main">
            <a:r>
              <a:t>FUENTES Y CONTEXTO</a:t>
            </a:r>
          </a:p>
          <a:p xmlns:a="http://schemas.openxmlformats.org/drawingml/2006/main">
            <a:r>
              <a:t>Obligatorios: SCRUM-21, SCRUM-51, SCRUM-52, SCRUM-40 y SCRUM-41. Según capacidad: SCRUM-37 (notificaciones) y SCRUM-38 (indicadores). Importación (SCRUM-30) y exportación (SCRUM-39) sin fecha comprometida. Las funcionalidades opcionales no se consideran eliminadas del alcance automáticamente.</a:t>
            </a:r>
          </a:p>
          <a:p xmlns:a="http://schemas.openxmlformats.org/drawingml/2006/main">
            <a:r>
              <a:t/>
            </a:r>
          </a:p>
          <a:p xmlns:a="http://schemas.openxmlformats.org/drawingml/2006/main">
            <a:r>
              <a:t>Fuentes: https://sigaa-duoc-2026.atlassian.net/browse/SCRUM-40</a:t>
            </a:r>
          </a:p>
          <a:p xmlns:a="http://schemas.openxmlformats.org/drawingml/2006/main">
            <a:r>
              <a:t>https://sigaa-duoc-2026.atlassian.net/browse/SCRUM-41</a:t>
            </a:r>
          </a:p>
          <a:p xmlns:a="http://schemas.openxmlformats.org/drawingml/2006/main">
            <a:r>
              <a:t>https://sigaa-duoc-2026.atlassian.net/browse/SCRUM-37</a:t>
            </a:r>
          </a:p>
          <a:p xmlns:a="http://schemas.openxmlformats.org/drawingml/2006/main">
            <a:r>
              <a:t>https://sigaa-duoc-2026.atlassian.net/browse/SCRUM-38</a:t>
            </a:r>
          </a:p>
          <a:p xmlns:a="http://schemas.openxmlformats.org/drawingml/2006/main">
            <a:r>
              <a:t>https://sigaa-duoc-2026.atlassian.net/browse/SCRUM-30</a:t>
            </a:r>
          </a:p>
          <a:p xmlns:a="http://schemas.openxmlformats.org/drawingml/2006/main">
            <a:r>
              <a:t>https://sigaa-duoc-2026.atlassian.net/browse/SCRUM-39</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Matías. Diapositiva 14 de 18. Tiempo orientativo: 60 segundos.</a:t>
            </a:r>
          </a:p>
          <a:p xmlns:a="http://schemas.openxmlformats.org/drawingml/2006/main">
            <a:r>
              <a:t/>
            </a:r>
          </a:p>
          <a:p xmlns:a="http://schemas.openxmlformats.org/drawingml/2006/main">
            <a:r>
              <a:t>IDEA CENTRAL: Explicar que documentos técnicos y entregas oficiales son distintos.</a:t>
            </a:r>
          </a:p>
          <a:p xmlns:a="http://schemas.openxmlformats.org/drawingml/2006/main">
            <a:r>
              <a:t/>
            </a:r>
          </a:p>
          <a:p xmlns:a="http://schemas.openxmlformats.org/drawingml/2006/main">
            <a:r>
              <a:t>GUION SUGERIDO</a:t>
            </a:r>
          </a:p>
          <a:p xmlns:a="http://schemas.openxmlformats.org/drawingml/2006/main">
            <a:r>
              <a:t>La documentación pendiente incluye actualizar los modelos, el manual técnico y el manual completo por rol. También necesitamos los formularios oficiales revisados y las evidencias personales de cada integrante. El informe de avance y los PDF técnicos disponibles ayudan, pero no sustituyen los diarios individuales ratificados, las planillas evaluadas ni el informe final de Fase 2. Después vendrán la presentación final y los documentos de Fase 3. La existencia de un archivo en GitHub tampoco acredita que se haya entregado o aprobado en Campus. Debemos guardar el comprobante de envío y la retroalimentación correspondiente, además de registrar reuniones y aceptaciones reales.</a:t>
            </a:r>
          </a:p>
          <a:p xmlns:a="http://schemas.openxmlformats.org/drawingml/2006/main">
            <a:r>
              <a:t/>
            </a:r>
          </a:p>
          <a:p xmlns:a="http://schemas.openxmlformats.org/drawingml/2006/main">
            <a:r>
              <a:t>APOYO VISUAL</a:t>
            </a:r>
          </a:p>
          <a:p xmlns:a="http://schemas.openxmlformats.org/drawingml/2006/main">
            <a:r>
              <a:t>Señala modelos, formularios y entregas. Termina con la frase de Campus.</a:t>
            </a:r>
          </a:p>
          <a:p xmlns:a="http://schemas.openxmlformats.org/drawingml/2006/main">
            <a:r>
              <a:t/>
            </a:r>
          </a:p>
          <a:p xmlns:a="http://schemas.openxmlformats.org/drawingml/2006/main">
            <a:r>
              <a:t>RECORDATORIO</a:t>
            </a:r>
          </a:p>
          <a:p xmlns:a="http://schemas.openxmlformats.org/drawingml/2006/main">
            <a:r>
              <a:t>Cada integrante valida sus propias reflexiones. No completar aprobaciones o firmas ajenas.</a:t>
            </a:r>
          </a:p>
          <a:p xmlns:a="http://schemas.openxmlformats.org/drawingml/2006/main">
            <a:r>
              <a:t/>
            </a:r>
          </a:p>
          <a:p xmlns:a="http://schemas.openxmlformats.org/drawingml/2006/main">
            <a:r>
              <a:t>TRANSICIÓN</a:t>
            </a:r>
          </a:p>
          <a:p xmlns:a="http://schemas.openxmlformats.org/drawingml/2006/main">
            <a:r>
              <a:t>El calendario propuesto distribuye ese trabajo antes de la defensa.</a:t>
            </a:r>
          </a:p>
          <a:p xmlns:a="http://schemas.openxmlformats.org/drawingml/2006/main">
            <a:r>
              <a:t/>
            </a:r>
          </a:p>
          <a:p xmlns:a="http://schemas.openxmlformats.org/drawingml/2006/main">
            <a:r>
              <a:t>FUENTES Y CONTEXTO</a:t>
            </a:r>
          </a:p>
          <a:p xmlns:a="http://schemas.openxmlformats.org/drawingml/2006/main">
            <a:r>
              <a:t>ESTADO DE ENTREGAS.md: faltan diarios auténticos de SIGAA, adaptación de autoevaluación de Matías, revisión de otras autoevaluaciones, guía 2.4 y formularios oficiales, planillas evaluadas e informe 2.6 cuando corresponda. Sprint 5 tiene tres PDF técnicos. Ninguno sustituye evidencia individual ni aceptación.</a:t>
            </a:r>
          </a:p>
          <a:p xmlns:a="http://schemas.openxmlformats.org/drawingml/2006/main">
            <a:r>
              <a:t/>
            </a:r>
          </a:p>
          <a:p xmlns:a="http://schemas.openxmlformats.org/drawingml/2006/main">
            <a:r>
              <a:t>Fuentes: https://github.com/joellopez775/SIGAA-Capstone-2026/blob/feature/sprint-5-seguimiento/ESTADO%20DE%20ENTREGAS.md</a:t>
            </a:r>
          </a:p>
          <a:p xmlns:a="http://schemas.openxmlformats.org/drawingml/2006/main">
            <a:r>
              <a:t>https://sigaa-duoc-2026.atlassian.net/browse/SCRUM-43</a:t>
            </a:r>
          </a:p>
          <a:p xmlns:a="http://schemas.openxmlformats.org/drawingml/2006/main">
            <a:r>
              <a:t>https://sigaa-duoc-2026.atlassian.net/browse/SCRUM-44</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Matías. Diapositiva 15 de 18. Tiempo orientativo: 65 segundos.</a:t>
            </a:r>
          </a:p>
          <a:p xmlns:a="http://schemas.openxmlformats.org/drawingml/2006/main">
            <a:r>
              <a:t/>
            </a:r>
          </a:p>
          <a:p xmlns:a="http://schemas.openxmlformats.org/drawingml/2006/main">
            <a:r>
              <a:t>IDEA CENTRAL: Presentar ventanas de trabajo sin confundirlas con fechas confirmadas.</a:t>
            </a:r>
          </a:p>
          <a:p xmlns:a="http://schemas.openxmlformats.org/drawingml/2006/main">
            <a:r>
              <a:t/>
            </a:r>
          </a:p>
          <a:p xmlns:a="http://schemas.openxmlformats.org/drawingml/2006/main">
            <a:r>
              <a:t>GUION SUGERIDO</a:t>
            </a:r>
          </a:p>
          <a:p xmlns:a="http://schemas.openxmlformats.org/drawingml/2006/main">
            <a:r>
              <a:t>La propuesta empieza con la validación y revisión del Sprint 5 hasta el 31 de octubre. Del 2 al 14 de noviembre, el Sprint 6 concentra auditoría, pruebas, restauración, manuales y la explicación del valor del proyecto. La entrega de Fase 2 se planifica entre el 16 y el 21 de noviembre. Después se reserva tiempo para correcciones y preparación de la defensa hasta el 28. La ventana de defensa y cierre está entre el 30 de noviembre y el 12 de diciembre. Estas son ventanas de planificación. El día y la hora exactos de cada entrega se deben confirmar en Campus y el plan debe ajustarse a las observaciones del docente.</a:t>
            </a:r>
          </a:p>
          <a:p xmlns:a="http://schemas.openxmlformats.org/drawingml/2006/main">
            <a:r>
              <a:t/>
            </a:r>
          </a:p>
          <a:p xmlns:a="http://schemas.openxmlformats.org/drawingml/2006/main">
            <a:r>
              <a:t>APOYO VISUAL</a:t>
            </a:r>
          </a:p>
          <a:p xmlns:a="http://schemas.openxmlformats.org/drawingml/2006/main">
            <a:r>
              <a:t>Recorre el calendario de arriba abajo y deja clara la nota sobre Campus.</a:t>
            </a:r>
          </a:p>
          <a:p xmlns:a="http://schemas.openxmlformats.org/drawingml/2006/main">
            <a:r>
              <a:t/>
            </a:r>
          </a:p>
          <a:p xmlns:a="http://schemas.openxmlformats.org/drawingml/2006/main">
            <a:r>
              <a:t>RECORDATORIO</a:t>
            </a:r>
          </a:p>
          <a:p xmlns:a="http://schemas.openxmlformats.org/drawingml/2006/main">
            <a:r>
              <a:t>Sprint 7 abarca del 16 al 28 de noviembre; la entrega de Fase 2 ocupa una parte de esa ventana.</a:t>
            </a:r>
          </a:p>
          <a:p xmlns:a="http://schemas.openxmlformats.org/drawingml/2006/main">
            <a:r>
              <a:t/>
            </a:r>
          </a:p>
          <a:p xmlns:a="http://schemas.openxmlformats.org/drawingml/2006/main">
            <a:r>
              <a:t>TRANSICIÓN</a:t>
            </a:r>
          </a:p>
          <a:p xmlns:a="http://schemas.openxmlformats.org/drawingml/2006/main">
            <a:r>
              <a:t>Para ejecutar ese plan proponemos un reparto de responsabilidades.</a:t>
            </a:r>
          </a:p>
          <a:p xmlns:a="http://schemas.openxmlformats.org/drawingml/2006/main">
            <a:r>
              <a:t/>
            </a:r>
          </a:p>
          <a:p xmlns:a="http://schemas.openxmlformats.org/drawingml/2006/main">
            <a:r>
              <a:t>FUENTES Y CONTEXTO</a:t>
            </a:r>
          </a:p>
          <a:p xmlns:a="http://schemas.openxmlformats.org/drawingml/2006/main">
            <a:r>
              <a:t>Sprint 5 planificado del 19 al 31 de octubre y activado el 28. Sprint 6 (id 40): 2–14 de noviembre. Sprint 7 (id 39): 16–28 de noviembre. SCRUM-45: entrega del 16 al 21 de noviembre. SCRUM-46: preparación desde el 23 de noviembre y defensa entre el 30 de noviembre y el 12 de diciembre. Estas fechas no prueban actividades realizadas.</a:t>
            </a:r>
          </a:p>
          <a:p xmlns:a="http://schemas.openxmlformats.org/drawingml/2006/main">
            <a:r>
              <a:t/>
            </a:r>
          </a:p>
          <a:p xmlns:a="http://schemas.openxmlformats.org/drawingml/2006/main">
            <a:r>
              <a:t>Fuentes: https://sigaa-duoc-2026.atlassian.net/browse/SCRUM-45</a:t>
            </a:r>
          </a:p>
          <a:p xmlns:a="http://schemas.openxmlformats.org/drawingml/2006/main">
            <a:r>
              <a:t>https://sigaa-duoc-2026.atlassian.net/browse/SCRUM-46</a:t>
            </a:r>
          </a:p>
          <a:p xmlns:a="http://schemas.openxmlformats.org/drawingml/2006/main">
            <a:r>
              <a:t>https://sigaa-duoc-2026.atlassian.net/browse/SCRUM-41</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Matías. Diapositiva 16 de 18. Tiempo orientativo: 55 segundos.</a:t>
            </a:r>
          </a:p>
          <a:p xmlns:a="http://schemas.openxmlformats.org/drawingml/2006/main">
            <a:r>
              <a:t/>
            </a:r>
          </a:p>
          <a:p xmlns:a="http://schemas.openxmlformats.org/drawingml/2006/main">
            <a:r>
              <a:t>IDEA CENTRAL: Presentar el reparto como propuesta, no como trabajo ya realizado.</a:t>
            </a:r>
          </a:p>
          <a:p xmlns:a="http://schemas.openxmlformats.org/drawingml/2006/main">
            <a:r>
              <a:t/>
            </a:r>
          </a:p>
          <a:p xmlns:a="http://schemas.openxmlformats.org/drawingml/2006/main">
            <a:r>
              <a:t>GUION SUGERIDO</a:t>
            </a:r>
          </a:p>
          <a:p xmlns:a="http://schemas.openxmlformats.org/drawingml/2006/main">
            <a:r>
              <a:t>El reparto propuesto combina desarrollo, pruebas y documentación. Joel puede enfocarse en auditoría, manual técnico e integración, además de la validación del producto y las decisiones de alcance. Yo puedo concentrarme en Docker, aislamiento, pruebas, restauración y sus evidencias. Agustín puede trabajar en la vista del estudiante, los indicadores si se incluyen y el manual de usuario. Los tres participamos en la revisión cruzada, el informe y la defensa. Este reparto requiere acuerdo del equipo y no atribuye quién desarrolló cada función pasada. Tampoco reemplaza las responsabilidades individuales de las entregas académicas.</a:t>
            </a:r>
          </a:p>
          <a:p xmlns:a="http://schemas.openxmlformats.org/drawingml/2006/main">
            <a:r>
              <a:t/>
            </a:r>
          </a:p>
          <a:p xmlns:a="http://schemas.openxmlformats.org/drawingml/2006/main">
            <a:r>
              <a:t>APOYO VISUAL</a:t>
            </a:r>
          </a:p>
          <a:p xmlns:a="http://schemas.openxmlformats.org/drawingml/2006/main">
            <a:r>
              <a:t>Presenta una frase por integrante y cierra con las responsabilidades compartidas.</a:t>
            </a:r>
          </a:p>
          <a:p xmlns:a="http://schemas.openxmlformats.org/drawingml/2006/main">
            <a:r>
              <a:t/>
            </a:r>
          </a:p>
          <a:p xmlns:a="http://schemas.openxmlformats.org/drawingml/2006/main">
            <a:r>
              <a:t>RECORDATORIO</a:t>
            </a:r>
          </a:p>
          <a:p xmlns:a="http://schemas.openxmlformats.org/drawingml/2006/main">
            <a:r>
              <a:t>El reparto futuro es propuesto. El reparto de esta exposición sí es Joel 1–6, Agustín 7–12 y Matías 13–18.</a:t>
            </a:r>
          </a:p>
          <a:p xmlns:a="http://schemas.openxmlformats.org/drawingml/2006/main">
            <a:r>
              <a:t/>
            </a:r>
          </a:p>
          <a:p xmlns:a="http://schemas.openxmlformats.org/drawingml/2006/main">
            <a:r>
              <a:t>TRANSICIÓN</a:t>
            </a:r>
          </a:p>
          <a:p xmlns:a="http://schemas.openxmlformats.org/drawingml/2006/main">
            <a:r>
              <a:t>El proyecto se podrá cerrar cuando podamos demostrar los siguientes resultados.</a:t>
            </a:r>
          </a:p>
          <a:p xmlns:a="http://schemas.openxmlformats.org/drawingml/2006/main">
            <a:r>
              <a:t/>
            </a:r>
          </a:p>
          <a:p xmlns:a="http://schemas.openxmlformats.org/drawingml/2006/main">
            <a:r>
              <a:t>FUENTES Y CONTEXTO</a:t>
            </a:r>
          </a:p>
          <a:p xmlns:a="http://schemas.openxmlformats.org/drawingml/2006/main">
            <a:r>
              <a:t>Reparto propuesto para equilibrar programación, pruebas y documentación. No atribuye trabajo pasado ni modifica responsables en Jira. Cada integrante debe completar y validar sus propias reflexiones y autoevaluaciones. Se debe ratificar capacidad y reparto con el equipo.</a:t>
            </a:r>
          </a:p>
          <a:p xmlns:a="http://schemas.openxmlformats.org/drawingml/2006/main">
            <a:r>
              <a:t/>
            </a:r>
          </a:p>
          <a:p xmlns:a="http://schemas.openxmlformats.org/drawingml/2006/main">
            <a:r>
              <a:t>Fuentes: https://sigaa-duoc-2026.atlassian.net/browse/SCRUM-40</a:t>
            </a:r>
          </a:p>
          <a:p xmlns:a="http://schemas.openxmlformats.org/drawingml/2006/main">
            <a:r>
              <a:t>https://sigaa-duoc-2026.atlassian.net/browse/SCRUM-41</a:t>
            </a:r>
          </a:p>
          <a:p xmlns:a="http://schemas.openxmlformats.org/drawingml/2006/main">
            <a:r>
              <a:t>https://sigaa-duoc-2026.atlassian.net/browse/SCRUM-43</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Matías. Diapositiva 17 de 18. Tiempo orientativo: 60 segundos.</a:t>
            </a:r>
          </a:p>
          <a:p xmlns:a="http://schemas.openxmlformats.org/drawingml/2006/main">
            <a:r>
              <a:t/>
            </a:r>
          </a:p>
          <a:p xmlns:a="http://schemas.openxmlformats.org/drawingml/2006/main">
            <a:r>
              <a:t>IDEA CENTRAL: Convertir el cierre en comprobaciones observables.</a:t>
            </a:r>
          </a:p>
          <a:p xmlns:a="http://schemas.openxmlformats.org/drawingml/2006/main">
            <a:r>
              <a:t/>
            </a:r>
          </a:p>
          <a:p xmlns:a="http://schemas.openxmlformats.org/drawingml/2006/main">
            <a:r>
              <a:t>GUION SUGERIDO</a:t>
            </a:r>
          </a:p>
          <a:p xmlns:a="http://schemas.openxmlformats.org/drawingml/2006/main">
            <a:r>
              <a:t>Para cerrar necesitamos un alcance acordado y aceptación registrada. El código aprobado debe integrarse y el servidor debe funcionar con HTTPS y datos persistentes. También necesitamos evidencia de los permisos por rol, pruebas suficientes y una restauración de respaldo demostrada. Los manuales, modelos y documentos académicos deben coincidir con lo que realmente funciona. Finalmente hay que conservar los comprobantes de entrega, realizar la defensa y registrar una retrospectiva real del proyecto. Cumplir estos puntos nos permite justificar el cierre con evidencia. El solo hecho de mover una tarjeta a terminada no reemplaza ninguna de estas comprobaciones.</a:t>
            </a:r>
          </a:p>
          <a:p xmlns:a="http://schemas.openxmlformats.org/drawingml/2006/main">
            <a:r>
              <a:t/>
            </a:r>
          </a:p>
          <a:p xmlns:a="http://schemas.openxmlformats.org/drawingml/2006/main">
            <a:r>
              <a:t>APOYO VISUAL</a:t>
            </a:r>
          </a:p>
          <a:p xmlns:a="http://schemas.openxmlformats.org/drawingml/2006/main">
            <a:r>
              <a:t>Presenta los cinco criterios como resultados verificables, sin leerlos palabra por palabra.</a:t>
            </a:r>
          </a:p>
          <a:p xmlns:a="http://schemas.openxmlformats.org/drawingml/2006/main">
            <a:r>
              <a:t/>
            </a:r>
          </a:p>
          <a:p xmlns:a="http://schemas.openxmlformats.org/drawingml/2006/main">
            <a:r>
              <a:t>RECORDATORIO</a:t>
            </a:r>
          </a:p>
          <a:p xmlns:a="http://schemas.openxmlformats.org/drawingml/2006/main">
            <a:r>
              <a:t>Aprobación, integración, despliegue y entrega académica son hitos diferentes.</a:t>
            </a:r>
          </a:p>
          <a:p xmlns:a="http://schemas.openxmlformats.org/drawingml/2006/main">
            <a:r>
              <a:t/>
            </a:r>
          </a:p>
          <a:p xmlns:a="http://schemas.openxmlformats.org/drawingml/2006/main">
            <a:r>
              <a:t>TRANSICIÓN</a:t>
            </a:r>
          </a:p>
          <a:p xmlns:a="http://schemas.openxmlformats.org/drawingml/2006/main">
            <a:r>
              <a:t>Termino con la secuencia inmediata para avanzar hacia ese cierre.</a:t>
            </a:r>
          </a:p>
          <a:p xmlns:a="http://schemas.openxmlformats.org/drawingml/2006/main">
            <a:r>
              <a:t/>
            </a:r>
          </a:p>
          <a:p xmlns:a="http://schemas.openxmlformats.org/drawingml/2006/main">
            <a:r>
              <a:t>FUENTES Y CONTEXTO</a:t>
            </a:r>
          </a:p>
          <a:p xmlns:a="http://schemas.openxmlformats.org/drawingml/2006/main">
            <a:r>
              <a:t>Criterios de cierre propuestos a partir de pendientes del repositorio y Jira. El estado final debe reflejar evidencias, no inferencias de aceptación. Cerrar cada historia existente sin crear duplicados.</a:t>
            </a:r>
          </a:p>
          <a:p xmlns:a="http://schemas.openxmlformats.org/drawingml/2006/main">
            <a:r>
              <a:t/>
            </a:r>
          </a:p>
          <a:p xmlns:a="http://schemas.openxmlformats.org/drawingml/2006/main">
            <a:r>
              <a:t>Fuentes: https://sigaa-duoc-2026.atlassian.net/browse/SCRUM-16</a:t>
            </a:r>
          </a:p>
          <a:p xmlns:a="http://schemas.openxmlformats.org/drawingml/2006/main">
            <a:r>
              <a:t>https://sigaa-duoc-2026.atlassian.net/browse/SCRUM-41</a:t>
            </a:r>
          </a:p>
          <a:p xmlns:a="http://schemas.openxmlformats.org/drawingml/2006/main">
            <a:r>
              <a:t>https://sigaa-duoc-2026.atlassian.net/browse/SCRUM-45</a:t>
            </a:r>
          </a:p>
          <a:p xmlns:a="http://schemas.openxmlformats.org/drawingml/2006/main">
            <a:r>
              <a:t>https://sigaa-duoc-2026.atlassian.net/browse/SCRUM-46</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EXPONE: Matías. Diapositiva 18 de 18. Tiempo orientativo: 40 segundos.</a:t>
            </a:r>
          </a:p>
          <a:p xmlns:a="http://schemas.openxmlformats.org/drawingml/2006/main">
            <a:r>
              <a:t/>
            </a:r>
          </a:p>
          <a:p xmlns:a="http://schemas.openxmlformats.org/drawingml/2006/main">
            <a:r>
              <a:t>IDEA CENTRAL: Cerrar con acciones concretas y abrir preguntas.</a:t>
            </a:r>
          </a:p>
          <a:p xmlns:a="http://schemas.openxmlformats.org/drawingml/2006/main">
            <a:r>
              <a:t/>
            </a:r>
          </a:p>
          <a:p xmlns:a="http://schemas.openxmlformats.org/drawingml/2006/main">
            <a:r>
              <a:t>GUION SUGERIDO</a:t>
            </a:r>
          </a:p>
          <a:p xmlns:a="http://schemas.openxmlformats.org/drawingml/2006/main">
            <a:r>
              <a:t>El siguiente paso es verificar Docker con PostgreSQL 16 y revisar los tres módulos del Sprint 5. Después resolveremos observaciones para aceptar e integrar el incremento. El despliegue debe prepararse con respaldo y comprobarse con los flujos de cada rol. En paralelo completaremos los pendientes históricos y los formularios individuales. El repositorio reúne el código y la evidencia del avance. Ese es el estado del proyecto y la ruta propuesta para terminarlo. Muchas gracias; quedamos atentos a sus preguntas.</a:t>
            </a:r>
          </a:p>
          <a:p xmlns:a="http://schemas.openxmlformats.org/drawingml/2006/main">
            <a:r>
              <a:t/>
            </a:r>
          </a:p>
          <a:p xmlns:a="http://schemas.openxmlformats.org/drawingml/2006/main">
            <a:r>
              <a:t>APOYO VISUAL</a:t>
            </a:r>
          </a:p>
          <a:p xmlns:a="http://schemas.openxmlformats.org/drawingml/2006/main">
            <a:r>
              <a:t>Señala la secuencia y el enlace del repositorio. No abras una demo sin haber probado antes su versión.</a:t>
            </a:r>
          </a:p>
          <a:p xmlns:a="http://schemas.openxmlformats.org/drawingml/2006/main">
            <a:r>
              <a:t/>
            </a:r>
          </a:p>
          <a:p xmlns:a="http://schemas.openxmlformats.org/drawingml/2006/main">
            <a:r>
              <a:t>RECORDATORIO</a:t>
            </a:r>
          </a:p>
          <a:p xmlns:a="http://schemas.openxmlformats.org/drawingml/2006/main">
            <a:r>
              <a:t>No afirmar que los pasos siguientes ya se ejecutaron.</a:t>
            </a:r>
          </a:p>
          <a:p xmlns:a="http://schemas.openxmlformats.org/drawingml/2006/main">
            <a:r>
              <a:t/>
            </a:r>
          </a:p>
          <a:p xmlns:a="http://schemas.openxmlformats.org/drawingml/2006/main">
            <a:r>
              <a:t>TRANSICIÓN</a:t>
            </a:r>
          </a:p>
          <a:p xmlns:a="http://schemas.openxmlformats.org/drawingml/2006/main">
            <a:r>
              <a:t>Preguntas del docente o del público.</a:t>
            </a:r>
          </a:p>
          <a:p xmlns:a="http://schemas.openxmlformats.org/drawingml/2006/main">
            <a:r>
              <a:t/>
            </a:r>
          </a:p>
          <a:p xmlns:a="http://schemas.openxmlformats.org/drawingml/2006/main">
            <a:r>
              <a:t>FUENTES Y CONTEXTO</a:t>
            </a:r>
          </a:p>
          <a:p xmlns:a="http://schemas.openxmlformats.org/drawingml/2006/main">
            <a:r>
              <a:t>La secuencia conserva la aceptación del usuario y no afirma despliegue ni reuniones realizadas. Consultar el informe PDF para desglose de historias, fuentes y limitaciones. El incremento 0.9.0 está en la solicitud de integración #1.</a:t>
            </a:r>
          </a:p>
          <a:p xmlns:a="http://schemas.openxmlformats.org/drawingml/2006/main">
            <a:r>
              <a:t/>
            </a:r>
          </a:p>
          <a:p xmlns:a="http://schemas.openxmlformats.org/drawingml/2006/main">
            <a:r>
              <a:t>Fuentes: https://github.com/joellopez775/SIGAA-Capstone-2026</a:t>
            </a:r>
          </a:p>
          <a:p xmlns:a="http://schemas.openxmlformats.org/drawingml/2006/main">
            <a:r>
              <a:t>https://github.com/joellopez775/SIGAA-Capstone-2026/pull/1</a:t>
            </a:r>
          </a:p>
          <a:p xmlns:a="http://schemas.openxmlformats.org/drawingml/2006/main">
            <a:r>
              <a:t>https://sigaa-duoc-2026.atlassian.net/jira/software/projects/SCRUM/boards/1/backlog</a:t>
            </a:r>
          </a:p>
          <a:p xmlns:a="http://schemas.openxmlformats.org/drawingml/2006/main">
            <a:r>
              <a:t>Corte: 28 de octubre de 2026. No se atribuyen reuniones, aprobaciones o despliegues sin evidencia.</a:t>
            </a:r>
          </a:p>
          <a:p xmlns:a="http://schemas.openxmlformats.org/drawingml/2006/main">
            <a:r>
              <a:t>Tipografía: Georgia en títulos y Helvetica Neue en cuerpo, según la familia declarada en apps/web/src/styles.css. El reparto corresponde a la exposición, no atribuye autoría de desarrollos.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bce15f3cc4411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4f19337aaa439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16c69246881498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eba892cb484456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b20d149667942e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6e847b1db8244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AC8649-0A27-4DC1-96C9-FD11CCA3A92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7FB8658-B5BC-4F7E-85CF-89385BB4A2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DA2F7D-2DEF-4C8F-A918-52F6A951D56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373EF2-B6A8-42B0-8EBD-69E22A989A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63C26E-128B-4CC0-AA32-B139AA8A3E0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BD7CB7C-822A-4294-9C97-E47C7372DA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721DEF5-3850-465A-9035-B95CD85C1E3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6FF228-1AFF-4EF4-929E-38E7FB7D3EE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1C0B9E6-124F-4BC2-8C1D-C695ABA9BE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B2C30A7-E3EE-475C-9CCD-9FCD656656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35c69debaf423c" /><Relationship Type="http://schemas.openxmlformats.org/officeDocument/2006/relationships/slideLayout" Target="/ppt/slideLayouts/slideLayout1.xml" Id="Rd8f3092916734080" /><Relationship Type="http://schemas.openxmlformats.org/officeDocument/2006/relationships/slideLayout" Target="/ppt/slideLayouts/slideLayout2.xml" Id="R6e832162476d40f1" /><Relationship Type="http://schemas.openxmlformats.org/officeDocument/2006/relationships/slideLayout" Target="/ppt/slideLayouts/slideLayout3.xml" Id="Rae5f27c67ce44d9c" /><Relationship Type="http://schemas.openxmlformats.org/officeDocument/2006/relationships/slideLayout" Target="/ppt/slideLayouts/slideLayout4.xml" Id="R04b97f22701b4b71" /><Relationship Type="http://schemas.openxmlformats.org/officeDocument/2006/relationships/slideLayout" Target="/ppt/slideLayouts/slideLayout5.xml" Id="R3ebf1dbe56304382" /><Relationship Type="http://schemas.openxmlformats.org/officeDocument/2006/relationships/slideLayout" Target="/ppt/slideLayouts/slideLayout6.xml" Id="R75a3e1dc158f49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8f3092916734080"/>
    <p:sldLayoutId xmlns:r="http://schemas.openxmlformats.org/officeDocument/2006/relationships" id="2147483650" r:id="R6e832162476d40f1"/>
    <p:sldLayoutId xmlns:r="http://schemas.openxmlformats.org/officeDocument/2006/relationships" id="2147483651" r:id="Rae5f27c67ce44d9c"/>
    <p:sldLayoutId xmlns:r="http://schemas.openxmlformats.org/officeDocument/2006/relationships" id="2147483652" r:id="R04b97f22701b4b71"/>
    <p:sldLayoutId xmlns:r="http://schemas.openxmlformats.org/officeDocument/2006/relationships" id="2147483653" r:id="R3ebf1dbe56304382"/>
    <p:sldLayoutId xmlns:r="http://schemas.openxmlformats.org/officeDocument/2006/relationships" id="2147483654" r:id="R75a3e1dc158f49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SIGAA">
  <a:themeElements>
    <a:clrScheme name="SIGAA">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SIGAA">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30a25cc536345c7" /><Relationship Type="http://schemas.openxmlformats.org/officeDocument/2006/relationships/image" Target="/ppt/media/image.png" Id="R2ba83fe6a6334815" /><Relationship Type="http://schemas.openxmlformats.org/officeDocument/2006/relationships/notesSlide" Target="/ppt/notesSlides/notesSlide1.xml" Id="Rbea07224eed84cf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f4d230cdac4a78" /><Relationship Type="http://schemas.openxmlformats.org/officeDocument/2006/relationships/notesSlide" Target="/ppt/notesSlides/notesSlide2.xml" Id="R8af221dcba784a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0370086e23840c4" /><Relationship Type="http://schemas.openxmlformats.org/officeDocument/2006/relationships/notesSlide" Target="/ppt/notesSlides/notesSlide3.xml" Id="Rcf0bd3cc36be4c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a5d9595224f441d" /><Relationship Type="http://schemas.openxmlformats.org/officeDocument/2006/relationships/notesSlide" Target="/ppt/notesSlides/notesSlide4.xml" Id="R5fdc89dc380f469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50b9b488d3648ef" /><Relationship Type="http://schemas.openxmlformats.org/officeDocument/2006/relationships/notesSlide" Target="/ppt/notesSlides/notesSlide5.xml" Id="Re1696958837e45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66e484476f04fc9" /><Relationship Type="http://schemas.openxmlformats.org/officeDocument/2006/relationships/notesSlide" Target="/ppt/notesSlides/notesSlide6.xml" Id="R2245ebacaa8842d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e0c39b09b76424b" /><Relationship Type="http://schemas.openxmlformats.org/officeDocument/2006/relationships/image" Target="/ppt/media/image2.png" Id="R216f8d893e5b40f5" /><Relationship Type="http://schemas.openxmlformats.org/officeDocument/2006/relationships/notesSlide" Target="/ppt/notesSlides/notesSlide7.xml" Id="R930c339fff954d9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f036c777622484c" /><Relationship Type="http://schemas.openxmlformats.org/officeDocument/2006/relationships/image" Target="/ppt/media/image3.png" Id="Re44c5093781648fe" /><Relationship Type="http://schemas.openxmlformats.org/officeDocument/2006/relationships/notesSlide" Target="/ppt/notesSlides/notesSlide8.xml" Id="R0b0fa640606d4b3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65605ac1d104595" /><Relationship Type="http://schemas.openxmlformats.org/officeDocument/2006/relationships/image" Target="/ppt/media/image4.png" Id="Rc0c718fc000b41fa" /><Relationship Type="http://schemas.openxmlformats.org/officeDocument/2006/relationships/notesSlide" Target="/ppt/notesSlides/notesSlide9.xml" Id="Rc06dafec593c4a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f866df65ef34808" /><Relationship Type="http://schemas.openxmlformats.org/officeDocument/2006/relationships/notesSlide" Target="/ppt/notesSlides/notesSlide10.xml" Id="R929ece5a86844d7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c499d0ad35f4332" /><Relationship Type="http://schemas.openxmlformats.org/officeDocument/2006/relationships/notesSlide" Target="/ppt/notesSlides/notesSlide11.xml" Id="R3715ceff92814c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ce1a312d6ec4830" /><Relationship Type="http://schemas.openxmlformats.org/officeDocument/2006/relationships/notesSlide" Target="/ppt/notesSlides/notesSlide12.xml" Id="R45557350e619410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142091c57db4d67" /><Relationship Type="http://schemas.openxmlformats.org/officeDocument/2006/relationships/notesSlide" Target="/ppt/notesSlides/notesSlide13.xml" Id="R521b59f48b0948e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23e29c446994d5d" /><Relationship Type="http://schemas.openxmlformats.org/officeDocument/2006/relationships/notesSlide" Target="/ppt/notesSlides/notesSlide14.xml" Id="R9122c8cd41ff4d9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fa8b705e4c24380" /><Relationship Type="http://schemas.openxmlformats.org/officeDocument/2006/relationships/notesSlide" Target="/ppt/notesSlides/notesSlide15.xml" Id="R56739a863040489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091cd3ac30ba4d6c" /><Relationship Type="http://schemas.openxmlformats.org/officeDocument/2006/relationships/notesSlide" Target="/ppt/notesSlides/notesSlide16.xml" Id="R1226fd3f59d049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719bf1a08d4448a" /><Relationship Type="http://schemas.openxmlformats.org/officeDocument/2006/relationships/notesSlide" Target="/ppt/notesSlides/notesSlide17.xml" Id="R560c82bf09ea40d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dd021ccde00481c" /><Relationship Type="http://schemas.openxmlformats.org/officeDocument/2006/relationships/notesSlide" Target="/ppt/notesSlides/notesSlide18.xml" Id="R0bd63986d5b14264" /></Relationships>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6" name="CAPSTONE 2026">
            <a:extLst xmlns:a="http://schemas.openxmlformats.org/drawingml/2006/main">
              <a:ext uri="{FF2B5EF4-FFF2-40B4-BE49-F238E27FC236}">
                <a16:creationId xmlns:a16="http://schemas.microsoft.com/office/drawing/2014/main" id="{61E6BE95-E992-401A-858E-1993FBFF1F99}"/>
              </a:ext>
            </a:extLst>
          </p:cNvPr>
          <p:cNvSpPr>
            <a:spLocks xmlns:a="http://schemas.openxmlformats.org/drawingml/2006/main" noGrp="1"/>
          </p:cNvSpPr>
          <p:nvPr/>
        </p:nvSpPr>
        <p:spPr>
          <a:xfrm xmlns:a="http://schemas.openxmlformats.org/drawingml/2006/main">
            <a:off x="609600" y="5905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D4B16A"/>
                </a:solidFill>
                <a:latin typeface="Helvetica Neue"/>
                <a:ea typeface="Helvetica Neue"/>
                <a:cs typeface="Helvetica Neue"/>
              </a:defRPr>
            </a:defPPr>
            <a:lvl1pPr algn="l">
              <a:buNone/>
              <a:defRPr sz="1425" b="1">
                <a:solidFill>
                  <a:srgbClr val="D4B16A"/>
                </a:solidFill>
                <a:latin typeface="DejaVu Sans"/>
                <a:ea typeface="DejaVu Sans"/>
                <a:cs typeface="DejaVu Sans"/>
              </a:defRPr>
            </a:lvl1pPr>
            <a:lvl2pPr algn="l">
              <a:buNone/>
              <a:defRPr sz="1425" b="1">
                <a:solidFill>
                  <a:srgbClr val="D4B16A"/>
                </a:solidFill>
                <a:latin typeface="DejaVu Sans"/>
                <a:ea typeface="DejaVu Sans"/>
                <a:cs typeface="DejaVu Sans"/>
              </a:defRPr>
            </a:lvl2pPr>
            <a:lvl3pPr algn="l">
              <a:buNone/>
              <a:defRPr sz="1425" b="1">
                <a:solidFill>
                  <a:srgbClr val="D4B16A"/>
                </a:solidFill>
                <a:latin typeface="DejaVu Sans"/>
                <a:ea typeface="DejaVu Sans"/>
                <a:cs typeface="DejaVu Sans"/>
              </a:defRPr>
            </a:lvl3pPr>
            <a:lvl4pPr algn="l">
              <a:buNone/>
              <a:defRPr sz="1425" b="1">
                <a:solidFill>
                  <a:srgbClr val="D4B16A"/>
                </a:solidFill>
                <a:latin typeface="DejaVu Sans"/>
                <a:ea typeface="DejaVu Sans"/>
                <a:cs typeface="DejaVu Sans"/>
              </a:defRPr>
            </a:lvl4pPr>
            <a:lvl5pPr algn="l">
              <a:buNone/>
              <a:defRPr sz="1425" b="1">
                <a:solidFill>
                  <a:srgbClr val="D4B16A"/>
                </a:solidFill>
                <a:latin typeface="DejaVu Sans"/>
                <a:ea typeface="DejaVu Sans"/>
                <a:cs typeface="DejaVu Sans"/>
              </a:defRPr>
            </a:lvl5pPr>
            <a:lvl6pPr algn="l">
              <a:buNone/>
              <a:defRPr sz="1425" b="1">
                <a:solidFill>
                  <a:srgbClr val="D4B16A"/>
                </a:solidFill>
                <a:latin typeface="DejaVu Sans"/>
                <a:ea typeface="DejaVu Sans"/>
                <a:cs typeface="DejaVu Sans"/>
              </a:defRPr>
            </a:lvl6pPr>
            <a:lvl7pPr algn="l">
              <a:buNone/>
              <a:defRPr sz="1425" b="1">
                <a:solidFill>
                  <a:srgbClr val="D4B16A"/>
                </a:solidFill>
                <a:latin typeface="DejaVu Sans"/>
                <a:ea typeface="DejaVu Sans"/>
                <a:cs typeface="DejaVu Sans"/>
              </a:defRPr>
            </a:lvl7pPr>
            <a:lvl8pPr algn="l">
              <a:buNone/>
              <a:defRPr sz="1425" b="1">
                <a:solidFill>
                  <a:srgbClr val="D4B16A"/>
                </a:solidFill>
                <a:latin typeface="DejaVu Sans"/>
                <a:ea typeface="DejaVu Sans"/>
                <a:cs typeface="DejaVu Sans"/>
              </a:defRPr>
            </a:lvl8pPr>
            <a:lvl9pPr algn="l">
              <a:buNone/>
              <a:defRPr sz="1425" b="1">
                <a:solidFill>
                  <a:srgbClr val="D4B16A"/>
                </a:solidFill>
                <a:latin typeface="DejaVu Sans"/>
                <a:ea typeface="DejaVu Sans"/>
                <a:cs typeface="DejaVu Sans"/>
              </a:defRPr>
            </a:lvl9pPr>
          </a:lstStyle>
          <a:p xmlns:a="http://schemas.openxmlformats.org/drawingml/2006/main">
            <a:pPr algn="l">
              <a:buNone/>
              <a:defRPr sz="1425" b="1">
                <a:solidFill>
                  <a:srgbClr val="D4B16A"/>
                </a:solidFill>
                <a:latin typeface="Helvetica Neue"/>
                <a:ea typeface="Helvetica Neue"/>
                <a:cs typeface="Helvetica Neue"/>
              </a:defRPr>
            </a:pPr>
            <a:r>
              <a:rPr sz="1425" b="1">
                <a:solidFill>
                  <a:srgbClr val="D4B16A"/>
                </a:solidFill>
                <a:latin typeface="Helvetica Neue"/>
                <a:ea typeface="Helvetica Neue"/>
                <a:cs typeface="Helvetica Neue"/>
              </a:rPr>
              <a:t>CAPSTONE 2026</a:t>
            </a:r>
          </a:p>
        </p:txBody>
      </p:sp>
      <p:sp>
        <p:nvSpPr>
          <p:cNvPr id="2" name="Avance del&#10;proyecto">
            <a:extLst xmlns:a="http://schemas.openxmlformats.org/drawingml/2006/main">
              <a:ext uri="{FF2B5EF4-FFF2-40B4-BE49-F238E27FC236}">
                <a16:creationId xmlns:a16="http://schemas.microsoft.com/office/drawing/2014/main" id="{841F3798-A849-4718-A28E-F4D8664B0399}"/>
              </a:ext>
            </a:extLst>
          </p:cNvPr>
          <p:cNvSpPr>
            <a:spLocks xmlns:a="http://schemas.openxmlformats.org/drawingml/2006/main" noGrp="1"/>
          </p:cNvSpPr>
          <p:nvPr/>
        </p:nvSpPr>
        <p:spPr>
          <a:xfrm xmlns:a="http://schemas.openxmlformats.org/drawingml/2006/main">
            <a:off x="609600" y="1924050"/>
            <a:ext cx="6096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0">
                <a:solidFill>
                  <a:srgbClr val="FFFFFF"/>
                </a:solidFill>
                <a:latin typeface="Georgia"/>
                <a:ea typeface="Georgia"/>
                <a:cs typeface="Georgia"/>
              </a:defRPr>
            </a:defPPr>
            <a:lvl1pPr algn="l">
              <a:buNone/>
              <a:defRPr sz="5250" b="1">
                <a:solidFill>
                  <a:srgbClr val="FFFFFF"/>
                </a:solidFill>
                <a:latin typeface="DejaVu Sans"/>
                <a:ea typeface="DejaVu Sans"/>
                <a:cs typeface="DejaVu Sans"/>
              </a:defRPr>
            </a:lvl1pPr>
            <a:lvl2pPr algn="l">
              <a:buNone/>
              <a:defRPr sz="5250" b="1">
                <a:solidFill>
                  <a:srgbClr val="FFFFFF"/>
                </a:solidFill>
                <a:latin typeface="DejaVu Sans"/>
                <a:ea typeface="DejaVu Sans"/>
                <a:cs typeface="DejaVu Sans"/>
              </a:defRPr>
            </a:lvl2pPr>
            <a:lvl3pPr algn="l">
              <a:buNone/>
              <a:defRPr sz="5250" b="1">
                <a:solidFill>
                  <a:srgbClr val="FFFFFF"/>
                </a:solidFill>
                <a:latin typeface="DejaVu Sans"/>
                <a:ea typeface="DejaVu Sans"/>
                <a:cs typeface="DejaVu Sans"/>
              </a:defRPr>
            </a:lvl3pPr>
            <a:lvl4pPr algn="l">
              <a:buNone/>
              <a:defRPr sz="5250" b="1">
                <a:solidFill>
                  <a:srgbClr val="FFFFFF"/>
                </a:solidFill>
                <a:latin typeface="DejaVu Sans"/>
                <a:ea typeface="DejaVu Sans"/>
                <a:cs typeface="DejaVu Sans"/>
              </a:defRPr>
            </a:lvl4pPr>
            <a:lvl5pPr algn="l">
              <a:buNone/>
              <a:defRPr sz="5250" b="1">
                <a:solidFill>
                  <a:srgbClr val="FFFFFF"/>
                </a:solidFill>
                <a:latin typeface="DejaVu Sans"/>
                <a:ea typeface="DejaVu Sans"/>
                <a:cs typeface="DejaVu Sans"/>
              </a:defRPr>
            </a:lvl5pPr>
            <a:lvl6pPr algn="l">
              <a:buNone/>
              <a:defRPr sz="5250" b="1">
                <a:solidFill>
                  <a:srgbClr val="FFFFFF"/>
                </a:solidFill>
                <a:latin typeface="DejaVu Sans"/>
                <a:ea typeface="DejaVu Sans"/>
                <a:cs typeface="DejaVu Sans"/>
              </a:defRPr>
            </a:lvl6pPr>
            <a:lvl7pPr algn="l">
              <a:buNone/>
              <a:defRPr sz="5250" b="1">
                <a:solidFill>
                  <a:srgbClr val="FFFFFF"/>
                </a:solidFill>
                <a:latin typeface="DejaVu Sans"/>
                <a:ea typeface="DejaVu Sans"/>
                <a:cs typeface="DejaVu Sans"/>
              </a:defRPr>
            </a:lvl7pPr>
            <a:lvl8pPr algn="l">
              <a:buNone/>
              <a:defRPr sz="5250" b="1">
                <a:solidFill>
                  <a:srgbClr val="FFFFFF"/>
                </a:solidFill>
                <a:latin typeface="DejaVu Sans"/>
                <a:ea typeface="DejaVu Sans"/>
                <a:cs typeface="DejaVu Sans"/>
              </a:defRPr>
            </a:lvl8pPr>
            <a:lvl9pPr algn="l">
              <a:buNone/>
              <a:defRPr sz="5250" b="1">
                <a:solidFill>
                  <a:srgbClr val="FFFFFF"/>
                </a:solidFill>
                <a:latin typeface="DejaVu Sans"/>
                <a:ea typeface="DejaVu Sans"/>
                <a:cs typeface="DejaVu Sans"/>
              </a:defRPr>
            </a:lvl9pPr>
          </a:lstStyle>
          <a:p xmlns:a="http://schemas.openxmlformats.org/drawingml/2006/main">
            <a:pPr algn="l">
              <a:buNone/>
              <a:defRPr sz="5250" b="0">
                <a:solidFill>
                  <a:srgbClr val="FFFFFF"/>
                </a:solidFill>
                <a:latin typeface="Georgia"/>
                <a:ea typeface="Georgia"/>
                <a:cs typeface="Georgia"/>
              </a:defRPr>
            </a:pPr>
            <a:r>
              <a:rPr sz="5250" b="0">
                <a:solidFill>
                  <a:srgbClr val="FFFFFF"/>
                </a:solidFill>
                <a:latin typeface="Georgia"/>
                <a:ea typeface="Georgia"/>
                <a:cs typeface="Georgia"/>
              </a:rPr>
              <a:t>Avance del</a:t>
            </a:r>
          </a:p>
          <a:p xmlns:a="http://schemas.openxmlformats.org/drawingml/2006/main">
            <a:pPr algn="l">
              <a:buNone/>
              <a:defRPr sz="5250" b="0">
                <a:solidFill>
                  <a:srgbClr val="FFFFFF"/>
                </a:solidFill>
                <a:latin typeface="Georgia"/>
                <a:ea typeface="Georgia"/>
                <a:cs typeface="Georgia"/>
              </a:defRPr>
            </a:pPr>
            <a:r>
              <a:rPr sz="5250" b="0">
                <a:solidFill>
                  <a:srgbClr val="FFFFFF"/>
                </a:solidFill>
                <a:latin typeface="Georgia"/>
                <a:ea typeface="Georgia"/>
                <a:cs typeface="Georgia"/>
              </a:rPr>
              <a:t>proyecto</a:t>
            </a:r>
          </a:p>
        </p:txBody>
      </p:sp>
      <p:sp>
        <p:nvSpPr>
          <p:cNvPr id="3" name="SIGAA">
            <a:extLst xmlns:a="http://schemas.openxmlformats.org/drawingml/2006/main">
              <a:ext uri="{FF2B5EF4-FFF2-40B4-BE49-F238E27FC236}">
                <a16:creationId xmlns:a16="http://schemas.microsoft.com/office/drawing/2014/main" id="{FC9B304F-3655-4AB2-ADBC-234CE0506B60}"/>
              </a:ext>
            </a:extLst>
          </p:cNvPr>
          <p:cNvSpPr>
            <a:spLocks xmlns:a="http://schemas.openxmlformats.org/drawingml/2006/main" noGrp="1"/>
          </p:cNvSpPr>
          <p:nvPr/>
        </p:nvSpPr>
        <p:spPr>
          <a:xfrm xmlns:a="http://schemas.openxmlformats.org/drawingml/2006/main">
            <a:off x="609600" y="3857625"/>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750" b="0">
                <a:solidFill>
                  <a:srgbClr val="D4B16A"/>
                </a:solidFill>
                <a:latin typeface="Georgia"/>
                <a:ea typeface="Georgia"/>
                <a:cs typeface="Georgia"/>
              </a:defRPr>
            </a:defPPr>
            <a:lvl1pPr algn="l">
              <a:buNone/>
              <a:defRPr sz="3750" b="1">
                <a:solidFill>
                  <a:srgbClr val="D4B16A"/>
                </a:solidFill>
                <a:latin typeface="DejaVu Sans"/>
                <a:ea typeface="DejaVu Sans"/>
                <a:cs typeface="DejaVu Sans"/>
              </a:defRPr>
            </a:lvl1pPr>
            <a:lvl2pPr algn="l">
              <a:buNone/>
              <a:defRPr sz="3750" b="1">
                <a:solidFill>
                  <a:srgbClr val="D4B16A"/>
                </a:solidFill>
                <a:latin typeface="DejaVu Sans"/>
                <a:ea typeface="DejaVu Sans"/>
                <a:cs typeface="DejaVu Sans"/>
              </a:defRPr>
            </a:lvl2pPr>
            <a:lvl3pPr algn="l">
              <a:buNone/>
              <a:defRPr sz="3750" b="1">
                <a:solidFill>
                  <a:srgbClr val="D4B16A"/>
                </a:solidFill>
                <a:latin typeface="DejaVu Sans"/>
                <a:ea typeface="DejaVu Sans"/>
                <a:cs typeface="DejaVu Sans"/>
              </a:defRPr>
            </a:lvl3pPr>
            <a:lvl4pPr algn="l">
              <a:buNone/>
              <a:defRPr sz="3750" b="1">
                <a:solidFill>
                  <a:srgbClr val="D4B16A"/>
                </a:solidFill>
                <a:latin typeface="DejaVu Sans"/>
                <a:ea typeface="DejaVu Sans"/>
                <a:cs typeface="DejaVu Sans"/>
              </a:defRPr>
            </a:lvl4pPr>
            <a:lvl5pPr algn="l">
              <a:buNone/>
              <a:defRPr sz="3750" b="1">
                <a:solidFill>
                  <a:srgbClr val="D4B16A"/>
                </a:solidFill>
                <a:latin typeface="DejaVu Sans"/>
                <a:ea typeface="DejaVu Sans"/>
                <a:cs typeface="DejaVu Sans"/>
              </a:defRPr>
            </a:lvl5pPr>
            <a:lvl6pPr algn="l">
              <a:buNone/>
              <a:defRPr sz="3750" b="1">
                <a:solidFill>
                  <a:srgbClr val="D4B16A"/>
                </a:solidFill>
                <a:latin typeface="DejaVu Sans"/>
                <a:ea typeface="DejaVu Sans"/>
                <a:cs typeface="DejaVu Sans"/>
              </a:defRPr>
            </a:lvl6pPr>
            <a:lvl7pPr algn="l">
              <a:buNone/>
              <a:defRPr sz="3750" b="1">
                <a:solidFill>
                  <a:srgbClr val="D4B16A"/>
                </a:solidFill>
                <a:latin typeface="DejaVu Sans"/>
                <a:ea typeface="DejaVu Sans"/>
                <a:cs typeface="DejaVu Sans"/>
              </a:defRPr>
            </a:lvl7pPr>
            <a:lvl8pPr algn="l">
              <a:buNone/>
              <a:defRPr sz="3750" b="1">
                <a:solidFill>
                  <a:srgbClr val="D4B16A"/>
                </a:solidFill>
                <a:latin typeface="DejaVu Sans"/>
                <a:ea typeface="DejaVu Sans"/>
                <a:cs typeface="DejaVu Sans"/>
              </a:defRPr>
            </a:lvl8pPr>
            <a:lvl9pPr algn="l">
              <a:buNone/>
              <a:defRPr sz="3750" b="1">
                <a:solidFill>
                  <a:srgbClr val="D4B16A"/>
                </a:solidFill>
                <a:latin typeface="DejaVu Sans"/>
                <a:ea typeface="DejaVu Sans"/>
                <a:cs typeface="DejaVu Sans"/>
              </a:defRPr>
            </a:lvl9pPr>
          </a:lstStyle>
          <a:p xmlns:a="http://schemas.openxmlformats.org/drawingml/2006/main">
            <a:pPr algn="l">
              <a:buNone/>
              <a:defRPr sz="3750" b="0">
                <a:solidFill>
                  <a:srgbClr val="D4B16A"/>
                </a:solidFill>
                <a:latin typeface="Georgia"/>
                <a:ea typeface="Georgia"/>
                <a:cs typeface="Georgia"/>
              </a:defRPr>
            </a:pPr>
            <a:r>
              <a:rPr sz="3750" b="0">
                <a:solidFill>
                  <a:srgbClr val="D4B16A"/>
                </a:solidFill>
                <a:latin typeface="Georgia"/>
                <a:ea typeface="Georgia"/>
                <a:cs typeface="Georgia"/>
              </a:rPr>
              <a:t>SIGAA</a:t>
            </a:r>
          </a:p>
        </p:txBody>
      </p:sp>
      <p:sp>
        <p:nvSpPr>
          <p:cNvPr id="4" name="Estado al 28 de octubre de 2026&#10;Desarrollo, evidencias ">
            <a:extLst xmlns:a="http://schemas.openxmlformats.org/drawingml/2006/main">
              <a:ext uri="{FF2B5EF4-FFF2-40B4-BE49-F238E27FC236}">
                <a16:creationId xmlns:a16="http://schemas.microsoft.com/office/drawing/2014/main" id="{71519243-29BC-4195-A9A8-D5702D4B61E3}"/>
              </a:ext>
            </a:extLst>
          </p:cNvPr>
          <p:cNvSpPr>
            <a:spLocks xmlns:a="http://schemas.openxmlformats.org/drawingml/2006/main" noGrp="1"/>
          </p:cNvSpPr>
          <p:nvPr/>
        </p:nvSpPr>
        <p:spPr>
          <a:xfrm xmlns:a="http://schemas.openxmlformats.org/drawingml/2006/main">
            <a:off x="609600" y="5133975"/>
            <a:ext cx="590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E6EEE8"/>
                </a:solidFill>
                <a:latin typeface="Helvetica Neue"/>
                <a:ea typeface="Helvetica Neue"/>
                <a:cs typeface="Helvetica Neue"/>
              </a:defRPr>
            </a:defPPr>
            <a:lvl1pPr algn="l">
              <a:buNone/>
              <a:defRPr sz="1800" b="0">
                <a:solidFill>
                  <a:srgbClr val="E6EEE8"/>
                </a:solidFill>
                <a:latin typeface="DejaVu Sans"/>
                <a:ea typeface="DejaVu Sans"/>
                <a:cs typeface="DejaVu Sans"/>
              </a:defRPr>
            </a:lvl1pPr>
            <a:lvl2pPr algn="l">
              <a:buNone/>
              <a:defRPr sz="1800" b="0">
                <a:solidFill>
                  <a:srgbClr val="E6EEE8"/>
                </a:solidFill>
                <a:latin typeface="DejaVu Sans"/>
                <a:ea typeface="DejaVu Sans"/>
                <a:cs typeface="DejaVu Sans"/>
              </a:defRPr>
            </a:lvl2pPr>
            <a:lvl3pPr algn="l">
              <a:buNone/>
              <a:defRPr sz="1800" b="0">
                <a:solidFill>
                  <a:srgbClr val="E6EEE8"/>
                </a:solidFill>
                <a:latin typeface="DejaVu Sans"/>
                <a:ea typeface="DejaVu Sans"/>
                <a:cs typeface="DejaVu Sans"/>
              </a:defRPr>
            </a:lvl3pPr>
            <a:lvl4pPr algn="l">
              <a:buNone/>
              <a:defRPr sz="1800" b="0">
                <a:solidFill>
                  <a:srgbClr val="E6EEE8"/>
                </a:solidFill>
                <a:latin typeface="DejaVu Sans"/>
                <a:ea typeface="DejaVu Sans"/>
                <a:cs typeface="DejaVu Sans"/>
              </a:defRPr>
            </a:lvl4pPr>
            <a:lvl5pPr algn="l">
              <a:buNone/>
              <a:defRPr sz="1800" b="0">
                <a:solidFill>
                  <a:srgbClr val="E6EEE8"/>
                </a:solidFill>
                <a:latin typeface="DejaVu Sans"/>
                <a:ea typeface="DejaVu Sans"/>
                <a:cs typeface="DejaVu Sans"/>
              </a:defRPr>
            </a:lvl5pPr>
            <a:lvl6pPr algn="l">
              <a:buNone/>
              <a:defRPr sz="1800" b="0">
                <a:solidFill>
                  <a:srgbClr val="E6EEE8"/>
                </a:solidFill>
                <a:latin typeface="DejaVu Sans"/>
                <a:ea typeface="DejaVu Sans"/>
                <a:cs typeface="DejaVu Sans"/>
              </a:defRPr>
            </a:lvl6pPr>
            <a:lvl7pPr algn="l">
              <a:buNone/>
              <a:defRPr sz="1800" b="0">
                <a:solidFill>
                  <a:srgbClr val="E6EEE8"/>
                </a:solidFill>
                <a:latin typeface="DejaVu Sans"/>
                <a:ea typeface="DejaVu Sans"/>
                <a:cs typeface="DejaVu Sans"/>
              </a:defRPr>
            </a:lvl7pPr>
            <a:lvl8pPr algn="l">
              <a:buNone/>
              <a:defRPr sz="1800" b="0">
                <a:solidFill>
                  <a:srgbClr val="E6EEE8"/>
                </a:solidFill>
                <a:latin typeface="DejaVu Sans"/>
                <a:ea typeface="DejaVu Sans"/>
                <a:cs typeface="DejaVu Sans"/>
              </a:defRPr>
            </a:lvl8pPr>
            <a:lvl9pPr algn="l">
              <a:buNone/>
              <a:defRPr sz="1800" b="0">
                <a:solidFill>
                  <a:srgbClr val="E6EEE8"/>
                </a:solidFill>
                <a:latin typeface="DejaVu Sans"/>
                <a:ea typeface="DejaVu Sans"/>
                <a:cs typeface="DejaVu Sans"/>
              </a:defRPr>
            </a:lvl9pPr>
          </a:lstStyle>
          <a:p xmlns:a="http://schemas.openxmlformats.org/drawingml/2006/main">
            <a:pPr algn="l">
              <a:buNone/>
              <a:defRPr sz="1800" b="0">
                <a:solidFill>
                  <a:srgbClr val="E6EEE8"/>
                </a:solidFill>
                <a:latin typeface="Helvetica Neue"/>
                <a:ea typeface="Helvetica Neue"/>
                <a:cs typeface="Helvetica Neue"/>
              </a:defRPr>
            </a:pPr>
            <a:r>
              <a:rPr sz="1800" b="0">
                <a:solidFill>
                  <a:srgbClr val="E6EEE8"/>
                </a:solidFill>
                <a:latin typeface="Helvetica Neue"/>
                <a:ea typeface="Helvetica Neue"/>
                <a:cs typeface="Helvetica Neue"/>
              </a:rPr>
              <a:t>Estado al 28 de octubre de 2026</a:t>
            </a:r>
          </a:p>
          <a:p xmlns:a="http://schemas.openxmlformats.org/drawingml/2006/main">
            <a:pPr algn="l">
              <a:buNone/>
              <a:defRPr sz="1800" b="0">
                <a:solidFill>
                  <a:srgbClr val="E6EEE8"/>
                </a:solidFill>
                <a:latin typeface="Helvetica Neue"/>
                <a:ea typeface="Helvetica Neue"/>
                <a:cs typeface="Helvetica Neue"/>
              </a:defRPr>
            </a:pPr>
            <a:r>
              <a:rPr sz="1800" b="0">
                <a:solidFill>
                  <a:srgbClr val="E6EEE8"/>
                </a:solidFill>
                <a:latin typeface="Helvetica Neue"/>
                <a:ea typeface="Helvetica Neue"/>
                <a:cs typeface="Helvetica Neue"/>
              </a:rPr>
              <a:t>Desarrollo, evidencias y pasos de cierre</a:t>
            </a:r>
          </a:p>
        </p:txBody>
      </p:sp>
      <p:pic>
        <p:nvPicPr>
          <p:cNvPr id="5" name="">
            <a:extLst xmlns:a="http://schemas.openxmlformats.org/drawingml/2006/main">
              <a:ext uri="{FF2B5EF4-FFF2-40B4-BE49-F238E27FC236}">
                <a16:creationId xmlns:a16="http://schemas.microsoft.com/office/drawing/2014/main" id="{ADE8AF51-A7F5-41D4-B0C6-FEC6EA6595D3}"/>
              </a:ext>
            </a:extLst>
          </p:cNvPr>
          <p:cNvPicPr>
            <a:picLocks xmlns:a="http://schemas.openxmlformats.org/drawingml/2006/main" noChangeAspect="1"/>
          </p:cNvPicPr>
          <p:nvPr/>
        </p:nvPicPr>
        <p:blipFill>
          <a:blip xmlns:r="http://schemas.openxmlformats.org/officeDocument/2006/relationships" xmlns:a="http://schemas.openxmlformats.org/drawingml/2006/main" r:embed="R2ba83fe6a6334815"/>
          <a:stretch xmlns:a="http://schemas.openxmlformats.org/drawingml/2006/main"/>
        </p:blipFill>
        <p:spPr>
          <a:xfrm xmlns:a="http://schemas.openxmlformats.org/drawingml/2006/main">
            <a:off x="6829425" y="1746250"/>
            <a:ext cx="4905375" cy="3270250"/>
          </a:xfrm>
          <a:prstGeom xmlns:a="http://schemas.openxmlformats.org/drawingml/2006/main" prst="rect">
            <a:avLst/>
          </a:prstGeom>
        </p:spPr>
      </p:pic>
      <p:sp>
        <p:nvSpPr>
          <p:cNvPr id="7" name="Joel  /  Bloque 1 de 3  /  SIGAA">
            <a:extLst xmlns:a="http://schemas.openxmlformats.org/drawingml/2006/main">
              <a:ext uri="{FF2B5EF4-FFF2-40B4-BE49-F238E27FC236}">
                <a16:creationId xmlns:a16="http://schemas.microsoft.com/office/drawing/2014/main" id="{BB48853C-B028-45F2-8548-96AEC902C3E9}"/>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D3E0D7"/>
                </a:solidFill>
                <a:latin typeface="Helvetica Neue"/>
                <a:ea typeface="Helvetica Neue"/>
                <a:cs typeface="Helvetica Neue"/>
              </a:defRPr>
            </a:defPPr>
            <a:lvl1pPr>
              <a:defRPr sz="1050" b="0">
                <a:solidFill>
                  <a:srgbClr val="D3E0D7"/>
                </a:solidFill>
                <a:latin typeface="Helvetica Neue"/>
                <a:ea typeface="Helvetica Neue"/>
                <a:cs typeface="Helvetica Neue"/>
              </a:defRPr>
            </a:lvl1pPr>
            <a:lvl2pPr>
              <a:defRPr sz="1050" b="0">
                <a:solidFill>
                  <a:srgbClr val="D3E0D7"/>
                </a:solidFill>
                <a:latin typeface="Helvetica Neue"/>
                <a:ea typeface="Helvetica Neue"/>
                <a:cs typeface="Helvetica Neue"/>
              </a:defRPr>
            </a:lvl2pPr>
            <a:lvl3pPr>
              <a:defRPr sz="1050" b="0">
                <a:solidFill>
                  <a:srgbClr val="D3E0D7"/>
                </a:solidFill>
                <a:latin typeface="Helvetica Neue"/>
                <a:ea typeface="Helvetica Neue"/>
                <a:cs typeface="Helvetica Neue"/>
              </a:defRPr>
            </a:lvl3pPr>
            <a:lvl4pPr>
              <a:defRPr sz="1050" b="0">
                <a:solidFill>
                  <a:srgbClr val="D3E0D7"/>
                </a:solidFill>
                <a:latin typeface="Helvetica Neue"/>
                <a:ea typeface="Helvetica Neue"/>
                <a:cs typeface="Helvetica Neue"/>
              </a:defRPr>
            </a:lvl4pPr>
            <a:lvl5pPr>
              <a:defRPr sz="1050" b="0">
                <a:solidFill>
                  <a:srgbClr val="D3E0D7"/>
                </a:solidFill>
                <a:latin typeface="Helvetica Neue"/>
                <a:ea typeface="Helvetica Neue"/>
                <a:cs typeface="Helvetica Neue"/>
              </a:defRPr>
            </a:lvl5pPr>
            <a:lvl6pPr>
              <a:defRPr sz="1050" b="0">
                <a:solidFill>
                  <a:srgbClr val="D3E0D7"/>
                </a:solidFill>
                <a:latin typeface="Helvetica Neue"/>
                <a:ea typeface="Helvetica Neue"/>
                <a:cs typeface="Helvetica Neue"/>
              </a:defRPr>
            </a:lvl6pPr>
            <a:lvl7pPr>
              <a:defRPr sz="1050" b="0">
                <a:solidFill>
                  <a:srgbClr val="D3E0D7"/>
                </a:solidFill>
                <a:latin typeface="Helvetica Neue"/>
                <a:ea typeface="Helvetica Neue"/>
                <a:cs typeface="Helvetica Neue"/>
              </a:defRPr>
            </a:lvl7pPr>
            <a:lvl8pPr>
              <a:defRPr sz="1050" b="0">
                <a:solidFill>
                  <a:srgbClr val="D3E0D7"/>
                </a:solidFill>
                <a:latin typeface="Helvetica Neue"/>
                <a:ea typeface="Helvetica Neue"/>
                <a:cs typeface="Helvetica Neue"/>
              </a:defRPr>
            </a:lvl8pPr>
            <a:lvl9pPr>
              <a:defRPr sz="1050" b="0">
                <a:solidFill>
                  <a:srgbClr val="D3E0D7"/>
                </a:solidFill>
                <a:latin typeface="Helvetica Neue"/>
                <a:ea typeface="Helvetica Neue"/>
                <a:cs typeface="Helvetica Neue"/>
              </a:defRPr>
            </a:lvl9pPr>
          </a:lstStyle>
          <a:p xmlns:a="http://schemas.openxmlformats.org/drawingml/2006/main">
            <a:pPr>
              <a:defRPr sz="1050" b="0">
                <a:solidFill>
                  <a:srgbClr val="D3E0D7"/>
                </a:solidFill>
                <a:latin typeface="Helvetica Neue"/>
                <a:ea typeface="Helvetica Neue"/>
                <a:cs typeface="Helvetica Neue"/>
              </a:defRPr>
            </a:pPr>
            <a:r>
              <a:rPr sz="1050" b="0">
                <a:solidFill>
                  <a:srgbClr val="D3E0D7"/>
                </a:solidFill>
                <a:latin typeface="Helvetica Neue"/>
                <a:ea typeface="Helvetica Neue"/>
                <a:cs typeface="Helvetica Neue"/>
              </a:rPr>
              <a:t>Joel  /  Bloque 1 de 3  /  SIGAA</a:t>
            </a:r>
          </a:p>
        </p:txBody>
      </p:sp>
      <p:sp>
        <p:nvSpPr>
          <p:cNvPr id="8" name="01 de 18   /   28 oct 2026">
            <a:extLst xmlns:a="http://schemas.openxmlformats.org/drawingml/2006/main">
              <a:ext uri="{FF2B5EF4-FFF2-40B4-BE49-F238E27FC236}">
                <a16:creationId xmlns:a16="http://schemas.microsoft.com/office/drawing/2014/main" id="{6A187FB8-F416-45E3-8234-8A1021F03FC2}"/>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D3E0D7"/>
                </a:solidFill>
                <a:latin typeface="Helvetica Neue"/>
                <a:ea typeface="Helvetica Neue"/>
                <a:cs typeface="Helvetica Neue"/>
              </a:defRPr>
            </a:defPPr>
            <a:lvl1pPr>
              <a:defRPr sz="1050" b="0">
                <a:solidFill>
                  <a:srgbClr val="D3E0D7"/>
                </a:solidFill>
                <a:latin typeface="Helvetica Neue"/>
                <a:ea typeface="Helvetica Neue"/>
                <a:cs typeface="Helvetica Neue"/>
              </a:defRPr>
            </a:lvl1pPr>
            <a:lvl2pPr>
              <a:defRPr sz="1050" b="0">
                <a:solidFill>
                  <a:srgbClr val="D3E0D7"/>
                </a:solidFill>
                <a:latin typeface="Helvetica Neue"/>
                <a:ea typeface="Helvetica Neue"/>
                <a:cs typeface="Helvetica Neue"/>
              </a:defRPr>
            </a:lvl2pPr>
            <a:lvl3pPr>
              <a:defRPr sz="1050" b="0">
                <a:solidFill>
                  <a:srgbClr val="D3E0D7"/>
                </a:solidFill>
                <a:latin typeface="Helvetica Neue"/>
                <a:ea typeface="Helvetica Neue"/>
                <a:cs typeface="Helvetica Neue"/>
              </a:defRPr>
            </a:lvl3pPr>
            <a:lvl4pPr>
              <a:defRPr sz="1050" b="0">
                <a:solidFill>
                  <a:srgbClr val="D3E0D7"/>
                </a:solidFill>
                <a:latin typeface="Helvetica Neue"/>
                <a:ea typeface="Helvetica Neue"/>
                <a:cs typeface="Helvetica Neue"/>
              </a:defRPr>
            </a:lvl4pPr>
            <a:lvl5pPr>
              <a:defRPr sz="1050" b="0">
                <a:solidFill>
                  <a:srgbClr val="D3E0D7"/>
                </a:solidFill>
                <a:latin typeface="Helvetica Neue"/>
                <a:ea typeface="Helvetica Neue"/>
                <a:cs typeface="Helvetica Neue"/>
              </a:defRPr>
            </a:lvl5pPr>
            <a:lvl6pPr>
              <a:defRPr sz="1050" b="0">
                <a:solidFill>
                  <a:srgbClr val="D3E0D7"/>
                </a:solidFill>
                <a:latin typeface="Helvetica Neue"/>
                <a:ea typeface="Helvetica Neue"/>
                <a:cs typeface="Helvetica Neue"/>
              </a:defRPr>
            </a:lvl6pPr>
            <a:lvl7pPr>
              <a:defRPr sz="1050" b="0">
                <a:solidFill>
                  <a:srgbClr val="D3E0D7"/>
                </a:solidFill>
                <a:latin typeface="Helvetica Neue"/>
                <a:ea typeface="Helvetica Neue"/>
                <a:cs typeface="Helvetica Neue"/>
              </a:defRPr>
            </a:lvl7pPr>
            <a:lvl8pPr>
              <a:defRPr sz="1050" b="0">
                <a:solidFill>
                  <a:srgbClr val="D3E0D7"/>
                </a:solidFill>
                <a:latin typeface="Helvetica Neue"/>
                <a:ea typeface="Helvetica Neue"/>
                <a:cs typeface="Helvetica Neue"/>
              </a:defRPr>
            </a:lvl8pPr>
            <a:lvl9pPr>
              <a:defRPr sz="1050" b="0">
                <a:solidFill>
                  <a:srgbClr val="D3E0D7"/>
                </a:solidFill>
                <a:latin typeface="Helvetica Neue"/>
                <a:ea typeface="Helvetica Neue"/>
                <a:cs typeface="Helvetica Neue"/>
              </a:defRPr>
            </a:lvl9pPr>
          </a:lstStyle>
          <a:p xmlns:a="http://schemas.openxmlformats.org/drawingml/2006/main">
            <a:pPr>
              <a:defRPr sz="1050" b="0">
                <a:solidFill>
                  <a:srgbClr val="D3E0D7"/>
                </a:solidFill>
                <a:latin typeface="Helvetica Neue"/>
                <a:ea typeface="Helvetica Neue"/>
                <a:cs typeface="Helvetica Neue"/>
              </a:defRPr>
            </a:pPr>
            <a:r>
              <a:rPr sz="1050" b="0">
                <a:solidFill>
                  <a:srgbClr val="D3E0D7"/>
                </a:solidFill>
                <a:latin typeface="Helvetica Neue"/>
                <a:ea typeface="Helvetica Neue"/>
                <a:cs typeface="Helvetica Neue"/>
              </a:rPr>
              <a:t>01 de 18   /   28 oct 2026</a:t>
            </a:r>
          </a:p>
        </p:txBody>
      </p:sp>
    </p:spTree>
    <p:extLst>
      <p:ext uri="{BB962C8B-B14F-4D97-AF65-F5344CB8AC3E}">
        <p14:creationId xmlns:p14="http://schemas.microsoft.com/office/powerpoint/2010/main" val="498184822"/>
      </p:ext>
    </p:extLst>
  </p:cSld>
</p:sld>
</file>

<file path=ppt/slides/slide2.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2" name="CONTEXTO DE LA PLATAFORMA">
            <a:extLst xmlns:a="http://schemas.openxmlformats.org/drawingml/2006/main">
              <a:ext uri="{FF2B5EF4-FFF2-40B4-BE49-F238E27FC236}">
                <a16:creationId xmlns:a16="http://schemas.microsoft.com/office/drawing/2014/main" id="{81E14C21-45D6-4922-A543-E8C49D475A27}"/>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1">
                <a:solidFill>
                  <a:srgbClr val="B58C3C"/>
                </a:solidFill>
                <a:latin typeface="Helvetica Neue"/>
                <a:ea typeface="Helvetica Neue"/>
                <a:cs typeface="Helvetica Neue"/>
              </a:defRPr>
            </a:defPPr>
            <a:lvl1pPr>
              <a:defRPr sz="1200" b="1">
                <a:solidFill>
                  <a:srgbClr val="B58C3C"/>
                </a:solidFill>
                <a:latin typeface="Helvetica Neue"/>
                <a:ea typeface="Helvetica Neue"/>
                <a:cs typeface="Helvetica Neue"/>
              </a:defRPr>
            </a:lvl1pPr>
            <a:lvl2pPr>
              <a:defRPr sz="1200" b="1">
                <a:solidFill>
                  <a:srgbClr val="B58C3C"/>
                </a:solidFill>
                <a:latin typeface="Helvetica Neue"/>
                <a:ea typeface="Helvetica Neue"/>
                <a:cs typeface="Helvetica Neue"/>
              </a:defRPr>
            </a:lvl2pPr>
            <a:lvl3pPr>
              <a:defRPr sz="1200" b="1">
                <a:solidFill>
                  <a:srgbClr val="B58C3C"/>
                </a:solidFill>
                <a:latin typeface="Helvetica Neue"/>
                <a:ea typeface="Helvetica Neue"/>
                <a:cs typeface="Helvetica Neue"/>
              </a:defRPr>
            </a:lvl3pPr>
            <a:lvl4pPr>
              <a:defRPr sz="1200" b="1">
                <a:solidFill>
                  <a:srgbClr val="B58C3C"/>
                </a:solidFill>
                <a:latin typeface="Helvetica Neue"/>
                <a:ea typeface="Helvetica Neue"/>
                <a:cs typeface="Helvetica Neue"/>
              </a:defRPr>
            </a:lvl4pPr>
            <a:lvl5pPr>
              <a:defRPr sz="1200" b="1">
                <a:solidFill>
                  <a:srgbClr val="B58C3C"/>
                </a:solidFill>
                <a:latin typeface="Helvetica Neue"/>
                <a:ea typeface="Helvetica Neue"/>
                <a:cs typeface="Helvetica Neue"/>
              </a:defRPr>
            </a:lvl5pPr>
            <a:lvl6pPr>
              <a:defRPr sz="1200" b="1">
                <a:solidFill>
                  <a:srgbClr val="B58C3C"/>
                </a:solidFill>
                <a:latin typeface="Helvetica Neue"/>
                <a:ea typeface="Helvetica Neue"/>
                <a:cs typeface="Helvetica Neue"/>
              </a:defRPr>
            </a:lvl6pPr>
            <a:lvl7pPr>
              <a:defRPr sz="1200" b="1">
                <a:solidFill>
                  <a:srgbClr val="B58C3C"/>
                </a:solidFill>
                <a:latin typeface="Helvetica Neue"/>
                <a:ea typeface="Helvetica Neue"/>
                <a:cs typeface="Helvetica Neue"/>
              </a:defRPr>
            </a:lvl7pPr>
            <a:lvl8pPr>
              <a:defRPr sz="1200" b="1">
                <a:solidFill>
                  <a:srgbClr val="B58C3C"/>
                </a:solidFill>
                <a:latin typeface="Helvetica Neue"/>
                <a:ea typeface="Helvetica Neue"/>
                <a:cs typeface="Helvetica Neue"/>
              </a:defRPr>
            </a:lvl8pPr>
            <a:lvl9pPr>
              <a:defRPr sz="1200" b="1">
                <a:solidFill>
                  <a:srgbClr val="B58C3C"/>
                </a:solidFill>
                <a:latin typeface="Helvetica Neue"/>
                <a:ea typeface="Helvetica Neue"/>
                <a:cs typeface="Helvetica Neue"/>
              </a:defRPr>
            </a:lvl9pPr>
          </a:lstStyle>
          <a:p xmlns:a="http://schemas.openxmlformats.org/drawingml/2006/main">
            <a:pPr>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CONTEXTO DE LA PLATAFORMA</a:t>
            </a:r>
          </a:p>
        </p:txBody>
      </p:sp>
      <p:sp>
        <p:nvSpPr>
          <p:cNvPr id="2" name="Qué es SIGAA y para quién está pensado">
            <a:extLst xmlns:a="http://schemas.openxmlformats.org/drawingml/2006/main">
              <a:ext uri="{FF2B5EF4-FFF2-40B4-BE49-F238E27FC236}">
                <a16:creationId xmlns:a16="http://schemas.microsoft.com/office/drawing/2014/main" id="{57E5DB99-309B-4E00-A521-77C113F0ABA2}"/>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0">
                <a:solidFill>
                  <a:srgbClr val="184C3B"/>
                </a:solidFill>
                <a:latin typeface="Georgia"/>
                <a:ea typeface="Georgia"/>
                <a:cs typeface="Georgia"/>
              </a:defRPr>
            </a:defPPr>
            <a:lvl1pPr>
              <a:defRPr sz="3300" b="0">
                <a:solidFill>
                  <a:srgbClr val="184C3B"/>
                </a:solidFill>
                <a:latin typeface="Georgia"/>
                <a:ea typeface="Georgia"/>
                <a:cs typeface="Georgia"/>
              </a:defRPr>
            </a:lvl1pPr>
            <a:lvl2pPr>
              <a:defRPr sz="3300" b="0">
                <a:solidFill>
                  <a:srgbClr val="184C3B"/>
                </a:solidFill>
                <a:latin typeface="Georgia"/>
                <a:ea typeface="Georgia"/>
                <a:cs typeface="Georgia"/>
              </a:defRPr>
            </a:lvl2pPr>
            <a:lvl3pPr>
              <a:defRPr sz="3300" b="0">
                <a:solidFill>
                  <a:srgbClr val="184C3B"/>
                </a:solidFill>
                <a:latin typeface="Georgia"/>
                <a:ea typeface="Georgia"/>
                <a:cs typeface="Georgia"/>
              </a:defRPr>
            </a:lvl3pPr>
            <a:lvl4pPr>
              <a:defRPr sz="3300" b="0">
                <a:solidFill>
                  <a:srgbClr val="184C3B"/>
                </a:solidFill>
                <a:latin typeface="Georgia"/>
                <a:ea typeface="Georgia"/>
                <a:cs typeface="Georgia"/>
              </a:defRPr>
            </a:lvl4pPr>
            <a:lvl5pPr>
              <a:defRPr sz="3300" b="0">
                <a:solidFill>
                  <a:srgbClr val="184C3B"/>
                </a:solidFill>
                <a:latin typeface="Georgia"/>
                <a:ea typeface="Georgia"/>
                <a:cs typeface="Georgia"/>
              </a:defRPr>
            </a:lvl5pPr>
            <a:lvl6pPr>
              <a:defRPr sz="3300" b="0">
                <a:solidFill>
                  <a:srgbClr val="184C3B"/>
                </a:solidFill>
                <a:latin typeface="Georgia"/>
                <a:ea typeface="Georgia"/>
                <a:cs typeface="Georgia"/>
              </a:defRPr>
            </a:lvl6pPr>
            <a:lvl7pPr>
              <a:defRPr sz="3300" b="0">
                <a:solidFill>
                  <a:srgbClr val="184C3B"/>
                </a:solidFill>
                <a:latin typeface="Georgia"/>
                <a:ea typeface="Georgia"/>
                <a:cs typeface="Georgia"/>
              </a:defRPr>
            </a:lvl7pPr>
            <a:lvl8pPr>
              <a:defRPr sz="3300" b="0">
                <a:solidFill>
                  <a:srgbClr val="184C3B"/>
                </a:solidFill>
                <a:latin typeface="Georgia"/>
                <a:ea typeface="Georgia"/>
                <a:cs typeface="Georgia"/>
              </a:defRPr>
            </a:lvl8pPr>
            <a:lvl9pPr>
              <a:defRPr sz="3300" b="0">
                <a:solidFill>
                  <a:srgbClr val="184C3B"/>
                </a:solidFill>
                <a:latin typeface="Georgia"/>
                <a:ea typeface="Georgia"/>
                <a:cs typeface="Georgia"/>
              </a:defRPr>
            </a:lvl9pPr>
          </a:lstStyle>
          <a:p xmlns:a="http://schemas.openxmlformats.org/drawingml/2006/main">
            <a:pPr>
              <a:defRPr sz="3300" b="0">
                <a:solidFill>
                  <a:srgbClr val="184C3B"/>
                </a:solidFill>
                <a:latin typeface="Georgia"/>
                <a:ea typeface="Georgia"/>
                <a:cs typeface="Georgia"/>
              </a:defRPr>
            </a:pPr>
            <a:r>
              <a:rPr sz="3300" b="0">
                <a:solidFill>
                  <a:srgbClr val="184C3B"/>
                </a:solidFill>
                <a:latin typeface="Georgia"/>
                <a:ea typeface="Georgia"/>
                <a:cs typeface="Georgia"/>
              </a:rPr>
              <a:t>Qué es SIGAA y para quién está pensado</a:t>
            </a:r>
          </a:p>
        </p:txBody>
      </p:sp>
      <p:sp>
        <p:nvSpPr>
          <p:cNvPr id="3" name="Sistema Integral de Gestión Académica y Alertas Te">
            <a:extLst xmlns:a="http://schemas.openxmlformats.org/drawingml/2006/main">
              <a:ext uri="{FF2B5EF4-FFF2-40B4-BE49-F238E27FC236}">
                <a16:creationId xmlns:a16="http://schemas.microsoft.com/office/drawing/2014/main" id="{41C18181-6D01-4A34-831B-DB59A5253C9A}"/>
              </a:ext>
            </a:extLst>
          </p:cNvPr>
          <p:cNvSpPr>
            <a:spLocks xmlns:a="http://schemas.openxmlformats.org/drawingml/2006/main" noGrp="1"/>
          </p:cNvSpPr>
          <p:nvPr/>
        </p:nvSpPr>
        <p:spPr>
          <a:xfrm xmlns:a="http://schemas.openxmlformats.org/drawingml/2006/main">
            <a:off x="609600" y="17145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025" b="0">
                <a:solidFill>
                  <a:srgbClr val="184C3B"/>
                </a:solidFill>
                <a:latin typeface="Georgia"/>
                <a:ea typeface="Georgia"/>
                <a:cs typeface="Georgia"/>
              </a:defRPr>
            </a:defPPr>
            <a:lvl1pPr>
              <a:defRPr sz="2025" b="0">
                <a:solidFill>
                  <a:srgbClr val="184C3B"/>
                </a:solidFill>
                <a:latin typeface="Georgia"/>
                <a:ea typeface="Georgia"/>
                <a:cs typeface="Georgia"/>
              </a:defRPr>
            </a:lvl1pPr>
            <a:lvl2pPr>
              <a:defRPr sz="2025" b="0">
                <a:solidFill>
                  <a:srgbClr val="184C3B"/>
                </a:solidFill>
                <a:latin typeface="Georgia"/>
                <a:ea typeface="Georgia"/>
                <a:cs typeface="Georgia"/>
              </a:defRPr>
            </a:lvl2pPr>
            <a:lvl3pPr>
              <a:defRPr sz="2025" b="0">
                <a:solidFill>
                  <a:srgbClr val="184C3B"/>
                </a:solidFill>
                <a:latin typeface="Georgia"/>
                <a:ea typeface="Georgia"/>
                <a:cs typeface="Georgia"/>
              </a:defRPr>
            </a:lvl3pPr>
            <a:lvl4pPr>
              <a:defRPr sz="2025" b="0">
                <a:solidFill>
                  <a:srgbClr val="184C3B"/>
                </a:solidFill>
                <a:latin typeface="Georgia"/>
                <a:ea typeface="Georgia"/>
                <a:cs typeface="Georgia"/>
              </a:defRPr>
            </a:lvl4pPr>
            <a:lvl5pPr>
              <a:defRPr sz="2025" b="0">
                <a:solidFill>
                  <a:srgbClr val="184C3B"/>
                </a:solidFill>
                <a:latin typeface="Georgia"/>
                <a:ea typeface="Georgia"/>
                <a:cs typeface="Georgia"/>
              </a:defRPr>
            </a:lvl5pPr>
            <a:lvl6pPr>
              <a:defRPr sz="2025" b="0">
                <a:solidFill>
                  <a:srgbClr val="184C3B"/>
                </a:solidFill>
                <a:latin typeface="Georgia"/>
                <a:ea typeface="Georgia"/>
                <a:cs typeface="Georgia"/>
              </a:defRPr>
            </a:lvl6pPr>
            <a:lvl7pPr>
              <a:defRPr sz="2025" b="0">
                <a:solidFill>
                  <a:srgbClr val="184C3B"/>
                </a:solidFill>
                <a:latin typeface="Georgia"/>
                <a:ea typeface="Georgia"/>
                <a:cs typeface="Georgia"/>
              </a:defRPr>
            </a:lvl7pPr>
            <a:lvl8pPr>
              <a:defRPr sz="2025" b="0">
                <a:solidFill>
                  <a:srgbClr val="184C3B"/>
                </a:solidFill>
                <a:latin typeface="Georgia"/>
                <a:ea typeface="Georgia"/>
                <a:cs typeface="Georgia"/>
              </a:defRPr>
            </a:lvl8pPr>
            <a:lvl9pPr>
              <a:defRPr sz="2025" b="0">
                <a:solidFill>
                  <a:srgbClr val="184C3B"/>
                </a:solidFill>
                <a:latin typeface="Georgia"/>
                <a:ea typeface="Georgia"/>
                <a:cs typeface="Georgia"/>
              </a:defRPr>
            </a:lvl9pPr>
          </a:lstStyle>
          <a:p xmlns:a="http://schemas.openxmlformats.org/drawingml/2006/main">
            <a:pPr>
              <a:defRPr sz="2025" b="0">
                <a:solidFill>
                  <a:srgbClr val="184C3B"/>
                </a:solidFill>
                <a:latin typeface="Georgia"/>
                <a:ea typeface="Georgia"/>
                <a:cs typeface="Georgia"/>
              </a:defRPr>
            </a:pPr>
            <a:r>
              <a:rPr sz="2025" b="0">
                <a:solidFill>
                  <a:srgbClr val="184C3B"/>
                </a:solidFill>
                <a:latin typeface="Georgia"/>
                <a:ea typeface="Georgia"/>
                <a:cs typeface="Georgia"/>
              </a:rPr>
              <a:t>Sistema Integral de Gestión Académica y Alertas Tempranas</a:t>
            </a:r>
          </a:p>
        </p:txBody>
      </p:sp>
      <p:sp>
        <p:nvSpPr>
          <p:cNvPr id="4" name="Una plataforma web para colegios y liceos que reún">
            <a:extLst xmlns:a="http://schemas.openxmlformats.org/drawingml/2006/main">
              <a:ext uri="{FF2B5EF4-FFF2-40B4-BE49-F238E27FC236}">
                <a16:creationId xmlns:a16="http://schemas.microsoft.com/office/drawing/2014/main" id="{EE87CF73-DBB4-47F0-B2D1-7CF17B6D540A}"/>
              </a:ext>
            </a:extLst>
          </p:cNvPr>
          <p:cNvSpPr>
            <a:spLocks xmlns:a="http://schemas.openxmlformats.org/drawingml/2006/main" noGrp="1"/>
          </p:cNvSpPr>
          <p:nvPr/>
        </p:nvSpPr>
        <p:spPr>
          <a:xfrm xmlns:a="http://schemas.openxmlformats.org/drawingml/2006/main">
            <a:off x="609600" y="2333625"/>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b="0">
                <a:solidFill>
                  <a:srgbClr val="263D33"/>
                </a:solidFill>
                <a:latin typeface="Helvetica Neue"/>
                <a:ea typeface="Helvetica Neue"/>
                <a:cs typeface="Helvetica Neue"/>
              </a:defRPr>
            </a:defPPr>
            <a:lvl1pPr>
              <a:defRPr sz="2400" b="0">
                <a:solidFill>
                  <a:srgbClr val="263D33"/>
                </a:solidFill>
                <a:latin typeface="Helvetica Neue"/>
                <a:ea typeface="Helvetica Neue"/>
                <a:cs typeface="Helvetica Neue"/>
              </a:defRPr>
            </a:lvl1pPr>
            <a:lvl2pPr>
              <a:defRPr sz="2400" b="0">
                <a:solidFill>
                  <a:srgbClr val="263D33"/>
                </a:solidFill>
                <a:latin typeface="Helvetica Neue"/>
                <a:ea typeface="Helvetica Neue"/>
                <a:cs typeface="Helvetica Neue"/>
              </a:defRPr>
            </a:lvl2pPr>
            <a:lvl3pPr>
              <a:defRPr sz="2400" b="0">
                <a:solidFill>
                  <a:srgbClr val="263D33"/>
                </a:solidFill>
                <a:latin typeface="Helvetica Neue"/>
                <a:ea typeface="Helvetica Neue"/>
                <a:cs typeface="Helvetica Neue"/>
              </a:defRPr>
            </a:lvl3pPr>
            <a:lvl4pPr>
              <a:defRPr sz="2400" b="0">
                <a:solidFill>
                  <a:srgbClr val="263D33"/>
                </a:solidFill>
                <a:latin typeface="Helvetica Neue"/>
                <a:ea typeface="Helvetica Neue"/>
                <a:cs typeface="Helvetica Neue"/>
              </a:defRPr>
            </a:lvl4pPr>
            <a:lvl5pPr>
              <a:defRPr sz="2400" b="0">
                <a:solidFill>
                  <a:srgbClr val="263D33"/>
                </a:solidFill>
                <a:latin typeface="Helvetica Neue"/>
                <a:ea typeface="Helvetica Neue"/>
                <a:cs typeface="Helvetica Neue"/>
              </a:defRPr>
            </a:lvl5pPr>
            <a:lvl6pPr>
              <a:defRPr sz="2400" b="0">
                <a:solidFill>
                  <a:srgbClr val="263D33"/>
                </a:solidFill>
                <a:latin typeface="Helvetica Neue"/>
                <a:ea typeface="Helvetica Neue"/>
                <a:cs typeface="Helvetica Neue"/>
              </a:defRPr>
            </a:lvl6pPr>
            <a:lvl7pPr>
              <a:defRPr sz="2400" b="0">
                <a:solidFill>
                  <a:srgbClr val="263D33"/>
                </a:solidFill>
                <a:latin typeface="Helvetica Neue"/>
                <a:ea typeface="Helvetica Neue"/>
                <a:cs typeface="Helvetica Neue"/>
              </a:defRPr>
            </a:lvl7pPr>
            <a:lvl8pPr>
              <a:defRPr sz="2400" b="0">
                <a:solidFill>
                  <a:srgbClr val="263D33"/>
                </a:solidFill>
                <a:latin typeface="Helvetica Neue"/>
                <a:ea typeface="Helvetica Neue"/>
                <a:cs typeface="Helvetica Neue"/>
              </a:defRPr>
            </a:lvl8pPr>
            <a:lvl9pPr>
              <a:defRPr sz="2400" b="0">
                <a:solidFill>
                  <a:srgbClr val="263D33"/>
                </a:solidFill>
                <a:latin typeface="Helvetica Neue"/>
                <a:ea typeface="Helvetica Neue"/>
                <a:cs typeface="Helvetica Neue"/>
              </a:defRPr>
            </a:lvl9pPr>
          </a:lstStyle>
          <a:p xmlns:a="http://schemas.openxmlformats.org/drawingml/2006/main">
            <a:pPr>
              <a:defRPr sz="2400" b="0">
                <a:solidFill>
                  <a:srgbClr val="263D33"/>
                </a:solidFill>
                <a:latin typeface="Helvetica Neue"/>
                <a:ea typeface="Helvetica Neue"/>
                <a:cs typeface="Helvetica Neue"/>
              </a:defRPr>
            </a:pPr>
            <a:r>
              <a:rPr sz="2400" b="0">
                <a:solidFill>
                  <a:srgbClr val="263D33"/>
                </a:solidFill>
                <a:latin typeface="Helvetica Neue"/>
                <a:ea typeface="Helvetica Neue"/>
                <a:cs typeface="Helvetica Neue"/>
              </a:rPr>
              <a:t>Una plataforma web para colegios y liceos que reúne información académica y seguimiento del estudiante.</a:t>
            </a:r>
          </a:p>
        </p:txBody>
      </p:sp>
      <p:sp>
        <p:nvSpPr>
          <p:cNvPr id="5" name="Para qué sirve">
            <a:extLst xmlns:a="http://schemas.openxmlformats.org/drawingml/2006/main">
              <a:ext uri="{FF2B5EF4-FFF2-40B4-BE49-F238E27FC236}">
                <a16:creationId xmlns:a16="http://schemas.microsoft.com/office/drawing/2014/main" id="{523624B1-9825-43AA-B5A6-545927C8B517}"/>
              </a:ext>
            </a:extLst>
          </p:cNvPr>
          <p:cNvSpPr>
            <a:spLocks xmlns:a="http://schemas.openxmlformats.org/drawingml/2006/main" noGrp="1"/>
          </p:cNvSpPr>
          <p:nvPr/>
        </p:nvSpPr>
        <p:spPr>
          <a:xfrm xmlns:a="http://schemas.openxmlformats.org/drawingml/2006/main">
            <a:off x="609600" y="3524250"/>
            <a:ext cx="50958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84C3B"/>
                </a:solidFill>
                <a:latin typeface="Georgia"/>
                <a:ea typeface="Georgia"/>
                <a:cs typeface="Georgia"/>
              </a:defRPr>
            </a:defPPr>
            <a:lvl1pPr>
              <a:defRPr sz="2250" b="0">
                <a:solidFill>
                  <a:srgbClr val="184C3B"/>
                </a:solidFill>
                <a:latin typeface="Georgia"/>
                <a:ea typeface="Georgia"/>
                <a:cs typeface="Georgia"/>
              </a:defRPr>
            </a:lvl1pPr>
            <a:lvl2pPr>
              <a:defRPr sz="2250" b="0">
                <a:solidFill>
                  <a:srgbClr val="184C3B"/>
                </a:solidFill>
                <a:latin typeface="Georgia"/>
                <a:ea typeface="Georgia"/>
                <a:cs typeface="Georgia"/>
              </a:defRPr>
            </a:lvl2pPr>
            <a:lvl3pPr>
              <a:defRPr sz="2250" b="0">
                <a:solidFill>
                  <a:srgbClr val="184C3B"/>
                </a:solidFill>
                <a:latin typeface="Georgia"/>
                <a:ea typeface="Georgia"/>
                <a:cs typeface="Georgia"/>
              </a:defRPr>
            </a:lvl3pPr>
            <a:lvl4pPr>
              <a:defRPr sz="2250" b="0">
                <a:solidFill>
                  <a:srgbClr val="184C3B"/>
                </a:solidFill>
                <a:latin typeface="Georgia"/>
                <a:ea typeface="Georgia"/>
                <a:cs typeface="Georgia"/>
              </a:defRPr>
            </a:lvl4pPr>
            <a:lvl5pPr>
              <a:defRPr sz="2250" b="0">
                <a:solidFill>
                  <a:srgbClr val="184C3B"/>
                </a:solidFill>
                <a:latin typeface="Georgia"/>
                <a:ea typeface="Georgia"/>
                <a:cs typeface="Georgia"/>
              </a:defRPr>
            </a:lvl5pPr>
            <a:lvl6pPr>
              <a:defRPr sz="2250" b="0">
                <a:solidFill>
                  <a:srgbClr val="184C3B"/>
                </a:solidFill>
                <a:latin typeface="Georgia"/>
                <a:ea typeface="Georgia"/>
                <a:cs typeface="Georgia"/>
              </a:defRPr>
            </a:lvl6pPr>
            <a:lvl7pPr>
              <a:defRPr sz="2250" b="0">
                <a:solidFill>
                  <a:srgbClr val="184C3B"/>
                </a:solidFill>
                <a:latin typeface="Georgia"/>
                <a:ea typeface="Georgia"/>
                <a:cs typeface="Georgia"/>
              </a:defRPr>
            </a:lvl7pPr>
            <a:lvl8pPr>
              <a:defRPr sz="2250" b="0">
                <a:solidFill>
                  <a:srgbClr val="184C3B"/>
                </a:solidFill>
                <a:latin typeface="Georgia"/>
                <a:ea typeface="Georgia"/>
                <a:cs typeface="Georgia"/>
              </a:defRPr>
            </a:lvl8pPr>
            <a:lvl9pPr>
              <a:defRPr sz="2250" b="0">
                <a:solidFill>
                  <a:srgbClr val="184C3B"/>
                </a:solidFill>
                <a:latin typeface="Georgia"/>
                <a:ea typeface="Georgia"/>
                <a:cs typeface="Georgia"/>
              </a:defRPr>
            </a:lvl9pPr>
          </a:lstStyle>
          <a:p xmlns:a="http://schemas.openxmlformats.org/drawingml/2006/main">
            <a:pPr>
              <a:defRPr sz="2250" b="0">
                <a:solidFill>
                  <a:srgbClr val="184C3B"/>
                </a:solidFill>
                <a:latin typeface="Georgia"/>
                <a:ea typeface="Georgia"/>
                <a:cs typeface="Georgia"/>
              </a:defRPr>
            </a:pPr>
            <a:r>
              <a:rPr sz="2250" b="0">
                <a:solidFill>
                  <a:srgbClr val="184C3B"/>
                </a:solidFill>
                <a:latin typeface="Georgia"/>
                <a:ea typeface="Georgia"/>
                <a:cs typeface="Georgia"/>
              </a:rPr>
              <a:t>Para qué sirve</a:t>
            </a:r>
          </a:p>
        </p:txBody>
      </p:sp>
      <p:sp>
        <p:nvSpPr>
          <p:cNvPr id="6" name="Registrar asistencia, notas y anotaciones.&#10;Revisar">
            <a:extLst xmlns:a="http://schemas.openxmlformats.org/drawingml/2006/main">
              <a:ext uri="{FF2B5EF4-FFF2-40B4-BE49-F238E27FC236}">
                <a16:creationId xmlns:a16="http://schemas.microsoft.com/office/drawing/2014/main" id="{D8133E0D-6F00-47E1-BE77-FF0B5EF9847B}"/>
              </a:ext>
            </a:extLst>
          </p:cNvPr>
          <p:cNvSpPr>
            <a:spLocks xmlns:a="http://schemas.openxmlformats.org/drawingml/2006/main" noGrp="1"/>
          </p:cNvSpPr>
          <p:nvPr/>
        </p:nvSpPr>
        <p:spPr>
          <a:xfrm xmlns:a="http://schemas.openxmlformats.org/drawingml/2006/main">
            <a:off x="609600" y="4105275"/>
            <a:ext cx="5095875"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263D33"/>
                </a:solidFill>
                <a:latin typeface="Helvetica Neue"/>
                <a:ea typeface="Helvetica Neue"/>
                <a:cs typeface="Helvetica Neue"/>
              </a:defRPr>
            </a:defPPr>
            <a:lvl1pPr>
              <a:defRPr sz="2100" b="0">
                <a:solidFill>
                  <a:srgbClr val="263D33"/>
                </a:solidFill>
                <a:latin typeface="Helvetica Neue"/>
                <a:ea typeface="Helvetica Neue"/>
                <a:cs typeface="Helvetica Neue"/>
              </a:defRPr>
            </a:lvl1pPr>
            <a:lvl2pPr>
              <a:defRPr sz="2100" b="0">
                <a:solidFill>
                  <a:srgbClr val="263D33"/>
                </a:solidFill>
                <a:latin typeface="Helvetica Neue"/>
                <a:ea typeface="Helvetica Neue"/>
                <a:cs typeface="Helvetica Neue"/>
              </a:defRPr>
            </a:lvl2pPr>
            <a:lvl3pPr>
              <a:defRPr sz="2100" b="0">
                <a:solidFill>
                  <a:srgbClr val="263D33"/>
                </a:solidFill>
                <a:latin typeface="Helvetica Neue"/>
                <a:ea typeface="Helvetica Neue"/>
                <a:cs typeface="Helvetica Neue"/>
              </a:defRPr>
            </a:lvl3pPr>
            <a:lvl4pPr>
              <a:defRPr sz="2100" b="0">
                <a:solidFill>
                  <a:srgbClr val="263D33"/>
                </a:solidFill>
                <a:latin typeface="Helvetica Neue"/>
                <a:ea typeface="Helvetica Neue"/>
                <a:cs typeface="Helvetica Neue"/>
              </a:defRPr>
            </a:lvl4pPr>
            <a:lvl5pPr>
              <a:defRPr sz="2100" b="0">
                <a:solidFill>
                  <a:srgbClr val="263D33"/>
                </a:solidFill>
                <a:latin typeface="Helvetica Neue"/>
                <a:ea typeface="Helvetica Neue"/>
                <a:cs typeface="Helvetica Neue"/>
              </a:defRPr>
            </a:lvl5pPr>
            <a:lvl6pPr>
              <a:defRPr sz="2100" b="0">
                <a:solidFill>
                  <a:srgbClr val="263D33"/>
                </a:solidFill>
                <a:latin typeface="Helvetica Neue"/>
                <a:ea typeface="Helvetica Neue"/>
                <a:cs typeface="Helvetica Neue"/>
              </a:defRPr>
            </a:lvl6pPr>
            <a:lvl7pPr>
              <a:defRPr sz="2100" b="0">
                <a:solidFill>
                  <a:srgbClr val="263D33"/>
                </a:solidFill>
                <a:latin typeface="Helvetica Neue"/>
                <a:ea typeface="Helvetica Neue"/>
                <a:cs typeface="Helvetica Neue"/>
              </a:defRPr>
            </a:lvl7pPr>
            <a:lvl8pPr>
              <a:defRPr sz="2100" b="0">
                <a:solidFill>
                  <a:srgbClr val="263D33"/>
                </a:solidFill>
                <a:latin typeface="Helvetica Neue"/>
                <a:ea typeface="Helvetica Neue"/>
                <a:cs typeface="Helvetica Neue"/>
              </a:defRPr>
            </a:lvl8pPr>
            <a:lvl9pPr>
              <a:defRPr sz="2100" b="0">
                <a:solidFill>
                  <a:srgbClr val="263D33"/>
                </a:solidFill>
                <a:latin typeface="Helvetica Neue"/>
                <a:ea typeface="Helvetica Neue"/>
                <a:cs typeface="Helvetica Neue"/>
              </a:defRPr>
            </a:lvl9pPr>
          </a:lstStyle>
          <a:p xmlns:a="http://schemas.openxmlformats.org/drawingml/2006/main">
            <a:pPr>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Registrar asistencia, notas y anotaciones.</a:t>
            </a:r>
          </a:p>
          <a:p xmlns:a="http://schemas.openxmlformats.org/drawingml/2006/main">
            <a:pPr>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Revisar alertas y organizar acciones de seguimiento.</a:t>
            </a:r>
          </a:p>
        </p:txBody>
      </p:sp>
      <p:sp>
        <p:nvSpPr>
          <p:cNvPr id="7" name="Para quién">
            <a:extLst xmlns:a="http://schemas.openxmlformats.org/drawingml/2006/main">
              <a:ext uri="{FF2B5EF4-FFF2-40B4-BE49-F238E27FC236}">
                <a16:creationId xmlns:a16="http://schemas.microsoft.com/office/drawing/2014/main" id="{4AEF5DFE-432F-4DFE-A953-0F7661EDB926}"/>
              </a:ext>
            </a:extLst>
          </p:cNvPr>
          <p:cNvSpPr>
            <a:spLocks xmlns:a="http://schemas.openxmlformats.org/drawingml/2006/main" noGrp="1"/>
          </p:cNvSpPr>
          <p:nvPr/>
        </p:nvSpPr>
        <p:spPr>
          <a:xfrm xmlns:a="http://schemas.openxmlformats.org/drawingml/2006/main">
            <a:off x="6572250" y="35242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84C3B"/>
                </a:solidFill>
                <a:latin typeface="Georgia"/>
                <a:ea typeface="Georgia"/>
                <a:cs typeface="Georgia"/>
              </a:defRPr>
            </a:defPPr>
            <a:lvl1pPr>
              <a:defRPr sz="2250" b="0">
                <a:solidFill>
                  <a:srgbClr val="184C3B"/>
                </a:solidFill>
                <a:latin typeface="Georgia"/>
                <a:ea typeface="Georgia"/>
                <a:cs typeface="Georgia"/>
              </a:defRPr>
            </a:lvl1pPr>
            <a:lvl2pPr>
              <a:defRPr sz="2250" b="0">
                <a:solidFill>
                  <a:srgbClr val="184C3B"/>
                </a:solidFill>
                <a:latin typeface="Georgia"/>
                <a:ea typeface="Georgia"/>
                <a:cs typeface="Georgia"/>
              </a:defRPr>
            </a:lvl2pPr>
            <a:lvl3pPr>
              <a:defRPr sz="2250" b="0">
                <a:solidFill>
                  <a:srgbClr val="184C3B"/>
                </a:solidFill>
                <a:latin typeface="Georgia"/>
                <a:ea typeface="Georgia"/>
                <a:cs typeface="Georgia"/>
              </a:defRPr>
            </a:lvl3pPr>
            <a:lvl4pPr>
              <a:defRPr sz="2250" b="0">
                <a:solidFill>
                  <a:srgbClr val="184C3B"/>
                </a:solidFill>
                <a:latin typeface="Georgia"/>
                <a:ea typeface="Georgia"/>
                <a:cs typeface="Georgia"/>
              </a:defRPr>
            </a:lvl4pPr>
            <a:lvl5pPr>
              <a:defRPr sz="2250" b="0">
                <a:solidFill>
                  <a:srgbClr val="184C3B"/>
                </a:solidFill>
                <a:latin typeface="Georgia"/>
                <a:ea typeface="Georgia"/>
                <a:cs typeface="Georgia"/>
              </a:defRPr>
            </a:lvl5pPr>
            <a:lvl6pPr>
              <a:defRPr sz="2250" b="0">
                <a:solidFill>
                  <a:srgbClr val="184C3B"/>
                </a:solidFill>
                <a:latin typeface="Georgia"/>
                <a:ea typeface="Georgia"/>
                <a:cs typeface="Georgia"/>
              </a:defRPr>
            </a:lvl6pPr>
            <a:lvl7pPr>
              <a:defRPr sz="2250" b="0">
                <a:solidFill>
                  <a:srgbClr val="184C3B"/>
                </a:solidFill>
                <a:latin typeface="Georgia"/>
                <a:ea typeface="Georgia"/>
                <a:cs typeface="Georgia"/>
              </a:defRPr>
            </a:lvl7pPr>
            <a:lvl8pPr>
              <a:defRPr sz="2250" b="0">
                <a:solidFill>
                  <a:srgbClr val="184C3B"/>
                </a:solidFill>
                <a:latin typeface="Georgia"/>
                <a:ea typeface="Georgia"/>
                <a:cs typeface="Georgia"/>
              </a:defRPr>
            </a:lvl8pPr>
            <a:lvl9pPr>
              <a:defRPr sz="2250" b="0">
                <a:solidFill>
                  <a:srgbClr val="184C3B"/>
                </a:solidFill>
                <a:latin typeface="Georgia"/>
                <a:ea typeface="Georgia"/>
                <a:cs typeface="Georgia"/>
              </a:defRPr>
            </a:lvl9pPr>
          </a:lstStyle>
          <a:p xmlns:a="http://schemas.openxmlformats.org/drawingml/2006/main">
            <a:pPr>
              <a:defRPr sz="2250" b="0">
                <a:solidFill>
                  <a:srgbClr val="184C3B"/>
                </a:solidFill>
                <a:latin typeface="Georgia"/>
                <a:ea typeface="Georgia"/>
                <a:cs typeface="Georgia"/>
              </a:defRPr>
            </a:pPr>
            <a:r>
              <a:rPr sz="2250" b="0">
                <a:solidFill>
                  <a:srgbClr val="184C3B"/>
                </a:solidFill>
                <a:latin typeface="Georgia"/>
                <a:ea typeface="Georgia"/>
                <a:cs typeface="Georgia"/>
              </a:rPr>
              <a:t>Para quién</a:t>
            </a:r>
          </a:p>
        </p:txBody>
      </p:sp>
      <p:sp>
        <p:nvSpPr>
          <p:cNvPr id="8" name="Docentes y estudiantes.&#10;Administración, Inspectorí">
            <a:extLst xmlns:a="http://schemas.openxmlformats.org/drawingml/2006/main">
              <a:ext uri="{FF2B5EF4-FFF2-40B4-BE49-F238E27FC236}">
                <a16:creationId xmlns:a16="http://schemas.microsoft.com/office/drawing/2014/main" id="{C090DF22-B651-4CA0-9626-4A14D13FBE8E}"/>
              </a:ext>
            </a:extLst>
          </p:cNvPr>
          <p:cNvSpPr>
            <a:spLocks xmlns:a="http://schemas.openxmlformats.org/drawingml/2006/main" noGrp="1"/>
          </p:cNvSpPr>
          <p:nvPr/>
        </p:nvSpPr>
        <p:spPr>
          <a:xfrm xmlns:a="http://schemas.openxmlformats.org/drawingml/2006/main">
            <a:off x="6572250" y="4105275"/>
            <a:ext cx="4953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00" b="0">
                <a:solidFill>
                  <a:srgbClr val="263D33"/>
                </a:solidFill>
                <a:latin typeface="Helvetica Neue"/>
                <a:ea typeface="Helvetica Neue"/>
                <a:cs typeface="Helvetica Neue"/>
              </a:defRPr>
            </a:defPPr>
            <a:lvl1pPr>
              <a:defRPr sz="2100" b="0">
                <a:solidFill>
                  <a:srgbClr val="263D33"/>
                </a:solidFill>
                <a:latin typeface="Helvetica Neue"/>
                <a:ea typeface="Helvetica Neue"/>
                <a:cs typeface="Helvetica Neue"/>
              </a:defRPr>
            </a:lvl1pPr>
            <a:lvl2pPr>
              <a:defRPr sz="2100" b="0">
                <a:solidFill>
                  <a:srgbClr val="263D33"/>
                </a:solidFill>
                <a:latin typeface="Helvetica Neue"/>
                <a:ea typeface="Helvetica Neue"/>
                <a:cs typeface="Helvetica Neue"/>
              </a:defRPr>
            </a:lvl2pPr>
            <a:lvl3pPr>
              <a:defRPr sz="2100" b="0">
                <a:solidFill>
                  <a:srgbClr val="263D33"/>
                </a:solidFill>
                <a:latin typeface="Helvetica Neue"/>
                <a:ea typeface="Helvetica Neue"/>
                <a:cs typeface="Helvetica Neue"/>
              </a:defRPr>
            </a:lvl3pPr>
            <a:lvl4pPr>
              <a:defRPr sz="2100" b="0">
                <a:solidFill>
                  <a:srgbClr val="263D33"/>
                </a:solidFill>
                <a:latin typeface="Helvetica Neue"/>
                <a:ea typeface="Helvetica Neue"/>
                <a:cs typeface="Helvetica Neue"/>
              </a:defRPr>
            </a:lvl4pPr>
            <a:lvl5pPr>
              <a:defRPr sz="2100" b="0">
                <a:solidFill>
                  <a:srgbClr val="263D33"/>
                </a:solidFill>
                <a:latin typeface="Helvetica Neue"/>
                <a:ea typeface="Helvetica Neue"/>
                <a:cs typeface="Helvetica Neue"/>
              </a:defRPr>
            </a:lvl5pPr>
            <a:lvl6pPr>
              <a:defRPr sz="2100" b="0">
                <a:solidFill>
                  <a:srgbClr val="263D33"/>
                </a:solidFill>
                <a:latin typeface="Helvetica Neue"/>
                <a:ea typeface="Helvetica Neue"/>
                <a:cs typeface="Helvetica Neue"/>
              </a:defRPr>
            </a:lvl6pPr>
            <a:lvl7pPr>
              <a:defRPr sz="2100" b="0">
                <a:solidFill>
                  <a:srgbClr val="263D33"/>
                </a:solidFill>
                <a:latin typeface="Helvetica Neue"/>
                <a:ea typeface="Helvetica Neue"/>
                <a:cs typeface="Helvetica Neue"/>
              </a:defRPr>
            </a:lvl7pPr>
            <a:lvl8pPr>
              <a:defRPr sz="2100" b="0">
                <a:solidFill>
                  <a:srgbClr val="263D33"/>
                </a:solidFill>
                <a:latin typeface="Helvetica Neue"/>
                <a:ea typeface="Helvetica Neue"/>
                <a:cs typeface="Helvetica Neue"/>
              </a:defRPr>
            </a:lvl8pPr>
            <a:lvl9pPr>
              <a:defRPr sz="2100" b="0">
                <a:solidFill>
                  <a:srgbClr val="263D33"/>
                </a:solidFill>
                <a:latin typeface="Helvetica Neue"/>
                <a:ea typeface="Helvetica Neue"/>
                <a:cs typeface="Helvetica Neue"/>
              </a:defRPr>
            </a:lvl9pPr>
          </a:lstStyle>
          <a:p xmlns:a="http://schemas.openxmlformats.org/drawingml/2006/main">
            <a:pPr>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Docentes y estudiantes.</a:t>
            </a:r>
          </a:p>
          <a:p xmlns:a="http://schemas.openxmlformats.org/drawingml/2006/main">
            <a:pPr>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Administración, Inspectoría y personal autorizado.</a:t>
            </a:r>
          </a:p>
        </p:txBody>
      </p:sp>
      <p:sp>
        <p:nvSpPr>
          <p:cNvPr id="9" name="Los apoderados se registran como contactos. Aún no">
            <a:extLst xmlns:a="http://schemas.openxmlformats.org/drawingml/2006/main">
              <a:ext uri="{FF2B5EF4-FFF2-40B4-BE49-F238E27FC236}">
                <a16:creationId xmlns:a16="http://schemas.microsoft.com/office/drawing/2014/main" id="{FE90B7F7-2346-4E43-9A88-3470F093C65F}"/>
              </a:ext>
            </a:extLst>
          </p:cNvPr>
          <p:cNvSpPr>
            <a:spLocks xmlns:a="http://schemas.openxmlformats.org/drawingml/2006/main" noGrp="1"/>
          </p:cNvSpPr>
          <p:nvPr/>
        </p:nvSpPr>
        <p:spPr>
          <a:xfrm xmlns:a="http://schemas.openxmlformats.org/drawingml/2006/main">
            <a:off x="609600" y="5753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85D"/>
                </a:solidFill>
                <a:latin typeface="Helvetica Neue"/>
                <a:ea typeface="Helvetica Neue"/>
                <a:cs typeface="Helvetica Neue"/>
              </a:defRPr>
            </a:defPPr>
            <a:lvl1pPr>
              <a:defRPr sz="1650" b="0">
                <a:solidFill>
                  <a:srgbClr val="53685D"/>
                </a:solidFill>
                <a:latin typeface="Helvetica Neue"/>
                <a:ea typeface="Helvetica Neue"/>
                <a:cs typeface="Helvetica Neue"/>
              </a:defRPr>
            </a:lvl1pPr>
            <a:lvl2pPr>
              <a:defRPr sz="1650" b="0">
                <a:solidFill>
                  <a:srgbClr val="53685D"/>
                </a:solidFill>
                <a:latin typeface="Helvetica Neue"/>
                <a:ea typeface="Helvetica Neue"/>
                <a:cs typeface="Helvetica Neue"/>
              </a:defRPr>
            </a:lvl2pPr>
            <a:lvl3pPr>
              <a:defRPr sz="1650" b="0">
                <a:solidFill>
                  <a:srgbClr val="53685D"/>
                </a:solidFill>
                <a:latin typeface="Helvetica Neue"/>
                <a:ea typeface="Helvetica Neue"/>
                <a:cs typeface="Helvetica Neue"/>
              </a:defRPr>
            </a:lvl3pPr>
            <a:lvl4pPr>
              <a:defRPr sz="1650" b="0">
                <a:solidFill>
                  <a:srgbClr val="53685D"/>
                </a:solidFill>
                <a:latin typeface="Helvetica Neue"/>
                <a:ea typeface="Helvetica Neue"/>
                <a:cs typeface="Helvetica Neue"/>
              </a:defRPr>
            </a:lvl4pPr>
            <a:lvl5pPr>
              <a:defRPr sz="1650" b="0">
                <a:solidFill>
                  <a:srgbClr val="53685D"/>
                </a:solidFill>
                <a:latin typeface="Helvetica Neue"/>
                <a:ea typeface="Helvetica Neue"/>
                <a:cs typeface="Helvetica Neue"/>
              </a:defRPr>
            </a:lvl5pPr>
            <a:lvl6pPr>
              <a:defRPr sz="1650" b="0">
                <a:solidFill>
                  <a:srgbClr val="53685D"/>
                </a:solidFill>
                <a:latin typeface="Helvetica Neue"/>
                <a:ea typeface="Helvetica Neue"/>
                <a:cs typeface="Helvetica Neue"/>
              </a:defRPr>
            </a:lvl6pPr>
            <a:lvl7pPr>
              <a:defRPr sz="1650" b="0">
                <a:solidFill>
                  <a:srgbClr val="53685D"/>
                </a:solidFill>
                <a:latin typeface="Helvetica Neue"/>
                <a:ea typeface="Helvetica Neue"/>
                <a:cs typeface="Helvetica Neue"/>
              </a:defRPr>
            </a:lvl7pPr>
            <a:lvl8pPr>
              <a:defRPr sz="1650" b="0">
                <a:solidFill>
                  <a:srgbClr val="53685D"/>
                </a:solidFill>
                <a:latin typeface="Helvetica Neue"/>
                <a:ea typeface="Helvetica Neue"/>
                <a:cs typeface="Helvetica Neue"/>
              </a:defRPr>
            </a:lvl8pPr>
            <a:lvl9pPr>
              <a:defRPr sz="1650" b="0">
                <a:solidFill>
                  <a:srgbClr val="53685D"/>
                </a:solidFill>
                <a:latin typeface="Helvetica Neue"/>
                <a:ea typeface="Helvetica Neue"/>
                <a:cs typeface="Helvetica Neue"/>
              </a:defRPr>
            </a:lvl9pPr>
          </a:lstStyle>
          <a:p xmlns:a="http://schemas.openxmlformats.org/drawingml/2006/main">
            <a:pPr>
              <a:defRPr sz="1650" b="0">
                <a:solidFill>
                  <a:srgbClr val="53685D"/>
                </a:solidFill>
                <a:latin typeface="Helvetica Neue"/>
                <a:ea typeface="Helvetica Neue"/>
                <a:cs typeface="Helvetica Neue"/>
              </a:defRPr>
            </a:pPr>
            <a:r>
              <a:rPr sz="1650" b="0">
                <a:solidFill>
                  <a:srgbClr val="53685D"/>
                </a:solidFill>
                <a:latin typeface="Helvetica Neue"/>
                <a:ea typeface="Helvetica Neue"/>
                <a:cs typeface="Helvetica Neue"/>
              </a:rPr>
              <a:t>Los apoderados se registran como contactos. Aún no tienen acceso propio al portal.</a:t>
            </a:r>
          </a:p>
        </p:txBody>
      </p:sp>
      <p:sp>
        <p:nvSpPr>
          <p:cNvPr id="10" name="Joel  /  Bloque 1 de 3  /  SIGAA">
            <a:extLst xmlns:a="http://schemas.openxmlformats.org/drawingml/2006/main">
              <a:ext uri="{FF2B5EF4-FFF2-40B4-BE49-F238E27FC236}">
                <a16:creationId xmlns:a16="http://schemas.microsoft.com/office/drawing/2014/main" id="{EE246A12-9197-4FDE-A118-A44A603877A5}"/>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53685D"/>
                </a:solidFill>
                <a:latin typeface="Helvetica Neue"/>
                <a:ea typeface="Helvetica Neue"/>
                <a:cs typeface="Helvetica Neue"/>
              </a:defRPr>
            </a:defPPr>
            <a:lvl1pPr>
              <a:defRPr sz="1050" b="0">
                <a:solidFill>
                  <a:srgbClr val="53685D"/>
                </a:solidFill>
                <a:latin typeface="Helvetica Neue"/>
                <a:ea typeface="Helvetica Neue"/>
                <a:cs typeface="Helvetica Neue"/>
              </a:defRPr>
            </a:lvl1pPr>
            <a:lvl2pPr>
              <a:defRPr sz="1050" b="0">
                <a:solidFill>
                  <a:srgbClr val="53685D"/>
                </a:solidFill>
                <a:latin typeface="Helvetica Neue"/>
                <a:ea typeface="Helvetica Neue"/>
                <a:cs typeface="Helvetica Neue"/>
              </a:defRPr>
            </a:lvl2pPr>
            <a:lvl3pPr>
              <a:defRPr sz="1050" b="0">
                <a:solidFill>
                  <a:srgbClr val="53685D"/>
                </a:solidFill>
                <a:latin typeface="Helvetica Neue"/>
                <a:ea typeface="Helvetica Neue"/>
                <a:cs typeface="Helvetica Neue"/>
              </a:defRPr>
            </a:lvl3pPr>
            <a:lvl4pPr>
              <a:defRPr sz="1050" b="0">
                <a:solidFill>
                  <a:srgbClr val="53685D"/>
                </a:solidFill>
                <a:latin typeface="Helvetica Neue"/>
                <a:ea typeface="Helvetica Neue"/>
                <a:cs typeface="Helvetica Neue"/>
              </a:defRPr>
            </a:lvl4pPr>
            <a:lvl5pPr>
              <a:defRPr sz="1050" b="0">
                <a:solidFill>
                  <a:srgbClr val="53685D"/>
                </a:solidFill>
                <a:latin typeface="Helvetica Neue"/>
                <a:ea typeface="Helvetica Neue"/>
                <a:cs typeface="Helvetica Neue"/>
              </a:defRPr>
            </a:lvl5pPr>
            <a:lvl6pPr>
              <a:defRPr sz="1050" b="0">
                <a:solidFill>
                  <a:srgbClr val="53685D"/>
                </a:solidFill>
                <a:latin typeface="Helvetica Neue"/>
                <a:ea typeface="Helvetica Neue"/>
                <a:cs typeface="Helvetica Neue"/>
              </a:defRPr>
            </a:lvl6pPr>
            <a:lvl7pPr>
              <a:defRPr sz="1050" b="0">
                <a:solidFill>
                  <a:srgbClr val="53685D"/>
                </a:solidFill>
                <a:latin typeface="Helvetica Neue"/>
                <a:ea typeface="Helvetica Neue"/>
                <a:cs typeface="Helvetica Neue"/>
              </a:defRPr>
            </a:lvl7pPr>
            <a:lvl8pPr>
              <a:defRPr sz="1050" b="0">
                <a:solidFill>
                  <a:srgbClr val="53685D"/>
                </a:solidFill>
                <a:latin typeface="Helvetica Neue"/>
                <a:ea typeface="Helvetica Neue"/>
                <a:cs typeface="Helvetica Neue"/>
              </a:defRPr>
            </a:lvl8pPr>
            <a:lvl9pPr>
              <a:defRPr sz="1050" b="0">
                <a:solidFill>
                  <a:srgbClr val="53685D"/>
                </a:solidFill>
                <a:latin typeface="Helvetica Neue"/>
                <a:ea typeface="Helvetica Neue"/>
                <a:cs typeface="Helvetica Neue"/>
              </a:defRPr>
            </a:lvl9pPr>
          </a:lstStyle>
          <a:p xmlns:a="http://schemas.openxmlformats.org/drawingml/2006/main">
            <a:pPr>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Joel  /  Bloque 1 de 3  /  SIGAA</a:t>
            </a:r>
          </a:p>
        </p:txBody>
      </p:sp>
      <p:sp>
        <p:nvSpPr>
          <p:cNvPr id="11" name="02 de 18   /   28 oct 2026">
            <a:extLst xmlns:a="http://schemas.openxmlformats.org/drawingml/2006/main">
              <a:ext uri="{FF2B5EF4-FFF2-40B4-BE49-F238E27FC236}">
                <a16:creationId xmlns:a16="http://schemas.microsoft.com/office/drawing/2014/main" id="{6E37E2B3-621C-44A5-8176-47AEB88B6865}"/>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53685D"/>
                </a:solidFill>
                <a:latin typeface="Helvetica Neue"/>
                <a:ea typeface="Helvetica Neue"/>
                <a:cs typeface="Helvetica Neue"/>
              </a:defRPr>
            </a:defPPr>
            <a:lvl1pPr>
              <a:defRPr sz="1050" b="0">
                <a:solidFill>
                  <a:srgbClr val="53685D"/>
                </a:solidFill>
                <a:latin typeface="Helvetica Neue"/>
                <a:ea typeface="Helvetica Neue"/>
                <a:cs typeface="Helvetica Neue"/>
              </a:defRPr>
            </a:lvl1pPr>
            <a:lvl2pPr>
              <a:defRPr sz="1050" b="0">
                <a:solidFill>
                  <a:srgbClr val="53685D"/>
                </a:solidFill>
                <a:latin typeface="Helvetica Neue"/>
                <a:ea typeface="Helvetica Neue"/>
                <a:cs typeface="Helvetica Neue"/>
              </a:defRPr>
            </a:lvl2pPr>
            <a:lvl3pPr>
              <a:defRPr sz="1050" b="0">
                <a:solidFill>
                  <a:srgbClr val="53685D"/>
                </a:solidFill>
                <a:latin typeface="Helvetica Neue"/>
                <a:ea typeface="Helvetica Neue"/>
                <a:cs typeface="Helvetica Neue"/>
              </a:defRPr>
            </a:lvl3pPr>
            <a:lvl4pPr>
              <a:defRPr sz="1050" b="0">
                <a:solidFill>
                  <a:srgbClr val="53685D"/>
                </a:solidFill>
                <a:latin typeface="Helvetica Neue"/>
                <a:ea typeface="Helvetica Neue"/>
                <a:cs typeface="Helvetica Neue"/>
              </a:defRPr>
            </a:lvl4pPr>
            <a:lvl5pPr>
              <a:defRPr sz="1050" b="0">
                <a:solidFill>
                  <a:srgbClr val="53685D"/>
                </a:solidFill>
                <a:latin typeface="Helvetica Neue"/>
                <a:ea typeface="Helvetica Neue"/>
                <a:cs typeface="Helvetica Neue"/>
              </a:defRPr>
            </a:lvl5pPr>
            <a:lvl6pPr>
              <a:defRPr sz="1050" b="0">
                <a:solidFill>
                  <a:srgbClr val="53685D"/>
                </a:solidFill>
                <a:latin typeface="Helvetica Neue"/>
                <a:ea typeface="Helvetica Neue"/>
                <a:cs typeface="Helvetica Neue"/>
              </a:defRPr>
            </a:lvl6pPr>
            <a:lvl7pPr>
              <a:defRPr sz="1050" b="0">
                <a:solidFill>
                  <a:srgbClr val="53685D"/>
                </a:solidFill>
                <a:latin typeface="Helvetica Neue"/>
                <a:ea typeface="Helvetica Neue"/>
                <a:cs typeface="Helvetica Neue"/>
              </a:defRPr>
            </a:lvl7pPr>
            <a:lvl8pPr>
              <a:defRPr sz="1050" b="0">
                <a:solidFill>
                  <a:srgbClr val="53685D"/>
                </a:solidFill>
                <a:latin typeface="Helvetica Neue"/>
                <a:ea typeface="Helvetica Neue"/>
                <a:cs typeface="Helvetica Neue"/>
              </a:defRPr>
            </a:lvl8pPr>
            <a:lvl9pPr>
              <a:defRPr sz="1050" b="0">
                <a:solidFill>
                  <a:srgbClr val="53685D"/>
                </a:solidFill>
                <a:latin typeface="Helvetica Neue"/>
                <a:ea typeface="Helvetica Neue"/>
                <a:cs typeface="Helvetica Neue"/>
              </a:defRPr>
            </a:lvl9pPr>
          </a:lstStyle>
          <a:p xmlns:a="http://schemas.openxmlformats.org/drawingml/2006/main">
            <a:pPr>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02 de 18   /   28 oct 2026</a:t>
            </a:r>
          </a:p>
        </p:txBody>
      </p:sp>
    </p:spTree>
    <p:extLst>
      <p:ext uri="{BB962C8B-B14F-4D97-AF65-F5344CB8AC3E}">
        <p14:creationId xmlns:p14="http://schemas.microsoft.com/office/powerpoint/2010/main" val="1478802173"/>
      </p:ext>
    </p:extLst>
  </p:cSld>
</p:sld>
</file>

<file path=ppt/slides/slide3.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2" name="AVANCE DEL PROYECTO">
            <a:extLst xmlns:a="http://schemas.openxmlformats.org/drawingml/2006/main">
              <a:ext uri="{FF2B5EF4-FFF2-40B4-BE49-F238E27FC236}">
                <a16:creationId xmlns:a16="http://schemas.microsoft.com/office/drawing/2014/main" id="{7B66F352-13BC-4459-A907-137209BD6EDF}"/>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Sprint 5: seguimiento implementado">
            <a:extLst xmlns:a="http://schemas.openxmlformats.org/drawingml/2006/main">
              <a:ext uri="{FF2B5EF4-FFF2-40B4-BE49-F238E27FC236}">
                <a16:creationId xmlns:a16="http://schemas.microsoft.com/office/drawing/2014/main" id="{9A668924-4B4A-4058-B015-83B494577807}"/>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Sprint 5: seguimiento implementado</a:t>
            </a:r>
          </a:p>
        </p:txBody>
      </p:sp>
      <p:sp>
        <p:nvSpPr>
          <p:cNvPr id="3" name="SIGAA  /  Capstone 2026">
            <a:extLst xmlns:a="http://schemas.openxmlformats.org/drawingml/2006/main">
              <a:ext uri="{FF2B5EF4-FFF2-40B4-BE49-F238E27FC236}">
                <a16:creationId xmlns:a16="http://schemas.microsoft.com/office/drawing/2014/main" id="{DED0A92D-CBE7-40F5-A0D6-856210D093FA}"/>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Joel  /  Bloque 1 de 3  /  SIGAA</a:t>
            </a:r>
          </a:p>
        </p:txBody>
      </p:sp>
      <p:sp>
        <p:nvSpPr>
          <p:cNvPr id="4" name="02   /   28 oct 2026">
            <a:extLst xmlns:a="http://schemas.openxmlformats.org/drawingml/2006/main">
              <a:ext uri="{FF2B5EF4-FFF2-40B4-BE49-F238E27FC236}">
                <a16:creationId xmlns:a16="http://schemas.microsoft.com/office/drawing/2014/main" id="{02DFB1B3-4676-470E-8783-3A78722CA3E1}"/>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03 de 18   /   28 oct 2026</a:t>
            </a:r>
          </a:p>
        </p:txBody>
      </p:sp>
      <p:sp>
        <p:nvSpPr>
          <p:cNvPr id="5" name="0.9.0">
            <a:extLst xmlns:a="http://schemas.openxmlformats.org/drawingml/2006/main">
              <a:ext uri="{FF2B5EF4-FFF2-40B4-BE49-F238E27FC236}">
                <a16:creationId xmlns:a16="http://schemas.microsoft.com/office/drawing/2014/main" id="{2EF7F069-D6FE-4D25-99C5-C3C9FC0134FB}"/>
              </a:ext>
            </a:extLst>
          </p:cNvPr>
          <p:cNvSpPr>
            <a:spLocks xmlns:a="http://schemas.openxmlformats.org/drawingml/2006/main" noGrp="1"/>
          </p:cNvSpPr>
          <p:nvPr/>
        </p:nvSpPr>
        <p:spPr>
          <a:xfrm xmlns:a="http://schemas.openxmlformats.org/drawingml/2006/main">
            <a:off x="609600" y="2047875"/>
            <a:ext cx="4000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600" b="0">
                <a:solidFill>
                  <a:srgbClr val="184C3B"/>
                </a:solidFill>
                <a:latin typeface="Georgia"/>
                <a:ea typeface="Georgia"/>
                <a:cs typeface="Georgia"/>
              </a:defRPr>
            </a:defPPr>
            <a:lvl1pPr algn="l">
              <a:buNone/>
              <a:defRPr sz="6600" b="1">
                <a:solidFill>
                  <a:srgbClr val="184C3B"/>
                </a:solidFill>
                <a:latin typeface="DejaVu Sans"/>
                <a:ea typeface="DejaVu Sans"/>
                <a:cs typeface="DejaVu Sans"/>
              </a:defRPr>
            </a:lvl1pPr>
            <a:lvl2pPr algn="l">
              <a:buNone/>
              <a:defRPr sz="6600" b="1">
                <a:solidFill>
                  <a:srgbClr val="184C3B"/>
                </a:solidFill>
                <a:latin typeface="DejaVu Sans"/>
                <a:ea typeface="DejaVu Sans"/>
                <a:cs typeface="DejaVu Sans"/>
              </a:defRPr>
            </a:lvl2pPr>
            <a:lvl3pPr algn="l">
              <a:buNone/>
              <a:defRPr sz="6600" b="1">
                <a:solidFill>
                  <a:srgbClr val="184C3B"/>
                </a:solidFill>
                <a:latin typeface="DejaVu Sans"/>
                <a:ea typeface="DejaVu Sans"/>
                <a:cs typeface="DejaVu Sans"/>
              </a:defRPr>
            </a:lvl3pPr>
            <a:lvl4pPr algn="l">
              <a:buNone/>
              <a:defRPr sz="6600" b="1">
                <a:solidFill>
                  <a:srgbClr val="184C3B"/>
                </a:solidFill>
                <a:latin typeface="DejaVu Sans"/>
                <a:ea typeface="DejaVu Sans"/>
                <a:cs typeface="DejaVu Sans"/>
              </a:defRPr>
            </a:lvl4pPr>
            <a:lvl5pPr algn="l">
              <a:buNone/>
              <a:defRPr sz="6600" b="1">
                <a:solidFill>
                  <a:srgbClr val="184C3B"/>
                </a:solidFill>
                <a:latin typeface="DejaVu Sans"/>
                <a:ea typeface="DejaVu Sans"/>
                <a:cs typeface="DejaVu Sans"/>
              </a:defRPr>
            </a:lvl5pPr>
            <a:lvl6pPr algn="l">
              <a:buNone/>
              <a:defRPr sz="6600" b="1">
                <a:solidFill>
                  <a:srgbClr val="184C3B"/>
                </a:solidFill>
                <a:latin typeface="DejaVu Sans"/>
                <a:ea typeface="DejaVu Sans"/>
                <a:cs typeface="DejaVu Sans"/>
              </a:defRPr>
            </a:lvl6pPr>
            <a:lvl7pPr algn="l">
              <a:buNone/>
              <a:defRPr sz="6600" b="1">
                <a:solidFill>
                  <a:srgbClr val="184C3B"/>
                </a:solidFill>
                <a:latin typeface="DejaVu Sans"/>
                <a:ea typeface="DejaVu Sans"/>
                <a:cs typeface="DejaVu Sans"/>
              </a:defRPr>
            </a:lvl7pPr>
            <a:lvl8pPr algn="l">
              <a:buNone/>
              <a:defRPr sz="6600" b="1">
                <a:solidFill>
                  <a:srgbClr val="184C3B"/>
                </a:solidFill>
                <a:latin typeface="DejaVu Sans"/>
                <a:ea typeface="DejaVu Sans"/>
                <a:cs typeface="DejaVu Sans"/>
              </a:defRPr>
            </a:lvl8pPr>
            <a:lvl9pPr algn="l">
              <a:buNone/>
              <a:defRPr sz="6600" b="1">
                <a:solidFill>
                  <a:srgbClr val="184C3B"/>
                </a:solidFill>
                <a:latin typeface="DejaVu Sans"/>
                <a:ea typeface="DejaVu Sans"/>
                <a:cs typeface="DejaVu Sans"/>
              </a:defRPr>
            </a:lvl9pPr>
          </a:lstStyle>
          <a:p xmlns:a="http://schemas.openxmlformats.org/drawingml/2006/main">
            <a:pPr algn="l">
              <a:buNone/>
              <a:defRPr sz="6600" b="0">
                <a:solidFill>
                  <a:srgbClr val="184C3B"/>
                </a:solidFill>
                <a:latin typeface="Georgia"/>
                <a:ea typeface="Georgia"/>
                <a:cs typeface="Georgia"/>
              </a:defRPr>
            </a:pPr>
            <a:r>
              <a:rPr sz="6600" b="0">
                <a:solidFill>
                  <a:srgbClr val="184C3B"/>
                </a:solidFill>
                <a:latin typeface="Georgia"/>
                <a:ea typeface="Georgia"/>
                <a:cs typeface="Georgia"/>
              </a:rPr>
              <a:t>0.9.0</a:t>
            </a:r>
          </a:p>
        </p:txBody>
      </p:sp>
      <p:sp>
        <p:nvSpPr>
          <p:cNvPr id="6" name="Incremento para revisión">
            <a:extLst xmlns:a="http://schemas.openxmlformats.org/drawingml/2006/main">
              <a:ext uri="{FF2B5EF4-FFF2-40B4-BE49-F238E27FC236}">
                <a16:creationId xmlns:a16="http://schemas.microsoft.com/office/drawing/2014/main" id="{20D3DCEB-3A3E-4C61-ABC4-4F6715059D9F}"/>
              </a:ext>
            </a:extLst>
          </p:cNvPr>
          <p:cNvSpPr>
            <a:spLocks xmlns:a="http://schemas.openxmlformats.org/drawingml/2006/main" noGrp="1"/>
          </p:cNvSpPr>
          <p:nvPr/>
        </p:nvSpPr>
        <p:spPr>
          <a:xfrm xmlns:a="http://schemas.openxmlformats.org/drawingml/2006/main">
            <a:off x="647700" y="323850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B58C3C"/>
                </a:solidFill>
                <a:latin typeface="Helvetica Neue"/>
                <a:ea typeface="Helvetica Neue"/>
                <a:cs typeface="Helvetica Neue"/>
              </a:defRPr>
            </a:defPPr>
            <a:lvl1pPr algn="l">
              <a:buNone/>
              <a:defRPr sz="2250" b="1">
                <a:solidFill>
                  <a:srgbClr val="B58C3C"/>
                </a:solidFill>
                <a:latin typeface="DejaVu Sans"/>
                <a:ea typeface="DejaVu Sans"/>
                <a:cs typeface="DejaVu Sans"/>
              </a:defRPr>
            </a:lvl1pPr>
            <a:lvl2pPr algn="l">
              <a:buNone/>
              <a:defRPr sz="2250" b="1">
                <a:solidFill>
                  <a:srgbClr val="B58C3C"/>
                </a:solidFill>
                <a:latin typeface="DejaVu Sans"/>
                <a:ea typeface="DejaVu Sans"/>
                <a:cs typeface="DejaVu Sans"/>
              </a:defRPr>
            </a:lvl2pPr>
            <a:lvl3pPr algn="l">
              <a:buNone/>
              <a:defRPr sz="2250" b="1">
                <a:solidFill>
                  <a:srgbClr val="B58C3C"/>
                </a:solidFill>
                <a:latin typeface="DejaVu Sans"/>
                <a:ea typeface="DejaVu Sans"/>
                <a:cs typeface="DejaVu Sans"/>
              </a:defRPr>
            </a:lvl3pPr>
            <a:lvl4pPr algn="l">
              <a:buNone/>
              <a:defRPr sz="2250" b="1">
                <a:solidFill>
                  <a:srgbClr val="B58C3C"/>
                </a:solidFill>
                <a:latin typeface="DejaVu Sans"/>
                <a:ea typeface="DejaVu Sans"/>
                <a:cs typeface="DejaVu Sans"/>
              </a:defRPr>
            </a:lvl4pPr>
            <a:lvl5pPr algn="l">
              <a:buNone/>
              <a:defRPr sz="2250" b="1">
                <a:solidFill>
                  <a:srgbClr val="B58C3C"/>
                </a:solidFill>
                <a:latin typeface="DejaVu Sans"/>
                <a:ea typeface="DejaVu Sans"/>
                <a:cs typeface="DejaVu Sans"/>
              </a:defRPr>
            </a:lvl5pPr>
            <a:lvl6pPr algn="l">
              <a:buNone/>
              <a:defRPr sz="2250" b="1">
                <a:solidFill>
                  <a:srgbClr val="B58C3C"/>
                </a:solidFill>
                <a:latin typeface="DejaVu Sans"/>
                <a:ea typeface="DejaVu Sans"/>
                <a:cs typeface="DejaVu Sans"/>
              </a:defRPr>
            </a:lvl6pPr>
            <a:lvl7pPr algn="l">
              <a:buNone/>
              <a:defRPr sz="2250" b="1">
                <a:solidFill>
                  <a:srgbClr val="B58C3C"/>
                </a:solidFill>
                <a:latin typeface="DejaVu Sans"/>
                <a:ea typeface="DejaVu Sans"/>
                <a:cs typeface="DejaVu Sans"/>
              </a:defRPr>
            </a:lvl7pPr>
            <a:lvl8pPr algn="l">
              <a:buNone/>
              <a:defRPr sz="2250" b="1">
                <a:solidFill>
                  <a:srgbClr val="B58C3C"/>
                </a:solidFill>
                <a:latin typeface="DejaVu Sans"/>
                <a:ea typeface="DejaVu Sans"/>
                <a:cs typeface="DejaVu Sans"/>
              </a:defRPr>
            </a:lvl8pPr>
            <a:lvl9pPr algn="l">
              <a:buNone/>
              <a:defRPr sz="2250" b="1">
                <a:solidFill>
                  <a:srgbClr val="B58C3C"/>
                </a:solidFill>
                <a:latin typeface="DejaVu Sans"/>
                <a:ea typeface="DejaVu Sans"/>
                <a:cs typeface="DejaVu Sans"/>
              </a:defRPr>
            </a:lvl9pPr>
          </a:lstStyle>
          <a:p xmlns:a="http://schemas.openxmlformats.org/drawingml/2006/main">
            <a:pPr algn="l">
              <a:buNone/>
              <a:defRPr sz="2250" b="1">
                <a:solidFill>
                  <a:srgbClr val="B58C3C"/>
                </a:solidFill>
                <a:latin typeface="Helvetica Neue"/>
                <a:ea typeface="Helvetica Neue"/>
                <a:cs typeface="Helvetica Neue"/>
              </a:defRPr>
            </a:pPr>
            <a:r>
              <a:rPr sz="2250" b="1">
                <a:solidFill>
                  <a:srgbClr val="B58C3C"/>
                </a:solidFill>
                <a:latin typeface="Helvetica Neue"/>
                <a:ea typeface="Helvetica Neue"/>
                <a:cs typeface="Helvetica Neue"/>
              </a:rPr>
              <a:t>Incremento para revisión</a:t>
            </a:r>
          </a:p>
        </p:txBody>
      </p:sp>
      <p:sp>
        <p:nvSpPr>
          <p:cNvPr id="7" name="Casos, apoderados y ficha integral&#10;con datos persistent">
            <a:extLst xmlns:a="http://schemas.openxmlformats.org/drawingml/2006/main">
              <a:ext uri="{FF2B5EF4-FFF2-40B4-BE49-F238E27FC236}">
                <a16:creationId xmlns:a16="http://schemas.microsoft.com/office/drawing/2014/main" id="{D21B997F-E187-4BCE-9FEC-ECBB55C4DD72}"/>
              </a:ext>
            </a:extLst>
          </p:cNvPr>
          <p:cNvSpPr>
            <a:spLocks xmlns:a="http://schemas.openxmlformats.org/drawingml/2006/main" noGrp="1"/>
          </p:cNvSpPr>
          <p:nvPr/>
        </p:nvSpPr>
        <p:spPr>
          <a:xfrm xmlns:a="http://schemas.openxmlformats.org/drawingml/2006/main">
            <a:off x="609600" y="4095750"/>
            <a:ext cx="4857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263D33"/>
                </a:solidFill>
                <a:latin typeface="Helvetica Neue"/>
                <a:ea typeface="Helvetica Neue"/>
                <a:cs typeface="Helvetica Neue"/>
              </a:defRPr>
            </a:defPPr>
            <a:lvl1pPr algn="l">
              <a:buNone/>
              <a:defRPr sz="2325" b="0">
                <a:solidFill>
                  <a:srgbClr val="263D33"/>
                </a:solidFill>
                <a:latin typeface="DejaVu Sans"/>
                <a:ea typeface="DejaVu Sans"/>
                <a:cs typeface="DejaVu Sans"/>
              </a:defRPr>
            </a:lvl1pPr>
            <a:lvl2pPr algn="l">
              <a:buNone/>
              <a:defRPr sz="2325" b="0">
                <a:solidFill>
                  <a:srgbClr val="263D33"/>
                </a:solidFill>
                <a:latin typeface="DejaVu Sans"/>
                <a:ea typeface="DejaVu Sans"/>
                <a:cs typeface="DejaVu Sans"/>
              </a:defRPr>
            </a:lvl2pPr>
            <a:lvl3pPr algn="l">
              <a:buNone/>
              <a:defRPr sz="2325" b="0">
                <a:solidFill>
                  <a:srgbClr val="263D33"/>
                </a:solidFill>
                <a:latin typeface="DejaVu Sans"/>
                <a:ea typeface="DejaVu Sans"/>
                <a:cs typeface="DejaVu Sans"/>
              </a:defRPr>
            </a:lvl3pPr>
            <a:lvl4pPr algn="l">
              <a:buNone/>
              <a:defRPr sz="2325" b="0">
                <a:solidFill>
                  <a:srgbClr val="263D33"/>
                </a:solidFill>
                <a:latin typeface="DejaVu Sans"/>
                <a:ea typeface="DejaVu Sans"/>
                <a:cs typeface="DejaVu Sans"/>
              </a:defRPr>
            </a:lvl4pPr>
            <a:lvl5pPr algn="l">
              <a:buNone/>
              <a:defRPr sz="2325" b="0">
                <a:solidFill>
                  <a:srgbClr val="263D33"/>
                </a:solidFill>
                <a:latin typeface="DejaVu Sans"/>
                <a:ea typeface="DejaVu Sans"/>
                <a:cs typeface="DejaVu Sans"/>
              </a:defRPr>
            </a:lvl5pPr>
            <a:lvl6pPr algn="l">
              <a:buNone/>
              <a:defRPr sz="2325" b="0">
                <a:solidFill>
                  <a:srgbClr val="263D33"/>
                </a:solidFill>
                <a:latin typeface="DejaVu Sans"/>
                <a:ea typeface="DejaVu Sans"/>
                <a:cs typeface="DejaVu Sans"/>
              </a:defRPr>
            </a:lvl6pPr>
            <a:lvl7pPr algn="l">
              <a:buNone/>
              <a:defRPr sz="2325" b="0">
                <a:solidFill>
                  <a:srgbClr val="263D33"/>
                </a:solidFill>
                <a:latin typeface="DejaVu Sans"/>
                <a:ea typeface="DejaVu Sans"/>
                <a:cs typeface="DejaVu Sans"/>
              </a:defRPr>
            </a:lvl7pPr>
            <a:lvl8pPr algn="l">
              <a:buNone/>
              <a:defRPr sz="2325" b="0">
                <a:solidFill>
                  <a:srgbClr val="263D33"/>
                </a:solidFill>
                <a:latin typeface="DejaVu Sans"/>
                <a:ea typeface="DejaVu Sans"/>
                <a:cs typeface="DejaVu Sans"/>
              </a:defRPr>
            </a:lvl8pPr>
            <a:lvl9pPr algn="l">
              <a:buNone/>
              <a:defRPr sz="2325" b="0">
                <a:solidFill>
                  <a:srgbClr val="263D33"/>
                </a:solidFill>
                <a:latin typeface="DejaVu Sans"/>
                <a:ea typeface="DejaVu Sans"/>
                <a:cs typeface="DejaVu Sans"/>
              </a:defRPr>
            </a:lvl9pPr>
          </a:lstStyle>
          <a:p xmlns:a="http://schemas.openxmlformats.org/drawingml/2006/main">
            <a:pPr algn="l">
              <a:buNone/>
              <a:defRPr sz="2325" b="0">
                <a:solidFill>
                  <a:srgbClr val="263D33"/>
                </a:solidFill>
                <a:latin typeface="Helvetica Neue"/>
                <a:ea typeface="Helvetica Neue"/>
                <a:cs typeface="Helvetica Neue"/>
              </a:defRPr>
            </a:pPr>
            <a:r>
              <a:rPr sz="2325" b="0">
                <a:solidFill>
                  <a:srgbClr val="263D33"/>
                </a:solidFill>
                <a:latin typeface="Helvetica Neue"/>
                <a:ea typeface="Helvetica Neue"/>
                <a:cs typeface="Helvetica Neue"/>
              </a:rPr>
              <a:t>Casos, apoderados y ficha integral</a:t>
            </a:r>
          </a:p>
          <a:p xmlns:a="http://schemas.openxmlformats.org/drawingml/2006/main">
            <a:pPr algn="l">
              <a:buNone/>
              <a:defRPr sz="2325" b="0">
                <a:solidFill>
                  <a:srgbClr val="263D33"/>
                </a:solidFill>
                <a:latin typeface="Helvetica Neue"/>
                <a:ea typeface="Helvetica Neue"/>
                <a:cs typeface="Helvetica Neue"/>
              </a:defRPr>
            </a:pPr>
            <a:r>
              <a:rPr sz="2325" b="0">
                <a:solidFill>
                  <a:srgbClr val="263D33"/>
                </a:solidFill>
                <a:latin typeface="Helvetica Neue"/>
                <a:ea typeface="Helvetica Neue"/>
                <a:cs typeface="Helvetica Neue"/>
              </a:rPr>
              <a:t>con datos persistentes y permisos.</a:t>
            </a:r>
          </a:p>
        </p:txBody>
      </p:sp>
      <p:sp>
        <p:nvSpPr>
          <p:cNvPr id="8" name="Código y pruebas locales disponibles.">
            <a:extLst xmlns:a="http://schemas.openxmlformats.org/drawingml/2006/main">
              <a:ext uri="{FF2B5EF4-FFF2-40B4-BE49-F238E27FC236}">
                <a16:creationId xmlns:a16="http://schemas.microsoft.com/office/drawing/2014/main" id="{8560579F-9521-4502-8847-829B56F5CD1C}"/>
              </a:ext>
            </a:extLst>
          </p:cNvPr>
          <p:cNvSpPr>
            <a:spLocks xmlns:a="http://schemas.openxmlformats.org/drawingml/2006/main" noGrp="1"/>
          </p:cNvSpPr>
          <p:nvPr/>
        </p:nvSpPr>
        <p:spPr>
          <a:xfrm xmlns:a="http://schemas.openxmlformats.org/drawingml/2006/main">
            <a:off x="6286500" y="2152650"/>
            <a:ext cx="5143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D33"/>
                </a:solidFill>
                <a:latin typeface="Helvetica Neue"/>
                <a:ea typeface="Helvetica Neue"/>
                <a:cs typeface="Helvetica Neue"/>
              </a:defRPr>
            </a:defPPr>
            <a:lvl1pPr algn="l">
              <a:buNone/>
              <a:defRPr sz="2175" b="0">
                <a:solidFill>
                  <a:srgbClr val="263D33"/>
                </a:solidFill>
                <a:latin typeface="DejaVu Sans"/>
                <a:ea typeface="DejaVu Sans"/>
                <a:cs typeface="DejaVu Sans"/>
              </a:defRPr>
            </a:lvl1pPr>
            <a:lvl2pPr algn="l">
              <a:buNone/>
              <a:defRPr sz="2175" b="0">
                <a:solidFill>
                  <a:srgbClr val="263D33"/>
                </a:solidFill>
                <a:latin typeface="DejaVu Sans"/>
                <a:ea typeface="DejaVu Sans"/>
                <a:cs typeface="DejaVu Sans"/>
              </a:defRPr>
            </a:lvl2pPr>
            <a:lvl3pPr algn="l">
              <a:buNone/>
              <a:defRPr sz="2175" b="0">
                <a:solidFill>
                  <a:srgbClr val="263D33"/>
                </a:solidFill>
                <a:latin typeface="DejaVu Sans"/>
                <a:ea typeface="DejaVu Sans"/>
                <a:cs typeface="DejaVu Sans"/>
              </a:defRPr>
            </a:lvl3pPr>
            <a:lvl4pPr algn="l">
              <a:buNone/>
              <a:defRPr sz="2175" b="0">
                <a:solidFill>
                  <a:srgbClr val="263D33"/>
                </a:solidFill>
                <a:latin typeface="DejaVu Sans"/>
                <a:ea typeface="DejaVu Sans"/>
                <a:cs typeface="DejaVu Sans"/>
              </a:defRPr>
            </a:lvl4pPr>
            <a:lvl5pPr algn="l">
              <a:buNone/>
              <a:defRPr sz="2175" b="0">
                <a:solidFill>
                  <a:srgbClr val="263D33"/>
                </a:solidFill>
                <a:latin typeface="DejaVu Sans"/>
                <a:ea typeface="DejaVu Sans"/>
                <a:cs typeface="DejaVu Sans"/>
              </a:defRPr>
            </a:lvl5pPr>
            <a:lvl6pPr algn="l">
              <a:buNone/>
              <a:defRPr sz="2175" b="0">
                <a:solidFill>
                  <a:srgbClr val="263D33"/>
                </a:solidFill>
                <a:latin typeface="DejaVu Sans"/>
                <a:ea typeface="DejaVu Sans"/>
                <a:cs typeface="DejaVu Sans"/>
              </a:defRPr>
            </a:lvl6pPr>
            <a:lvl7pPr algn="l">
              <a:buNone/>
              <a:defRPr sz="2175" b="0">
                <a:solidFill>
                  <a:srgbClr val="263D33"/>
                </a:solidFill>
                <a:latin typeface="DejaVu Sans"/>
                <a:ea typeface="DejaVu Sans"/>
                <a:cs typeface="DejaVu Sans"/>
              </a:defRPr>
            </a:lvl7pPr>
            <a:lvl8pPr algn="l">
              <a:buNone/>
              <a:defRPr sz="2175" b="0">
                <a:solidFill>
                  <a:srgbClr val="263D33"/>
                </a:solidFill>
                <a:latin typeface="DejaVu Sans"/>
                <a:ea typeface="DejaVu Sans"/>
                <a:cs typeface="DejaVu Sans"/>
              </a:defRPr>
            </a:lvl8pPr>
            <a:lvl9pPr algn="l">
              <a:buNone/>
              <a:defRPr sz="2175" b="0">
                <a:solidFill>
                  <a:srgbClr val="263D33"/>
                </a:solidFill>
                <a:latin typeface="DejaVu Sans"/>
                <a:ea typeface="DejaVu Sans"/>
                <a:cs typeface="DejaVu Sans"/>
              </a:defRPr>
            </a:lvl9pPr>
          </a:lstStyle>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Código y pruebas locales disponibles.</a:t>
            </a:r>
          </a:p>
        </p:txBody>
      </p:sp>
      <p:sp>
        <p:nvSpPr>
          <p:cNvPr id="9" name="Tres historias en revisión del producto.">
            <a:extLst xmlns:a="http://schemas.openxmlformats.org/drawingml/2006/main">
              <a:ext uri="{FF2B5EF4-FFF2-40B4-BE49-F238E27FC236}">
                <a16:creationId xmlns:a16="http://schemas.microsoft.com/office/drawing/2014/main" id="{BD607009-B8AD-4126-A875-4C3BFC8F8AED}"/>
              </a:ext>
            </a:extLst>
          </p:cNvPr>
          <p:cNvSpPr>
            <a:spLocks xmlns:a="http://schemas.openxmlformats.org/drawingml/2006/main" noGrp="1"/>
          </p:cNvSpPr>
          <p:nvPr/>
        </p:nvSpPr>
        <p:spPr>
          <a:xfrm xmlns:a="http://schemas.openxmlformats.org/drawingml/2006/main">
            <a:off x="6286500" y="3209925"/>
            <a:ext cx="5143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D33"/>
                </a:solidFill>
                <a:latin typeface="Helvetica Neue"/>
                <a:ea typeface="Helvetica Neue"/>
                <a:cs typeface="Helvetica Neue"/>
              </a:defRPr>
            </a:defPPr>
            <a:lvl1pPr algn="l">
              <a:buNone/>
              <a:defRPr sz="2175" b="0">
                <a:solidFill>
                  <a:srgbClr val="263D33"/>
                </a:solidFill>
                <a:latin typeface="DejaVu Sans"/>
                <a:ea typeface="DejaVu Sans"/>
                <a:cs typeface="DejaVu Sans"/>
              </a:defRPr>
            </a:lvl1pPr>
            <a:lvl2pPr algn="l">
              <a:buNone/>
              <a:defRPr sz="2175" b="0">
                <a:solidFill>
                  <a:srgbClr val="263D33"/>
                </a:solidFill>
                <a:latin typeface="DejaVu Sans"/>
                <a:ea typeface="DejaVu Sans"/>
                <a:cs typeface="DejaVu Sans"/>
              </a:defRPr>
            </a:lvl2pPr>
            <a:lvl3pPr algn="l">
              <a:buNone/>
              <a:defRPr sz="2175" b="0">
                <a:solidFill>
                  <a:srgbClr val="263D33"/>
                </a:solidFill>
                <a:latin typeface="DejaVu Sans"/>
                <a:ea typeface="DejaVu Sans"/>
                <a:cs typeface="DejaVu Sans"/>
              </a:defRPr>
            </a:lvl3pPr>
            <a:lvl4pPr algn="l">
              <a:buNone/>
              <a:defRPr sz="2175" b="0">
                <a:solidFill>
                  <a:srgbClr val="263D33"/>
                </a:solidFill>
                <a:latin typeface="DejaVu Sans"/>
                <a:ea typeface="DejaVu Sans"/>
                <a:cs typeface="DejaVu Sans"/>
              </a:defRPr>
            </a:lvl4pPr>
            <a:lvl5pPr algn="l">
              <a:buNone/>
              <a:defRPr sz="2175" b="0">
                <a:solidFill>
                  <a:srgbClr val="263D33"/>
                </a:solidFill>
                <a:latin typeface="DejaVu Sans"/>
                <a:ea typeface="DejaVu Sans"/>
                <a:cs typeface="DejaVu Sans"/>
              </a:defRPr>
            </a:lvl5pPr>
            <a:lvl6pPr algn="l">
              <a:buNone/>
              <a:defRPr sz="2175" b="0">
                <a:solidFill>
                  <a:srgbClr val="263D33"/>
                </a:solidFill>
                <a:latin typeface="DejaVu Sans"/>
                <a:ea typeface="DejaVu Sans"/>
                <a:cs typeface="DejaVu Sans"/>
              </a:defRPr>
            </a:lvl6pPr>
            <a:lvl7pPr algn="l">
              <a:buNone/>
              <a:defRPr sz="2175" b="0">
                <a:solidFill>
                  <a:srgbClr val="263D33"/>
                </a:solidFill>
                <a:latin typeface="DejaVu Sans"/>
                <a:ea typeface="DejaVu Sans"/>
                <a:cs typeface="DejaVu Sans"/>
              </a:defRPr>
            </a:lvl7pPr>
            <a:lvl8pPr algn="l">
              <a:buNone/>
              <a:defRPr sz="2175" b="0">
                <a:solidFill>
                  <a:srgbClr val="263D33"/>
                </a:solidFill>
                <a:latin typeface="DejaVu Sans"/>
                <a:ea typeface="DejaVu Sans"/>
                <a:cs typeface="DejaVu Sans"/>
              </a:defRPr>
            </a:lvl8pPr>
            <a:lvl9pPr algn="l">
              <a:buNone/>
              <a:defRPr sz="2175" b="0">
                <a:solidFill>
                  <a:srgbClr val="263D33"/>
                </a:solidFill>
                <a:latin typeface="DejaVu Sans"/>
                <a:ea typeface="DejaVu Sans"/>
                <a:cs typeface="DejaVu Sans"/>
              </a:defRPr>
            </a:lvl9pPr>
          </a:lstStyle>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Tres historias en revisión del producto.</a:t>
            </a:r>
          </a:p>
        </p:txBody>
      </p:sp>
      <p:sp>
        <p:nvSpPr>
          <p:cNvPr id="10" name="Integración y despliegue pendientes.">
            <a:extLst xmlns:a="http://schemas.openxmlformats.org/drawingml/2006/main">
              <a:ext uri="{FF2B5EF4-FFF2-40B4-BE49-F238E27FC236}">
                <a16:creationId xmlns:a16="http://schemas.microsoft.com/office/drawing/2014/main" id="{3D9DDA5D-A023-4B37-BCA4-9A5F87F544B9}"/>
              </a:ext>
            </a:extLst>
          </p:cNvPr>
          <p:cNvSpPr>
            <a:spLocks xmlns:a="http://schemas.openxmlformats.org/drawingml/2006/main" noGrp="1"/>
          </p:cNvSpPr>
          <p:nvPr/>
        </p:nvSpPr>
        <p:spPr>
          <a:xfrm xmlns:a="http://schemas.openxmlformats.org/drawingml/2006/main">
            <a:off x="6286500" y="4267200"/>
            <a:ext cx="5143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D33"/>
                </a:solidFill>
                <a:latin typeface="Helvetica Neue"/>
                <a:ea typeface="Helvetica Neue"/>
                <a:cs typeface="Helvetica Neue"/>
              </a:defRPr>
            </a:defPPr>
            <a:lvl1pPr algn="l">
              <a:buNone/>
              <a:defRPr sz="2175" b="0">
                <a:solidFill>
                  <a:srgbClr val="263D33"/>
                </a:solidFill>
                <a:latin typeface="DejaVu Sans"/>
                <a:ea typeface="DejaVu Sans"/>
                <a:cs typeface="DejaVu Sans"/>
              </a:defRPr>
            </a:lvl1pPr>
            <a:lvl2pPr algn="l">
              <a:buNone/>
              <a:defRPr sz="2175" b="0">
                <a:solidFill>
                  <a:srgbClr val="263D33"/>
                </a:solidFill>
                <a:latin typeface="DejaVu Sans"/>
                <a:ea typeface="DejaVu Sans"/>
                <a:cs typeface="DejaVu Sans"/>
              </a:defRPr>
            </a:lvl2pPr>
            <a:lvl3pPr algn="l">
              <a:buNone/>
              <a:defRPr sz="2175" b="0">
                <a:solidFill>
                  <a:srgbClr val="263D33"/>
                </a:solidFill>
                <a:latin typeface="DejaVu Sans"/>
                <a:ea typeface="DejaVu Sans"/>
                <a:cs typeface="DejaVu Sans"/>
              </a:defRPr>
            </a:lvl3pPr>
            <a:lvl4pPr algn="l">
              <a:buNone/>
              <a:defRPr sz="2175" b="0">
                <a:solidFill>
                  <a:srgbClr val="263D33"/>
                </a:solidFill>
                <a:latin typeface="DejaVu Sans"/>
                <a:ea typeface="DejaVu Sans"/>
                <a:cs typeface="DejaVu Sans"/>
              </a:defRPr>
            </a:lvl4pPr>
            <a:lvl5pPr algn="l">
              <a:buNone/>
              <a:defRPr sz="2175" b="0">
                <a:solidFill>
                  <a:srgbClr val="263D33"/>
                </a:solidFill>
                <a:latin typeface="DejaVu Sans"/>
                <a:ea typeface="DejaVu Sans"/>
                <a:cs typeface="DejaVu Sans"/>
              </a:defRPr>
            </a:lvl5pPr>
            <a:lvl6pPr algn="l">
              <a:buNone/>
              <a:defRPr sz="2175" b="0">
                <a:solidFill>
                  <a:srgbClr val="263D33"/>
                </a:solidFill>
                <a:latin typeface="DejaVu Sans"/>
                <a:ea typeface="DejaVu Sans"/>
                <a:cs typeface="DejaVu Sans"/>
              </a:defRPr>
            </a:lvl6pPr>
            <a:lvl7pPr algn="l">
              <a:buNone/>
              <a:defRPr sz="2175" b="0">
                <a:solidFill>
                  <a:srgbClr val="263D33"/>
                </a:solidFill>
                <a:latin typeface="DejaVu Sans"/>
                <a:ea typeface="DejaVu Sans"/>
                <a:cs typeface="DejaVu Sans"/>
              </a:defRPr>
            </a:lvl7pPr>
            <a:lvl8pPr algn="l">
              <a:buNone/>
              <a:defRPr sz="2175" b="0">
                <a:solidFill>
                  <a:srgbClr val="263D33"/>
                </a:solidFill>
                <a:latin typeface="DejaVu Sans"/>
                <a:ea typeface="DejaVu Sans"/>
                <a:cs typeface="DejaVu Sans"/>
              </a:defRPr>
            </a:lvl8pPr>
            <a:lvl9pPr algn="l">
              <a:buNone/>
              <a:defRPr sz="2175" b="0">
                <a:solidFill>
                  <a:srgbClr val="263D33"/>
                </a:solidFill>
                <a:latin typeface="DejaVu Sans"/>
                <a:ea typeface="DejaVu Sans"/>
                <a:cs typeface="DejaVu Sans"/>
              </a:defRPr>
            </a:lvl9pPr>
          </a:lstStyle>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Integración y despliegue pendientes.</a:t>
            </a:r>
          </a:p>
        </p:txBody>
      </p:sp>
      <p:sp>
        <p:nvSpPr>
          <p:cNvPr id="11" name="Ventana planificada: 19–31 oct. Activación real en Jira">
            <a:extLst xmlns:a="http://schemas.openxmlformats.org/drawingml/2006/main">
              <a:ext uri="{FF2B5EF4-FFF2-40B4-BE49-F238E27FC236}">
                <a16:creationId xmlns:a16="http://schemas.microsoft.com/office/drawing/2014/main" id="{74A77841-AA54-431E-9B8B-334B11203FB1}"/>
              </a:ext>
            </a:extLst>
          </p:cNvPr>
          <p:cNvSpPr>
            <a:spLocks xmlns:a="http://schemas.openxmlformats.org/drawingml/2006/main" noGrp="1"/>
          </p:cNvSpPr>
          <p:nvPr/>
        </p:nvSpPr>
        <p:spPr>
          <a:xfrm xmlns:a="http://schemas.openxmlformats.org/drawingml/2006/main">
            <a:off x="609600" y="58483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85D"/>
                </a:solidFill>
                <a:latin typeface="Helvetica Neue"/>
                <a:ea typeface="Helvetica Neue"/>
                <a:cs typeface="Helvetica Neue"/>
              </a:defRPr>
            </a:defPPr>
            <a:lvl1pPr algn="l">
              <a:buNone/>
              <a:defRPr sz="1575" b="0">
                <a:solidFill>
                  <a:srgbClr val="53685D"/>
                </a:solidFill>
                <a:latin typeface="DejaVu Sans"/>
                <a:ea typeface="DejaVu Sans"/>
                <a:cs typeface="DejaVu Sans"/>
              </a:defRPr>
            </a:lvl1pPr>
            <a:lvl2pPr algn="l">
              <a:buNone/>
              <a:defRPr sz="1575" b="0">
                <a:solidFill>
                  <a:srgbClr val="53685D"/>
                </a:solidFill>
                <a:latin typeface="DejaVu Sans"/>
                <a:ea typeface="DejaVu Sans"/>
                <a:cs typeface="DejaVu Sans"/>
              </a:defRPr>
            </a:lvl2pPr>
            <a:lvl3pPr algn="l">
              <a:buNone/>
              <a:defRPr sz="1575" b="0">
                <a:solidFill>
                  <a:srgbClr val="53685D"/>
                </a:solidFill>
                <a:latin typeface="DejaVu Sans"/>
                <a:ea typeface="DejaVu Sans"/>
                <a:cs typeface="DejaVu Sans"/>
              </a:defRPr>
            </a:lvl3pPr>
            <a:lvl4pPr algn="l">
              <a:buNone/>
              <a:defRPr sz="1575" b="0">
                <a:solidFill>
                  <a:srgbClr val="53685D"/>
                </a:solidFill>
                <a:latin typeface="DejaVu Sans"/>
                <a:ea typeface="DejaVu Sans"/>
                <a:cs typeface="DejaVu Sans"/>
              </a:defRPr>
            </a:lvl4pPr>
            <a:lvl5pPr algn="l">
              <a:buNone/>
              <a:defRPr sz="1575" b="0">
                <a:solidFill>
                  <a:srgbClr val="53685D"/>
                </a:solidFill>
                <a:latin typeface="DejaVu Sans"/>
                <a:ea typeface="DejaVu Sans"/>
                <a:cs typeface="DejaVu Sans"/>
              </a:defRPr>
            </a:lvl5pPr>
            <a:lvl6pPr algn="l">
              <a:buNone/>
              <a:defRPr sz="1575" b="0">
                <a:solidFill>
                  <a:srgbClr val="53685D"/>
                </a:solidFill>
                <a:latin typeface="DejaVu Sans"/>
                <a:ea typeface="DejaVu Sans"/>
                <a:cs typeface="DejaVu Sans"/>
              </a:defRPr>
            </a:lvl6pPr>
            <a:lvl7pPr algn="l">
              <a:buNone/>
              <a:defRPr sz="1575" b="0">
                <a:solidFill>
                  <a:srgbClr val="53685D"/>
                </a:solidFill>
                <a:latin typeface="DejaVu Sans"/>
                <a:ea typeface="DejaVu Sans"/>
                <a:cs typeface="DejaVu Sans"/>
              </a:defRPr>
            </a:lvl7pPr>
            <a:lvl8pPr algn="l">
              <a:buNone/>
              <a:defRPr sz="1575" b="0">
                <a:solidFill>
                  <a:srgbClr val="53685D"/>
                </a:solidFill>
                <a:latin typeface="DejaVu Sans"/>
                <a:ea typeface="DejaVu Sans"/>
                <a:cs typeface="DejaVu Sans"/>
              </a:defRPr>
            </a:lvl8pPr>
            <a:lvl9pPr algn="l">
              <a:buNone/>
              <a:defRPr sz="1575" b="0">
                <a:solidFill>
                  <a:srgbClr val="53685D"/>
                </a:solidFill>
                <a:latin typeface="DejaVu Sans"/>
                <a:ea typeface="DejaVu Sans"/>
                <a:cs typeface="DejaVu Sans"/>
              </a:defRPr>
            </a:lvl9pPr>
          </a:lstStyle>
          <a:p xmlns:a="http://schemas.openxmlformats.org/drawingml/2006/main">
            <a:pPr algn="l">
              <a:buNone/>
              <a:defRPr sz="1575" b="0">
                <a:solidFill>
                  <a:srgbClr val="53685D"/>
                </a:solidFill>
                <a:latin typeface="Helvetica Neue"/>
                <a:ea typeface="Helvetica Neue"/>
                <a:cs typeface="Helvetica Neue"/>
              </a:defRPr>
            </a:pPr>
            <a:r>
              <a:rPr sz="1575" b="0">
                <a:solidFill>
                  <a:srgbClr val="53685D"/>
                </a:solidFill>
                <a:latin typeface="Helvetica Neue"/>
                <a:ea typeface="Helvetica Neue"/>
                <a:cs typeface="Helvetica Neue"/>
              </a:rPr>
              <a:t>Ventana planificada: 19–31 oct. Activación real en Jira: 28 oct.</a:t>
            </a:r>
          </a:p>
        </p:txBody>
      </p:sp>
    </p:spTree>
    <p:extLst>
      <p:ext uri="{BB962C8B-B14F-4D97-AF65-F5344CB8AC3E}">
        <p14:creationId xmlns:p14="http://schemas.microsoft.com/office/powerpoint/2010/main" val="1578482584"/>
      </p:ext>
    </p:extLst>
  </p:cSld>
</p:sld>
</file>

<file path=ppt/slides/slide4.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7" name="AVANCE DEL PROYECTO">
            <a:extLst xmlns:a="http://schemas.openxmlformats.org/drawingml/2006/main">
              <a:ext uri="{FF2B5EF4-FFF2-40B4-BE49-F238E27FC236}">
                <a16:creationId xmlns:a16="http://schemas.microsoft.com/office/drawing/2014/main" id="{05F5BDC3-7097-46A2-9A3D-4823DD926B5F}"/>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Una operación escolar con acceso por rol">
            <a:extLst xmlns:a="http://schemas.openxmlformats.org/drawingml/2006/main">
              <a:ext uri="{FF2B5EF4-FFF2-40B4-BE49-F238E27FC236}">
                <a16:creationId xmlns:a16="http://schemas.microsoft.com/office/drawing/2014/main" id="{FB74C557-0F2D-4B6A-9160-1ED35EC3474B}"/>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Una operación escolar con acceso por rol</a:t>
            </a:r>
          </a:p>
        </p:txBody>
      </p:sp>
      <p:sp>
        <p:nvSpPr>
          <p:cNvPr id="3" name="SIGAA  /  Capstone 2026">
            <a:extLst xmlns:a="http://schemas.openxmlformats.org/drawingml/2006/main">
              <a:ext uri="{FF2B5EF4-FFF2-40B4-BE49-F238E27FC236}">
                <a16:creationId xmlns:a16="http://schemas.microsoft.com/office/drawing/2014/main" id="{75E54B0D-E92B-42A1-9608-EE812D312908}"/>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Joel  /  Bloque 1 de 3  /  SIGAA</a:t>
            </a:r>
          </a:p>
        </p:txBody>
      </p:sp>
      <p:sp>
        <p:nvSpPr>
          <p:cNvPr id="4" name="03   /   28 oct 2026">
            <a:extLst xmlns:a="http://schemas.openxmlformats.org/drawingml/2006/main">
              <a:ext uri="{FF2B5EF4-FFF2-40B4-BE49-F238E27FC236}">
                <a16:creationId xmlns:a16="http://schemas.microsoft.com/office/drawing/2014/main" id="{36593F82-000B-4E46-97DB-6EE21B3DF196}"/>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04 de 18   /   28 oct 2026</a:t>
            </a:r>
          </a:p>
        </p:txBody>
      </p:sp>
      <p:graphicFrame>
        <p:nvGraphicFramePr>
          <p:cNvPr id="5" name="">
            <a:extLst xmlns:a="http://schemas.openxmlformats.org/drawingml/2006/main">
              <a:ext uri="{FF2B5EF4-FFF2-40B4-BE49-F238E27FC236}">
                <a16:creationId xmlns:a16="http://schemas.microsoft.com/office/drawing/2014/main" id="{39910E3A-D5A5-419A-A767-393235F6C00B}"/>
              </a:ext>
            </a:extLst>
          </p:cNvPr>
          <p:cNvGraphicFramePr/>
          <p:nvPr/>
        </p:nvGraphicFramePr>
        <p:xfrm>
          <a:off xmlns:a="http://schemas.openxmlformats.org/drawingml/2006/main" x="609600" y="1952625"/>
          <a:ext xmlns:a="http://schemas.openxmlformats.org/drawingml/2006/main" cx="10972800" cy="3790950"/>
        </p:xfrm>
        <a:graphic xmlns:a="http://schemas.openxmlformats.org/drawingml/2006/main">
          <a:graphicData uri="http://schemas.openxmlformats.org/drawingml/2006/table">
            <a:tbl>
              <a:tblPr/>
              <a:tblGrid>
                <a:gridCol w="2857500"/>
                <a:gridCol w="8115300"/>
              </a:tblGrid>
              <a:tr h="758190">
                <a:tc>
                  <a:txBody>
                    <a:bodyPr/>
                    <a:lstStyle/>
                    <a:p>
                      <a:r>
                        <a:rPr sz="1875" b="1">
                          <a:solidFill>
                            <a:srgbClr val="FFFFFF"/>
                          </a:solidFill>
                          <a:latin typeface="Helvetica Neue"/>
                          <a:ea typeface="Helvetica Neue"/>
                          <a:cs typeface="Helvetica Neue"/>
                        </a:rPr>
                        <a:t>Rol</a:t>
                      </a:r>
                    </a:p>
                  </a:txBody>
                  <a:tcPr marL="152400" marR="152400" marT="114300" marB="114300" anchor="ctr">
                    <a:lnL w="4763">
                      <a:solidFill>
                        <a:srgbClr val="D5DDD1"/>
                      </a:solidFill>
                      <a:prstDash val="solid"/>
                    </a:lnL>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75" b="1">
                          <a:solidFill>
                            <a:srgbClr val="FFFFFF"/>
                          </a:solidFill>
                          <a:latin typeface="Helvetica Neue"/>
                          <a:ea typeface="Helvetica Neue"/>
                          <a:cs typeface="Helvetica Neue"/>
                        </a:rPr>
                        <a:t>Operaciones disponibles</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r>
              <a:tr h="758190">
                <a:tc>
                  <a:txBody>
                    <a:bodyPr/>
                    <a:lstStyle/>
                    <a:p>
                      <a:r>
                        <a:rPr sz="1950" b="0">
                          <a:solidFill>
                            <a:srgbClr val="263D33"/>
                          </a:solidFill>
                          <a:latin typeface="Helvetica Neue"/>
                          <a:ea typeface="Helvetica Neue"/>
                          <a:cs typeface="Helvetica Neue"/>
                        </a:rPr>
                        <a:t>Docente</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Cursos asignados, clases, asistencia, notas y anotaciones.</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758190">
                <a:tc>
                  <a:txBody>
                    <a:bodyPr/>
                    <a:lstStyle/>
                    <a:p>
                      <a:r>
                        <a:rPr sz="1950" b="0">
                          <a:solidFill>
                            <a:srgbClr val="263D33"/>
                          </a:solidFill>
                          <a:latin typeface="Helvetica Neue"/>
                          <a:ea typeface="Helvetica Neue"/>
                          <a:cs typeface="Helvetica Neue"/>
                        </a:rPr>
                        <a:t>Estudiante</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950" b="0">
                          <a:solidFill>
                            <a:srgbClr val="263D33"/>
                          </a:solidFill>
                          <a:latin typeface="Helvetica Neue"/>
                          <a:ea typeface="Helvetica Neue"/>
                          <a:cs typeface="Helvetica Neue"/>
                        </a:rPr>
                        <a:t>Consulta de registros propios publicados.</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758190">
                <a:tc>
                  <a:txBody>
                    <a:bodyPr/>
                    <a:lstStyle/>
                    <a:p>
                      <a:r>
                        <a:rPr sz="1950" b="0">
                          <a:solidFill>
                            <a:srgbClr val="263D33"/>
                          </a:solidFill>
                          <a:latin typeface="Helvetica Neue"/>
                          <a:ea typeface="Helvetica Neue"/>
                          <a:cs typeface="Helvetica Neue"/>
                        </a:rPr>
                        <a:t>Administración</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Estructura escolar, estudiantes, matrículas y datos autorizados.</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758190">
                <a:tc>
                  <a:txBody>
                    <a:bodyPr/>
                    <a:lstStyle/>
                    <a:p>
                      <a:r>
                        <a:rPr sz="1950" b="0">
                          <a:solidFill>
                            <a:srgbClr val="263D33"/>
                          </a:solidFill>
                          <a:latin typeface="Helvetica Neue"/>
                          <a:ea typeface="Helvetica Neue"/>
                          <a:cs typeface="Helvetica Neue"/>
                        </a:rPr>
                        <a:t>Inspectoría</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950" b="0">
                          <a:solidFill>
                            <a:srgbClr val="263D33"/>
                          </a:solidFill>
                          <a:latin typeface="Helvetica Neue"/>
                          <a:ea typeface="Helvetica Neue"/>
                          <a:cs typeface="Helvetica Neue"/>
                        </a:rPr>
                        <a:t>Alertas, justificaciones y seguimiento de casos.</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bl>
          </a:graphicData>
        </a:graphic>
      </p:graphicFrame>
      <p:sp>
        <p:nvSpPr>
          <p:cNvPr id="6" name="La API comprueba los permisos y el alcance de los datos">
            <a:extLst xmlns:a="http://schemas.openxmlformats.org/drawingml/2006/main">
              <a:ext uri="{FF2B5EF4-FFF2-40B4-BE49-F238E27FC236}">
                <a16:creationId xmlns:a16="http://schemas.microsoft.com/office/drawing/2014/main" id="{B6CD8C37-6DC4-4BA8-BCB8-B79D997E9EF8}"/>
              </a:ext>
            </a:extLst>
          </p:cNvPr>
          <p:cNvSpPr>
            <a:spLocks xmlns:a="http://schemas.openxmlformats.org/drawingml/2006/main" noGrp="1"/>
          </p:cNvSpPr>
          <p:nvPr/>
        </p:nvSpPr>
        <p:spPr>
          <a:xfrm xmlns:a="http://schemas.openxmlformats.org/drawingml/2006/main">
            <a:off x="609600" y="590550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4C3B"/>
                </a:solidFill>
                <a:latin typeface="Helvetica Neue"/>
                <a:ea typeface="Helvetica Neue"/>
                <a:cs typeface="Helvetica Neue"/>
              </a:defRPr>
            </a:defPPr>
            <a:lvl1pPr algn="l">
              <a:buNone/>
              <a:defRPr sz="1875" b="1">
                <a:solidFill>
                  <a:srgbClr val="184C3B"/>
                </a:solidFill>
                <a:latin typeface="DejaVu Sans"/>
                <a:ea typeface="DejaVu Sans"/>
                <a:cs typeface="DejaVu Sans"/>
              </a:defRPr>
            </a:lvl1pPr>
            <a:lvl2pPr algn="l">
              <a:buNone/>
              <a:defRPr sz="1875" b="1">
                <a:solidFill>
                  <a:srgbClr val="184C3B"/>
                </a:solidFill>
                <a:latin typeface="DejaVu Sans"/>
                <a:ea typeface="DejaVu Sans"/>
                <a:cs typeface="DejaVu Sans"/>
              </a:defRPr>
            </a:lvl2pPr>
            <a:lvl3pPr algn="l">
              <a:buNone/>
              <a:defRPr sz="1875" b="1">
                <a:solidFill>
                  <a:srgbClr val="184C3B"/>
                </a:solidFill>
                <a:latin typeface="DejaVu Sans"/>
                <a:ea typeface="DejaVu Sans"/>
                <a:cs typeface="DejaVu Sans"/>
              </a:defRPr>
            </a:lvl3pPr>
            <a:lvl4pPr algn="l">
              <a:buNone/>
              <a:defRPr sz="1875" b="1">
                <a:solidFill>
                  <a:srgbClr val="184C3B"/>
                </a:solidFill>
                <a:latin typeface="DejaVu Sans"/>
                <a:ea typeface="DejaVu Sans"/>
                <a:cs typeface="DejaVu Sans"/>
              </a:defRPr>
            </a:lvl4pPr>
            <a:lvl5pPr algn="l">
              <a:buNone/>
              <a:defRPr sz="1875" b="1">
                <a:solidFill>
                  <a:srgbClr val="184C3B"/>
                </a:solidFill>
                <a:latin typeface="DejaVu Sans"/>
                <a:ea typeface="DejaVu Sans"/>
                <a:cs typeface="DejaVu Sans"/>
              </a:defRPr>
            </a:lvl5pPr>
            <a:lvl6pPr algn="l">
              <a:buNone/>
              <a:defRPr sz="1875" b="1">
                <a:solidFill>
                  <a:srgbClr val="184C3B"/>
                </a:solidFill>
                <a:latin typeface="DejaVu Sans"/>
                <a:ea typeface="DejaVu Sans"/>
                <a:cs typeface="DejaVu Sans"/>
              </a:defRPr>
            </a:lvl6pPr>
            <a:lvl7pPr algn="l">
              <a:buNone/>
              <a:defRPr sz="1875" b="1">
                <a:solidFill>
                  <a:srgbClr val="184C3B"/>
                </a:solidFill>
                <a:latin typeface="DejaVu Sans"/>
                <a:ea typeface="DejaVu Sans"/>
                <a:cs typeface="DejaVu Sans"/>
              </a:defRPr>
            </a:lvl7pPr>
            <a:lvl8pPr algn="l">
              <a:buNone/>
              <a:defRPr sz="1875" b="1">
                <a:solidFill>
                  <a:srgbClr val="184C3B"/>
                </a:solidFill>
                <a:latin typeface="DejaVu Sans"/>
                <a:ea typeface="DejaVu Sans"/>
                <a:cs typeface="DejaVu Sans"/>
              </a:defRPr>
            </a:lvl8pPr>
            <a:lvl9pPr algn="l">
              <a:buNone/>
              <a:defRPr sz="1875" b="1">
                <a:solidFill>
                  <a:srgbClr val="184C3B"/>
                </a:solidFill>
                <a:latin typeface="DejaVu Sans"/>
                <a:ea typeface="DejaVu Sans"/>
                <a:cs typeface="DejaVu Sans"/>
              </a:defRPr>
            </a:lvl9pPr>
          </a:lstStyle>
          <a:p xmlns:a="http://schemas.openxmlformats.org/drawingml/2006/main">
            <a:pPr algn="l">
              <a:buNone/>
              <a:defRPr sz="1875" b="1">
                <a:solidFill>
                  <a:srgbClr val="184C3B"/>
                </a:solidFill>
                <a:latin typeface="Helvetica Neue"/>
                <a:ea typeface="Helvetica Neue"/>
                <a:cs typeface="Helvetica Neue"/>
              </a:defRPr>
            </a:pPr>
            <a:r>
              <a:rPr sz="1875" b="1">
                <a:solidFill>
                  <a:srgbClr val="184C3B"/>
                </a:solidFill>
                <a:latin typeface="Helvetica Neue"/>
                <a:ea typeface="Helvetica Neue"/>
                <a:cs typeface="Helvetica Neue"/>
              </a:rPr>
              <a:t>La API comprueba los permisos y el alcance de los datos.</a:t>
            </a:r>
          </a:p>
        </p:txBody>
      </p:sp>
    </p:spTree>
    <p:extLst>
      <p:ext uri="{BB962C8B-B14F-4D97-AF65-F5344CB8AC3E}">
        <p14:creationId xmlns:p14="http://schemas.microsoft.com/office/powerpoint/2010/main" val="1476922934"/>
      </p:ext>
    </p:extLst>
  </p:cSld>
</p:sld>
</file>

<file path=ppt/slides/slide5.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7" name="AVANCE DEL PROYECTO">
            <a:extLst xmlns:a="http://schemas.openxmlformats.org/drawingml/2006/main">
              <a:ext uri="{FF2B5EF4-FFF2-40B4-BE49-F238E27FC236}">
                <a16:creationId xmlns:a16="http://schemas.microsoft.com/office/drawing/2014/main" id="{71201A3B-5F6E-4FB0-8C0F-AEA7323144FA}"/>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Arquitectura que soporta el avance">
            <a:extLst xmlns:a="http://schemas.openxmlformats.org/drawingml/2006/main">
              <a:ext uri="{FF2B5EF4-FFF2-40B4-BE49-F238E27FC236}">
                <a16:creationId xmlns:a16="http://schemas.microsoft.com/office/drawing/2014/main" id="{21D1CBA8-900A-4A39-A5FD-102D1D5211EE}"/>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Arquitectura que soporta el avance</a:t>
            </a:r>
          </a:p>
        </p:txBody>
      </p:sp>
      <p:sp>
        <p:nvSpPr>
          <p:cNvPr id="3" name="SIGAA  /  Capstone 2026">
            <a:extLst xmlns:a="http://schemas.openxmlformats.org/drawingml/2006/main">
              <a:ext uri="{FF2B5EF4-FFF2-40B4-BE49-F238E27FC236}">
                <a16:creationId xmlns:a16="http://schemas.microsoft.com/office/drawing/2014/main" id="{32B1D708-FB94-42D7-9505-A1B4FFC9F577}"/>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Joel  /  Bloque 1 de 3  /  SIGAA</a:t>
            </a:r>
          </a:p>
        </p:txBody>
      </p:sp>
      <p:sp>
        <p:nvSpPr>
          <p:cNvPr id="4" name="04   /   28 oct 2026">
            <a:extLst xmlns:a="http://schemas.openxmlformats.org/drawingml/2006/main">
              <a:ext uri="{FF2B5EF4-FFF2-40B4-BE49-F238E27FC236}">
                <a16:creationId xmlns:a16="http://schemas.microsoft.com/office/drawing/2014/main" id="{F8A39D9A-E1F0-47B2-B2B1-297D08F1C88D}"/>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05 de 18   /   28 oct 2026</a:t>
            </a:r>
          </a:p>
        </p:txBody>
      </p:sp>
      <p:graphicFrame>
        <p:nvGraphicFramePr>
          <p:cNvPr id="5" name="">
            <a:extLst xmlns:a="http://schemas.openxmlformats.org/drawingml/2006/main">
              <a:ext uri="{FF2B5EF4-FFF2-40B4-BE49-F238E27FC236}">
                <a16:creationId xmlns:a16="http://schemas.microsoft.com/office/drawing/2014/main" id="{21FBE5A0-67E2-474C-9A73-934DE5C6C0D5}"/>
              </a:ext>
            </a:extLst>
          </p:cNvPr>
          <p:cNvGraphicFramePr/>
          <p:nvPr/>
        </p:nvGraphicFramePr>
        <p:xfrm>
          <a:off xmlns:a="http://schemas.openxmlformats.org/drawingml/2006/main" x="609600" y="1952625"/>
          <a:ext xmlns:a="http://schemas.openxmlformats.org/drawingml/2006/main" cx="10972800" cy="3667125"/>
        </p:xfrm>
        <a:graphic xmlns:a="http://schemas.openxmlformats.org/drawingml/2006/main">
          <a:graphicData uri="http://schemas.openxmlformats.org/drawingml/2006/table">
            <a:tbl>
              <a:tblPr/>
              <a:tblGrid>
                <a:gridCol w="2095500"/>
                <a:gridCol w="3476625"/>
                <a:gridCol w="5400675"/>
              </a:tblGrid>
              <a:tr h="733425">
                <a:tc>
                  <a:txBody>
                    <a:bodyPr/>
                    <a:lstStyle/>
                    <a:p>
                      <a:r>
                        <a:rPr sz="1800" b="1">
                          <a:solidFill>
                            <a:srgbClr val="FFFFFF"/>
                          </a:solidFill>
                          <a:latin typeface="Helvetica Neue"/>
                          <a:ea typeface="Helvetica Neue"/>
                          <a:cs typeface="Helvetica Neue"/>
                        </a:rPr>
                        <a:t>Capa</a:t>
                      </a:r>
                    </a:p>
                  </a:txBody>
                  <a:tcPr marL="152400" marR="152400" marT="114300" marB="114300" anchor="ctr">
                    <a:lnL w="4763">
                      <a:solidFill>
                        <a:srgbClr val="D5DDD1"/>
                      </a:solidFill>
                      <a:prstDash val="solid"/>
                    </a:lnL>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00" b="1">
                          <a:solidFill>
                            <a:srgbClr val="FFFFFF"/>
                          </a:solidFill>
                          <a:latin typeface="Helvetica Neue"/>
                          <a:ea typeface="Helvetica Neue"/>
                          <a:cs typeface="Helvetica Neue"/>
                        </a:rPr>
                        <a:t>Tecnologías</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00" b="1">
                          <a:solidFill>
                            <a:srgbClr val="FFFFFF"/>
                          </a:solidFill>
                          <a:latin typeface="Helvetica Neue"/>
                          <a:ea typeface="Helvetica Neue"/>
                          <a:cs typeface="Helvetica Neue"/>
                        </a:rPr>
                        <a:t>Responsabilidad</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r>
              <a:tr h="733425">
                <a:tc>
                  <a:txBody>
                    <a:bodyPr/>
                    <a:lstStyle/>
                    <a:p>
                      <a:r>
                        <a:rPr sz="1875" b="0">
                          <a:solidFill>
                            <a:srgbClr val="263D33"/>
                          </a:solidFill>
                          <a:latin typeface="Helvetica Neue"/>
                          <a:ea typeface="Helvetica Neue"/>
                          <a:cs typeface="Helvetica Neue"/>
                        </a:rPr>
                        <a:t>Interfaz</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React + Vite</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Vistas por rol y navegación adaptable.</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733425">
                <a:tc>
                  <a:txBody>
                    <a:bodyPr/>
                    <a:lstStyle/>
                    <a:p>
                      <a:r>
                        <a:rPr sz="1875" b="0">
                          <a:solidFill>
                            <a:srgbClr val="263D33"/>
                          </a:solidFill>
                          <a:latin typeface="Helvetica Neue"/>
                          <a:ea typeface="Helvetica Neue"/>
                          <a:cs typeface="Helvetica Neue"/>
                        </a:rPr>
                        <a:t>API</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Node.js 22 + Express</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Sesiones, permisos, reglas y validaciones.</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733425">
                <a:tc>
                  <a:txBody>
                    <a:bodyPr/>
                    <a:lstStyle/>
                    <a:p>
                      <a:r>
                        <a:rPr sz="1875" b="0">
                          <a:solidFill>
                            <a:srgbClr val="263D33"/>
                          </a:solidFill>
                          <a:latin typeface="Helvetica Neue"/>
                          <a:ea typeface="Helvetica Neue"/>
                          <a:cs typeface="Helvetica Neue"/>
                        </a:rPr>
                        <a:t>Datos</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PostgreSQL</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Persistencia y migraciones 001–009.</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733425">
                <a:tc>
                  <a:txBody>
                    <a:bodyPr/>
                    <a:lstStyle/>
                    <a:p>
                      <a:r>
                        <a:rPr sz="1875" b="0">
                          <a:solidFill>
                            <a:srgbClr val="263D33"/>
                          </a:solidFill>
                          <a:latin typeface="Helvetica Neue"/>
                          <a:ea typeface="Helvetica Neue"/>
                          <a:cs typeface="Helvetica Neue"/>
                        </a:rPr>
                        <a:t>Despliegue</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Docker, Nginx, Cloudflare</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Entorno reproducible y acceso HTTPS.</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bl>
          </a:graphicData>
        </a:graphic>
      </p:graphicFrame>
      <p:sp>
        <p:nvSpPr>
          <p:cNvPr id="6" name="PostgreSQL 16 es el objetivo. El último conjunto de pru">
            <a:extLst xmlns:a="http://schemas.openxmlformats.org/drawingml/2006/main">
              <a:ext uri="{FF2B5EF4-FFF2-40B4-BE49-F238E27FC236}">
                <a16:creationId xmlns:a16="http://schemas.microsoft.com/office/drawing/2014/main" id="{AD949B42-4AFF-49F0-BB9C-CAFFA66BC3B7}"/>
              </a:ext>
            </a:extLst>
          </p:cNvPr>
          <p:cNvSpPr>
            <a:spLocks xmlns:a="http://schemas.openxmlformats.org/drawingml/2006/main" noGrp="1"/>
          </p:cNvSpPr>
          <p:nvPr/>
        </p:nvSpPr>
        <p:spPr>
          <a:xfrm xmlns:a="http://schemas.openxmlformats.org/drawingml/2006/main">
            <a:off x="609600" y="58102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3685D"/>
                </a:solidFill>
                <a:latin typeface="Helvetica Neue"/>
                <a:ea typeface="Helvetica Neue"/>
                <a:cs typeface="Helvetica Neue"/>
              </a:defRPr>
            </a:defPPr>
            <a:lvl1pPr algn="l">
              <a:buNone/>
              <a:defRPr sz="1575" b="0">
                <a:solidFill>
                  <a:srgbClr val="53685D"/>
                </a:solidFill>
                <a:latin typeface="DejaVu Sans"/>
                <a:ea typeface="DejaVu Sans"/>
                <a:cs typeface="DejaVu Sans"/>
              </a:defRPr>
            </a:lvl1pPr>
            <a:lvl2pPr algn="l">
              <a:buNone/>
              <a:defRPr sz="1575" b="0">
                <a:solidFill>
                  <a:srgbClr val="53685D"/>
                </a:solidFill>
                <a:latin typeface="DejaVu Sans"/>
                <a:ea typeface="DejaVu Sans"/>
                <a:cs typeface="DejaVu Sans"/>
              </a:defRPr>
            </a:lvl2pPr>
            <a:lvl3pPr algn="l">
              <a:buNone/>
              <a:defRPr sz="1575" b="0">
                <a:solidFill>
                  <a:srgbClr val="53685D"/>
                </a:solidFill>
                <a:latin typeface="DejaVu Sans"/>
                <a:ea typeface="DejaVu Sans"/>
                <a:cs typeface="DejaVu Sans"/>
              </a:defRPr>
            </a:lvl3pPr>
            <a:lvl4pPr algn="l">
              <a:buNone/>
              <a:defRPr sz="1575" b="0">
                <a:solidFill>
                  <a:srgbClr val="53685D"/>
                </a:solidFill>
                <a:latin typeface="DejaVu Sans"/>
                <a:ea typeface="DejaVu Sans"/>
                <a:cs typeface="DejaVu Sans"/>
              </a:defRPr>
            </a:lvl4pPr>
            <a:lvl5pPr algn="l">
              <a:buNone/>
              <a:defRPr sz="1575" b="0">
                <a:solidFill>
                  <a:srgbClr val="53685D"/>
                </a:solidFill>
                <a:latin typeface="DejaVu Sans"/>
                <a:ea typeface="DejaVu Sans"/>
                <a:cs typeface="DejaVu Sans"/>
              </a:defRPr>
            </a:lvl5pPr>
            <a:lvl6pPr algn="l">
              <a:buNone/>
              <a:defRPr sz="1575" b="0">
                <a:solidFill>
                  <a:srgbClr val="53685D"/>
                </a:solidFill>
                <a:latin typeface="DejaVu Sans"/>
                <a:ea typeface="DejaVu Sans"/>
                <a:cs typeface="DejaVu Sans"/>
              </a:defRPr>
            </a:lvl6pPr>
            <a:lvl7pPr algn="l">
              <a:buNone/>
              <a:defRPr sz="1575" b="0">
                <a:solidFill>
                  <a:srgbClr val="53685D"/>
                </a:solidFill>
                <a:latin typeface="DejaVu Sans"/>
                <a:ea typeface="DejaVu Sans"/>
                <a:cs typeface="DejaVu Sans"/>
              </a:defRPr>
            </a:lvl7pPr>
            <a:lvl8pPr algn="l">
              <a:buNone/>
              <a:defRPr sz="1575" b="0">
                <a:solidFill>
                  <a:srgbClr val="53685D"/>
                </a:solidFill>
                <a:latin typeface="DejaVu Sans"/>
                <a:ea typeface="DejaVu Sans"/>
                <a:cs typeface="DejaVu Sans"/>
              </a:defRPr>
            </a:lvl8pPr>
            <a:lvl9pPr algn="l">
              <a:buNone/>
              <a:defRPr sz="1575" b="0">
                <a:solidFill>
                  <a:srgbClr val="53685D"/>
                </a:solidFill>
                <a:latin typeface="DejaVu Sans"/>
                <a:ea typeface="DejaVu Sans"/>
                <a:cs typeface="DejaVu Sans"/>
              </a:defRPr>
            </a:lvl9pPr>
          </a:lstStyle>
          <a:p xmlns:a="http://schemas.openxmlformats.org/drawingml/2006/main">
            <a:pPr algn="l">
              <a:buNone/>
              <a:defRPr sz="1575" b="0">
                <a:solidFill>
                  <a:srgbClr val="53685D"/>
                </a:solidFill>
                <a:latin typeface="Helvetica Neue"/>
                <a:ea typeface="Helvetica Neue"/>
                <a:cs typeface="Helvetica Neue"/>
              </a:defRPr>
            </a:pPr>
            <a:r>
              <a:rPr sz="1575" b="0">
                <a:solidFill>
                  <a:srgbClr val="53685D"/>
                </a:solidFill>
                <a:latin typeface="Helvetica Neue"/>
                <a:ea typeface="Helvetica Neue"/>
                <a:cs typeface="Helvetica Neue"/>
              </a:rPr>
              <a:t>PostgreSQL 16 es el objetivo. El último conjunto de pruebas usó PostgreSQL 14 aislado.</a:t>
            </a:r>
          </a:p>
        </p:txBody>
      </p:sp>
    </p:spTree>
    <p:extLst>
      <p:ext uri="{BB962C8B-B14F-4D97-AF65-F5344CB8AC3E}">
        <p14:creationId xmlns:p14="http://schemas.microsoft.com/office/powerpoint/2010/main" val="25040910"/>
      </p:ext>
    </p:extLst>
  </p:cSld>
</p:sld>
</file>

<file path=ppt/slides/slide6.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7" name="AVANCE DEL PROYECTO">
            <a:extLst xmlns:a="http://schemas.openxmlformats.org/drawingml/2006/main">
              <a:ext uri="{FF2B5EF4-FFF2-40B4-BE49-F238E27FC236}">
                <a16:creationId xmlns:a16="http://schemas.microsoft.com/office/drawing/2014/main" id="{EB90E694-A0B4-44F3-B4A3-81F2773DBEA9}"/>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El avance acumulado de los sprints 1 a 4">
            <a:extLst xmlns:a="http://schemas.openxmlformats.org/drawingml/2006/main">
              <a:ext uri="{FF2B5EF4-FFF2-40B4-BE49-F238E27FC236}">
                <a16:creationId xmlns:a16="http://schemas.microsoft.com/office/drawing/2014/main" id="{EC0BAF4A-E673-4261-8067-40FDB72A7A20}"/>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El avance acumulado de los sprints 1 a 4</a:t>
            </a:r>
          </a:p>
        </p:txBody>
      </p:sp>
      <p:sp>
        <p:nvSpPr>
          <p:cNvPr id="3" name="SIGAA  /  Capstone 2026">
            <a:extLst xmlns:a="http://schemas.openxmlformats.org/drawingml/2006/main">
              <a:ext uri="{FF2B5EF4-FFF2-40B4-BE49-F238E27FC236}">
                <a16:creationId xmlns:a16="http://schemas.microsoft.com/office/drawing/2014/main" id="{339AF909-689C-47CE-9BD9-A58F42882318}"/>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Joel  /  Bloque 1 de 3  /  SIGAA</a:t>
            </a:r>
          </a:p>
        </p:txBody>
      </p:sp>
      <p:sp>
        <p:nvSpPr>
          <p:cNvPr id="4" name="05   /   28 oct 2026">
            <a:extLst xmlns:a="http://schemas.openxmlformats.org/drawingml/2006/main">
              <a:ext uri="{FF2B5EF4-FFF2-40B4-BE49-F238E27FC236}">
                <a16:creationId xmlns:a16="http://schemas.microsoft.com/office/drawing/2014/main" id="{1AA7C469-D8C7-4064-9525-15534ABE3687}"/>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06 de 18   /   28 oct 2026</a:t>
            </a:r>
          </a:p>
        </p:txBody>
      </p:sp>
      <p:graphicFrame>
        <p:nvGraphicFramePr>
          <p:cNvPr id="5" name="">
            <a:extLst xmlns:a="http://schemas.openxmlformats.org/drawingml/2006/main">
              <a:ext uri="{FF2B5EF4-FFF2-40B4-BE49-F238E27FC236}">
                <a16:creationId xmlns:a16="http://schemas.microsoft.com/office/drawing/2014/main" id="{41D0656A-2673-4A48-90ED-AF2071AC2012}"/>
              </a:ext>
            </a:extLst>
          </p:cNvPr>
          <p:cNvGraphicFramePr/>
          <p:nvPr/>
        </p:nvGraphicFramePr>
        <p:xfrm>
          <a:off xmlns:a="http://schemas.openxmlformats.org/drawingml/2006/main" x="609600" y="1952625"/>
          <a:ext xmlns:a="http://schemas.openxmlformats.org/drawingml/2006/main" cx="10972800" cy="3810000"/>
        </p:xfrm>
        <a:graphic xmlns:a="http://schemas.openxmlformats.org/drawingml/2006/main">
          <a:graphicData uri="http://schemas.openxmlformats.org/drawingml/2006/table">
            <a:tbl>
              <a:tblPr/>
              <a:tblGrid>
                <a:gridCol w="1762125"/>
                <a:gridCol w="4714875"/>
                <a:gridCol w="4495800"/>
              </a:tblGrid>
              <a:tr h="762000">
                <a:tc>
                  <a:txBody>
                    <a:bodyPr/>
                    <a:lstStyle/>
                    <a:p>
                      <a:r>
                        <a:rPr sz="1800" b="1">
                          <a:solidFill>
                            <a:srgbClr val="FFFFFF"/>
                          </a:solidFill>
                          <a:latin typeface="Helvetica Neue"/>
                          <a:ea typeface="Helvetica Neue"/>
                          <a:cs typeface="Helvetica Neue"/>
                        </a:rPr>
                        <a:t>Sprint</a:t>
                      </a:r>
                    </a:p>
                  </a:txBody>
                  <a:tcPr marL="152400" marR="152400" marT="114300" marB="114300" anchor="ctr">
                    <a:lnL w="4763">
                      <a:solidFill>
                        <a:srgbClr val="D5DDD1"/>
                      </a:solidFill>
                      <a:prstDash val="solid"/>
                    </a:lnL>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00" b="1">
                          <a:solidFill>
                            <a:srgbClr val="FFFFFF"/>
                          </a:solidFill>
                          <a:latin typeface="Helvetica Neue"/>
                          <a:ea typeface="Helvetica Neue"/>
                          <a:cs typeface="Helvetica Neue"/>
                        </a:rPr>
                        <a:t>Resultado disponible</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00" b="1">
                          <a:solidFill>
                            <a:srgbClr val="FFFFFF"/>
                          </a:solidFill>
                          <a:latin typeface="Helvetica Neue"/>
                          <a:ea typeface="Helvetica Neue"/>
                          <a:cs typeface="Helvetica Neue"/>
                        </a:rPr>
                        <a:t>Cierre pendiente</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r>
              <a:tr h="762000">
                <a:tc>
                  <a:txBody>
                    <a:bodyPr/>
                    <a:lstStyle/>
                    <a:p>
                      <a:r>
                        <a:rPr sz="1875" b="0">
                          <a:solidFill>
                            <a:srgbClr val="263D33"/>
                          </a:solidFill>
                          <a:latin typeface="Helvetica Neue"/>
                          <a:ea typeface="Helvetica Neue"/>
                          <a:cs typeface="Helvetica Neue"/>
                        </a:rPr>
                        <a:t>1 · Diseño</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Arquitectura, modelo de datos y prototipo.</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UML, alcance estudiante y validación.</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762000">
                <a:tc>
                  <a:txBody>
                    <a:bodyPr/>
                    <a:lstStyle/>
                    <a:p>
                      <a:r>
                        <a:rPr sz="1875" b="0">
                          <a:solidFill>
                            <a:srgbClr val="263D33"/>
                          </a:solidFill>
                          <a:latin typeface="Helvetica Neue"/>
                          <a:ea typeface="Helvetica Neue"/>
                          <a:cs typeface="Helvetica Neue"/>
                        </a:rPr>
                        <a:t>2 · Plataforma</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Estructura escolar y configuración Docker.</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Instalación reproducible y aceptación.</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762000">
                <a:tc>
                  <a:txBody>
                    <a:bodyPr/>
                    <a:lstStyle/>
                    <a:p>
                      <a:r>
                        <a:rPr sz="1875" b="0">
                          <a:solidFill>
                            <a:srgbClr val="263D33"/>
                          </a:solidFill>
                          <a:latin typeface="Helvetica Neue"/>
                          <a:ea typeface="Helvetica Neue"/>
                          <a:cs typeface="Helvetica Neue"/>
                        </a:rPr>
                        <a:t>3 · Seguridad</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Login, permisos, estudiantes y matrículas.</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Revisión por rol y aceptación.</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762000">
                <a:tc>
                  <a:txBody>
                    <a:bodyPr/>
                    <a:lstStyle/>
                    <a:p>
                      <a:r>
                        <a:rPr sz="1875" b="0">
                          <a:solidFill>
                            <a:srgbClr val="263D33"/>
                          </a:solidFill>
                          <a:latin typeface="Helvetica Neue"/>
                          <a:ea typeface="Helvetica Neue"/>
                          <a:cs typeface="Helvetica Neue"/>
                        </a:rPr>
                        <a:t>4 · Operación</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Notas, asistencia, alertas y justificaciones.</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Validación funcional y entrega de avance.</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bl>
          </a:graphicData>
        </a:graphic>
      </p:graphicFrame>
      <p:sp>
        <p:nvSpPr>
          <p:cNvPr id="6" name="La existencia del código no sustituye la aceptación de ">
            <a:extLst xmlns:a="http://schemas.openxmlformats.org/drawingml/2006/main">
              <a:ext uri="{FF2B5EF4-FFF2-40B4-BE49-F238E27FC236}">
                <a16:creationId xmlns:a16="http://schemas.microsoft.com/office/drawing/2014/main" id="{BCD481B3-12CA-4AF1-AB62-47E05C8F9A39}"/>
              </a:ext>
            </a:extLst>
          </p:cNvPr>
          <p:cNvSpPr>
            <a:spLocks xmlns:a="http://schemas.openxmlformats.org/drawingml/2006/main" noGrp="1"/>
          </p:cNvSpPr>
          <p:nvPr/>
        </p:nvSpPr>
        <p:spPr>
          <a:xfrm xmlns:a="http://schemas.openxmlformats.org/drawingml/2006/main">
            <a:off x="609600" y="60388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84C3B"/>
                </a:solidFill>
                <a:latin typeface="Helvetica Neue"/>
                <a:ea typeface="Helvetica Neue"/>
                <a:cs typeface="Helvetica Neue"/>
              </a:defRPr>
            </a:defPPr>
            <a:lvl1pPr algn="l">
              <a:buNone/>
              <a:defRPr sz="1725" b="1">
                <a:solidFill>
                  <a:srgbClr val="184C3B"/>
                </a:solidFill>
                <a:latin typeface="DejaVu Sans"/>
                <a:ea typeface="DejaVu Sans"/>
                <a:cs typeface="DejaVu Sans"/>
              </a:defRPr>
            </a:lvl1pPr>
            <a:lvl2pPr algn="l">
              <a:buNone/>
              <a:defRPr sz="1725" b="1">
                <a:solidFill>
                  <a:srgbClr val="184C3B"/>
                </a:solidFill>
                <a:latin typeface="DejaVu Sans"/>
                <a:ea typeface="DejaVu Sans"/>
                <a:cs typeface="DejaVu Sans"/>
              </a:defRPr>
            </a:lvl2pPr>
            <a:lvl3pPr algn="l">
              <a:buNone/>
              <a:defRPr sz="1725" b="1">
                <a:solidFill>
                  <a:srgbClr val="184C3B"/>
                </a:solidFill>
                <a:latin typeface="DejaVu Sans"/>
                <a:ea typeface="DejaVu Sans"/>
                <a:cs typeface="DejaVu Sans"/>
              </a:defRPr>
            </a:lvl3pPr>
            <a:lvl4pPr algn="l">
              <a:buNone/>
              <a:defRPr sz="1725" b="1">
                <a:solidFill>
                  <a:srgbClr val="184C3B"/>
                </a:solidFill>
                <a:latin typeface="DejaVu Sans"/>
                <a:ea typeface="DejaVu Sans"/>
                <a:cs typeface="DejaVu Sans"/>
              </a:defRPr>
            </a:lvl4pPr>
            <a:lvl5pPr algn="l">
              <a:buNone/>
              <a:defRPr sz="1725" b="1">
                <a:solidFill>
                  <a:srgbClr val="184C3B"/>
                </a:solidFill>
                <a:latin typeface="DejaVu Sans"/>
                <a:ea typeface="DejaVu Sans"/>
                <a:cs typeface="DejaVu Sans"/>
              </a:defRPr>
            </a:lvl5pPr>
            <a:lvl6pPr algn="l">
              <a:buNone/>
              <a:defRPr sz="1725" b="1">
                <a:solidFill>
                  <a:srgbClr val="184C3B"/>
                </a:solidFill>
                <a:latin typeface="DejaVu Sans"/>
                <a:ea typeface="DejaVu Sans"/>
                <a:cs typeface="DejaVu Sans"/>
              </a:defRPr>
            </a:lvl6pPr>
            <a:lvl7pPr algn="l">
              <a:buNone/>
              <a:defRPr sz="1725" b="1">
                <a:solidFill>
                  <a:srgbClr val="184C3B"/>
                </a:solidFill>
                <a:latin typeface="DejaVu Sans"/>
                <a:ea typeface="DejaVu Sans"/>
                <a:cs typeface="DejaVu Sans"/>
              </a:defRPr>
            </a:lvl7pPr>
            <a:lvl8pPr algn="l">
              <a:buNone/>
              <a:defRPr sz="1725" b="1">
                <a:solidFill>
                  <a:srgbClr val="184C3B"/>
                </a:solidFill>
                <a:latin typeface="DejaVu Sans"/>
                <a:ea typeface="DejaVu Sans"/>
                <a:cs typeface="DejaVu Sans"/>
              </a:defRPr>
            </a:lvl8pPr>
            <a:lvl9pPr algn="l">
              <a:buNone/>
              <a:defRPr sz="1725" b="1">
                <a:solidFill>
                  <a:srgbClr val="184C3B"/>
                </a:solidFill>
                <a:latin typeface="DejaVu Sans"/>
                <a:ea typeface="DejaVu Sans"/>
                <a:cs typeface="DejaVu Sans"/>
              </a:defRPr>
            </a:lvl9pPr>
          </a:lstStyle>
          <a:p xmlns:a="http://schemas.openxmlformats.org/drawingml/2006/main">
            <a:pPr algn="l">
              <a:buNone/>
              <a:defRPr sz="1725" b="1">
                <a:solidFill>
                  <a:srgbClr val="184C3B"/>
                </a:solidFill>
                <a:latin typeface="Helvetica Neue"/>
                <a:ea typeface="Helvetica Neue"/>
                <a:cs typeface="Helvetica Neue"/>
              </a:defRPr>
            </a:pPr>
            <a:r>
              <a:rPr sz="1725" b="1">
                <a:solidFill>
                  <a:srgbClr val="184C3B"/>
                </a:solidFill>
                <a:latin typeface="Helvetica Neue"/>
                <a:ea typeface="Helvetica Neue"/>
                <a:cs typeface="Helvetica Neue"/>
              </a:rPr>
              <a:t>La existencia del código no sustituye la aceptación de cada historia.</a:t>
            </a:r>
          </a:p>
        </p:txBody>
      </p:sp>
    </p:spTree>
    <p:extLst>
      <p:ext uri="{BB962C8B-B14F-4D97-AF65-F5344CB8AC3E}">
        <p14:creationId xmlns:p14="http://schemas.microsoft.com/office/powerpoint/2010/main" val="298267025"/>
      </p:ext>
    </p:extLst>
  </p:cSld>
</p:sld>
</file>

<file path=ppt/slides/slide7.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0" name="SPRINT 5 / SCRUM-35">
            <a:extLst xmlns:a="http://schemas.openxmlformats.org/drawingml/2006/main">
              <a:ext uri="{FF2B5EF4-FFF2-40B4-BE49-F238E27FC236}">
                <a16:creationId xmlns:a16="http://schemas.microsoft.com/office/drawing/2014/main" id="{F15F5BE0-90DD-4BB6-862A-3A2578F8A0A7}"/>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SPRINT 5 / SCRUM-35</a:t>
            </a:r>
          </a:p>
        </p:txBody>
      </p:sp>
      <p:sp>
        <p:nvSpPr>
          <p:cNvPr id="2" name="Casos de seguimiento">
            <a:extLst xmlns:a="http://schemas.openxmlformats.org/drawingml/2006/main">
              <a:ext uri="{FF2B5EF4-FFF2-40B4-BE49-F238E27FC236}">
                <a16:creationId xmlns:a16="http://schemas.microsoft.com/office/drawing/2014/main" id="{7ED73F07-2C7E-4A59-90B9-86B81A8445F2}"/>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Casos de seguimiento</a:t>
            </a:r>
          </a:p>
        </p:txBody>
      </p:sp>
      <p:sp>
        <p:nvSpPr>
          <p:cNvPr id="3" name="SIGAA  /  Capstone 2026">
            <a:extLst xmlns:a="http://schemas.openxmlformats.org/drawingml/2006/main">
              <a:ext uri="{FF2B5EF4-FFF2-40B4-BE49-F238E27FC236}">
                <a16:creationId xmlns:a16="http://schemas.microsoft.com/office/drawing/2014/main" id="{6A0C3D67-5FA8-4768-8193-19FB2F2D13CE}"/>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Agustín  /  Bloque 2 de 3  /  SIGAA</a:t>
            </a:r>
          </a:p>
        </p:txBody>
      </p:sp>
      <p:sp>
        <p:nvSpPr>
          <p:cNvPr id="4" name="06   /   28 oct 2026">
            <a:extLst xmlns:a="http://schemas.openxmlformats.org/drawingml/2006/main">
              <a:ext uri="{FF2B5EF4-FFF2-40B4-BE49-F238E27FC236}">
                <a16:creationId xmlns:a16="http://schemas.microsoft.com/office/drawing/2014/main" id="{D6A58CF9-6C9B-41A7-86DD-1F9C7639AAB2}"/>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07 de 18   /   28 oct 2026</a:t>
            </a:r>
          </a:p>
        </p:txBody>
      </p:sp>
      <p:pic>
        <p:nvPicPr>
          <p:cNvPr id="5" name="">
            <a:extLst xmlns:a="http://schemas.openxmlformats.org/drawingml/2006/main">
              <a:ext uri="{FF2B5EF4-FFF2-40B4-BE49-F238E27FC236}">
                <a16:creationId xmlns:a16="http://schemas.microsoft.com/office/drawing/2014/main" id="{FE7713E9-FDB0-47C8-B8FF-DC26DE046613}"/>
              </a:ext>
            </a:extLst>
          </p:cNvPr>
          <p:cNvPicPr>
            <a:picLocks xmlns:a="http://schemas.openxmlformats.org/drawingml/2006/main" noChangeAspect="1"/>
          </p:cNvPicPr>
          <p:nvPr/>
        </p:nvPicPr>
        <p:blipFill>
          <a:blip xmlns:r="http://schemas.openxmlformats.org/officeDocument/2006/relationships" xmlns:a="http://schemas.openxmlformats.org/drawingml/2006/main" r:embed="R216f8d893e5b40f5"/>
          <a:stretch xmlns:a="http://schemas.openxmlformats.org/drawingml/2006/main"/>
        </p:blipFill>
        <p:spPr>
          <a:xfrm xmlns:a="http://schemas.openxmlformats.org/drawingml/2006/main">
            <a:off x="5066538" y="1838325"/>
            <a:ext cx="6364224" cy="4419600"/>
          </a:xfrm>
          <a:prstGeom xmlns:a="http://schemas.openxmlformats.org/drawingml/2006/main" prst="rect">
            <a:avLst/>
          </a:prstGeom>
        </p:spPr>
      </p:pic>
      <p:sp>
        <p:nvSpPr>
          <p:cNvPr id="6" name="Un caso activo por alerta.">
            <a:extLst xmlns:a="http://schemas.openxmlformats.org/drawingml/2006/main">
              <a:ext uri="{FF2B5EF4-FFF2-40B4-BE49-F238E27FC236}">
                <a16:creationId xmlns:a16="http://schemas.microsoft.com/office/drawing/2014/main" id="{7C9B256F-60F3-461B-95B4-E8D30E7895DB}"/>
              </a:ext>
            </a:extLst>
          </p:cNvPr>
          <p:cNvSpPr>
            <a:spLocks xmlns:a="http://schemas.openxmlformats.org/drawingml/2006/main" noGrp="1"/>
          </p:cNvSpPr>
          <p:nvPr/>
        </p:nvSpPr>
        <p:spPr>
          <a:xfrm xmlns:a="http://schemas.openxmlformats.org/drawingml/2006/main">
            <a:off x="609600" y="2152650"/>
            <a:ext cx="4000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Un caso activo por alerta.</a:t>
            </a:r>
          </a:p>
        </p:txBody>
      </p:sp>
      <p:sp>
        <p:nvSpPr>
          <p:cNvPr id="7" name="Responsable, próxima acción&#10;y fecha de seguimiento.">
            <a:extLst xmlns:a="http://schemas.openxmlformats.org/drawingml/2006/main">
              <a:ext uri="{FF2B5EF4-FFF2-40B4-BE49-F238E27FC236}">
                <a16:creationId xmlns:a16="http://schemas.microsoft.com/office/drawing/2014/main" id="{4A7DC081-3E1A-4CA1-8C89-8BA9CF3B367E}"/>
              </a:ext>
            </a:extLst>
          </p:cNvPr>
          <p:cNvSpPr>
            <a:spLocks xmlns:a="http://schemas.openxmlformats.org/drawingml/2006/main" noGrp="1"/>
          </p:cNvSpPr>
          <p:nvPr/>
        </p:nvSpPr>
        <p:spPr>
          <a:xfrm xmlns:a="http://schemas.openxmlformats.org/drawingml/2006/main">
            <a:off x="609600" y="3228975"/>
            <a:ext cx="4000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Responsable, próxima acción</a:t>
            </a:r>
          </a:p>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y fecha de seguimiento.</a:t>
            </a:r>
          </a:p>
        </p:txBody>
      </p:sp>
      <p:sp>
        <p:nvSpPr>
          <p:cNvPr id="8" name="Intervenciones, cierre&#10;y reapertura con historial.">
            <a:extLst xmlns:a="http://schemas.openxmlformats.org/drawingml/2006/main">
              <a:ext uri="{FF2B5EF4-FFF2-40B4-BE49-F238E27FC236}">
                <a16:creationId xmlns:a16="http://schemas.microsoft.com/office/drawing/2014/main" id="{86CBFB59-9E1B-4C9E-8CD4-3289413537A2}"/>
              </a:ext>
            </a:extLst>
          </p:cNvPr>
          <p:cNvSpPr>
            <a:spLocks xmlns:a="http://schemas.openxmlformats.org/drawingml/2006/main" noGrp="1"/>
          </p:cNvSpPr>
          <p:nvPr/>
        </p:nvSpPr>
        <p:spPr>
          <a:xfrm xmlns:a="http://schemas.openxmlformats.org/drawingml/2006/main">
            <a:off x="609600" y="4305300"/>
            <a:ext cx="40005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Intervenciones, cierre</a:t>
            </a:r>
          </a:p>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y reapertura con historial.</a:t>
            </a:r>
          </a:p>
        </p:txBody>
      </p:sp>
      <p:sp>
        <p:nvSpPr>
          <p:cNvPr id="9" name="Captura local con datos sintéticos">
            <a:extLst xmlns:a="http://schemas.openxmlformats.org/drawingml/2006/main">
              <a:ext uri="{FF2B5EF4-FFF2-40B4-BE49-F238E27FC236}">
                <a16:creationId xmlns:a16="http://schemas.microsoft.com/office/drawing/2014/main" id="{D304C428-D524-4A9F-9BEB-C853D44AC465}"/>
              </a:ext>
            </a:extLst>
          </p:cNvPr>
          <p:cNvSpPr>
            <a:spLocks xmlns:a="http://schemas.openxmlformats.org/drawingml/2006/main" noGrp="1"/>
          </p:cNvSpPr>
          <p:nvPr/>
        </p:nvSpPr>
        <p:spPr>
          <a:xfrm xmlns:a="http://schemas.openxmlformats.org/drawingml/2006/main">
            <a:off x="609600" y="5953125"/>
            <a:ext cx="41433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53685D"/>
                </a:solidFill>
                <a:latin typeface="Helvetica Neue"/>
                <a:ea typeface="Helvetica Neue"/>
                <a:cs typeface="Helvetica Neue"/>
              </a:defRPr>
            </a:defPPr>
            <a:lvl1pPr algn="l">
              <a:buNone/>
              <a:defRPr sz="1350" b="0">
                <a:solidFill>
                  <a:srgbClr val="53685D"/>
                </a:solidFill>
                <a:latin typeface="DejaVu Sans"/>
                <a:ea typeface="DejaVu Sans"/>
                <a:cs typeface="DejaVu Sans"/>
              </a:defRPr>
            </a:lvl1pPr>
            <a:lvl2pPr algn="l">
              <a:buNone/>
              <a:defRPr sz="1350" b="0">
                <a:solidFill>
                  <a:srgbClr val="53685D"/>
                </a:solidFill>
                <a:latin typeface="DejaVu Sans"/>
                <a:ea typeface="DejaVu Sans"/>
                <a:cs typeface="DejaVu Sans"/>
              </a:defRPr>
            </a:lvl2pPr>
            <a:lvl3pPr algn="l">
              <a:buNone/>
              <a:defRPr sz="1350" b="0">
                <a:solidFill>
                  <a:srgbClr val="53685D"/>
                </a:solidFill>
                <a:latin typeface="DejaVu Sans"/>
                <a:ea typeface="DejaVu Sans"/>
                <a:cs typeface="DejaVu Sans"/>
              </a:defRPr>
            </a:lvl3pPr>
            <a:lvl4pPr algn="l">
              <a:buNone/>
              <a:defRPr sz="1350" b="0">
                <a:solidFill>
                  <a:srgbClr val="53685D"/>
                </a:solidFill>
                <a:latin typeface="DejaVu Sans"/>
                <a:ea typeface="DejaVu Sans"/>
                <a:cs typeface="DejaVu Sans"/>
              </a:defRPr>
            </a:lvl4pPr>
            <a:lvl5pPr algn="l">
              <a:buNone/>
              <a:defRPr sz="1350" b="0">
                <a:solidFill>
                  <a:srgbClr val="53685D"/>
                </a:solidFill>
                <a:latin typeface="DejaVu Sans"/>
                <a:ea typeface="DejaVu Sans"/>
                <a:cs typeface="DejaVu Sans"/>
              </a:defRPr>
            </a:lvl5pPr>
            <a:lvl6pPr algn="l">
              <a:buNone/>
              <a:defRPr sz="1350" b="0">
                <a:solidFill>
                  <a:srgbClr val="53685D"/>
                </a:solidFill>
                <a:latin typeface="DejaVu Sans"/>
                <a:ea typeface="DejaVu Sans"/>
                <a:cs typeface="DejaVu Sans"/>
              </a:defRPr>
            </a:lvl6pPr>
            <a:lvl7pPr algn="l">
              <a:buNone/>
              <a:defRPr sz="1350" b="0">
                <a:solidFill>
                  <a:srgbClr val="53685D"/>
                </a:solidFill>
                <a:latin typeface="DejaVu Sans"/>
                <a:ea typeface="DejaVu Sans"/>
                <a:cs typeface="DejaVu Sans"/>
              </a:defRPr>
            </a:lvl7pPr>
            <a:lvl8pPr algn="l">
              <a:buNone/>
              <a:defRPr sz="1350" b="0">
                <a:solidFill>
                  <a:srgbClr val="53685D"/>
                </a:solidFill>
                <a:latin typeface="DejaVu Sans"/>
                <a:ea typeface="DejaVu Sans"/>
                <a:cs typeface="DejaVu Sans"/>
              </a:defRPr>
            </a:lvl8pPr>
            <a:lvl9pPr algn="l">
              <a:buNone/>
              <a:defRPr sz="1350" b="0">
                <a:solidFill>
                  <a:srgbClr val="53685D"/>
                </a:solidFill>
                <a:latin typeface="DejaVu Sans"/>
                <a:ea typeface="DejaVu Sans"/>
                <a:cs typeface="DejaVu Sans"/>
              </a:defRPr>
            </a:lvl9pPr>
          </a:lstStyle>
          <a:p xmlns:a="http://schemas.openxmlformats.org/drawingml/2006/main">
            <a:pPr algn="l">
              <a:buNone/>
              <a:defRPr sz="1350" b="0">
                <a:solidFill>
                  <a:srgbClr val="53685D"/>
                </a:solidFill>
                <a:latin typeface="Helvetica Neue"/>
                <a:ea typeface="Helvetica Neue"/>
                <a:cs typeface="Helvetica Neue"/>
              </a:defRPr>
            </a:pPr>
            <a:r>
              <a:rPr sz="1350" b="0">
                <a:solidFill>
                  <a:srgbClr val="53685D"/>
                </a:solidFill>
                <a:latin typeface="Helvetica Neue"/>
                <a:ea typeface="Helvetica Neue"/>
                <a:cs typeface="Helvetica Neue"/>
              </a:rPr>
              <a:t>Captura local con datos sintéticos</a:t>
            </a:r>
          </a:p>
        </p:txBody>
      </p:sp>
    </p:spTree>
    <p:extLst>
      <p:ext uri="{BB962C8B-B14F-4D97-AF65-F5344CB8AC3E}">
        <p14:creationId xmlns:p14="http://schemas.microsoft.com/office/powerpoint/2010/main" val="1468863373"/>
      </p:ext>
    </p:extLst>
  </p:cSld>
</p:sld>
</file>

<file path=ppt/slides/slide8.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0" name="SPRINT 5 / SCRUM-48">
            <a:extLst xmlns:a="http://schemas.openxmlformats.org/drawingml/2006/main">
              <a:ext uri="{FF2B5EF4-FFF2-40B4-BE49-F238E27FC236}">
                <a16:creationId xmlns:a16="http://schemas.microsoft.com/office/drawing/2014/main" id="{9B5C888B-3EF5-4385-AE05-537281B208B8}"/>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SPRINT 5 / SCRUM-48</a:t>
            </a:r>
          </a:p>
        </p:txBody>
      </p:sp>
      <p:sp>
        <p:nvSpPr>
          <p:cNvPr id="2" name="Apoderados vinculados a estudiantes">
            <a:extLst xmlns:a="http://schemas.openxmlformats.org/drawingml/2006/main">
              <a:ext uri="{FF2B5EF4-FFF2-40B4-BE49-F238E27FC236}">
                <a16:creationId xmlns:a16="http://schemas.microsoft.com/office/drawing/2014/main" id="{955E89FA-16CA-4AA1-8C48-07935988ACDC}"/>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Apoderados vinculados a estudiantes</a:t>
            </a:r>
          </a:p>
        </p:txBody>
      </p:sp>
      <p:sp>
        <p:nvSpPr>
          <p:cNvPr id="3" name="SIGAA  /  Capstone 2026">
            <a:extLst xmlns:a="http://schemas.openxmlformats.org/drawingml/2006/main">
              <a:ext uri="{FF2B5EF4-FFF2-40B4-BE49-F238E27FC236}">
                <a16:creationId xmlns:a16="http://schemas.microsoft.com/office/drawing/2014/main" id="{1DFF5C82-00DB-415A-ACE3-2677D8F5258F}"/>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Agustín  /  Bloque 2 de 3  /  SIGAA</a:t>
            </a:r>
          </a:p>
        </p:txBody>
      </p:sp>
      <p:sp>
        <p:nvSpPr>
          <p:cNvPr id="4" name="07   /   28 oct 2026">
            <a:extLst xmlns:a="http://schemas.openxmlformats.org/drawingml/2006/main">
              <a:ext uri="{FF2B5EF4-FFF2-40B4-BE49-F238E27FC236}">
                <a16:creationId xmlns:a16="http://schemas.microsoft.com/office/drawing/2014/main" id="{DB2404FB-6349-44B3-B673-7C27552A72CD}"/>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08 de 18   /   28 oct 2026</a:t>
            </a:r>
          </a:p>
        </p:txBody>
      </p:sp>
      <p:pic>
        <p:nvPicPr>
          <p:cNvPr id="5" name="">
            <a:extLst xmlns:a="http://schemas.openxmlformats.org/drawingml/2006/main">
              <a:ext uri="{FF2B5EF4-FFF2-40B4-BE49-F238E27FC236}">
                <a16:creationId xmlns:a16="http://schemas.microsoft.com/office/drawing/2014/main" id="{8B07A015-67B8-41E6-9A0C-D6A935B1ABC1}"/>
              </a:ext>
            </a:extLst>
          </p:cNvPr>
          <p:cNvPicPr>
            <a:picLocks xmlns:a="http://schemas.openxmlformats.org/drawingml/2006/main" noChangeAspect="1"/>
          </p:cNvPicPr>
          <p:nvPr/>
        </p:nvPicPr>
        <p:blipFill>
          <a:blip xmlns:r="http://schemas.openxmlformats.org/officeDocument/2006/relationships" xmlns:a="http://schemas.openxmlformats.org/drawingml/2006/main" r:embed="Re44c5093781648fe"/>
          <a:stretch xmlns:a="http://schemas.openxmlformats.org/drawingml/2006/main"/>
        </p:blipFill>
        <p:spPr>
          <a:xfrm xmlns:a="http://schemas.openxmlformats.org/drawingml/2006/main">
            <a:off x="5257124" y="1866900"/>
            <a:ext cx="5754453" cy="3829050"/>
          </a:xfrm>
          <a:prstGeom xmlns:a="http://schemas.openxmlformats.org/drawingml/2006/main" prst="rect">
            <a:avLst/>
          </a:prstGeom>
        </p:spPr>
      </p:pic>
      <p:sp>
        <p:nvSpPr>
          <p:cNvPr id="6" name="Contactos y estado&#10;del apoderado.">
            <a:extLst xmlns:a="http://schemas.openxmlformats.org/drawingml/2006/main">
              <a:ext uri="{FF2B5EF4-FFF2-40B4-BE49-F238E27FC236}">
                <a16:creationId xmlns:a16="http://schemas.microsoft.com/office/drawing/2014/main" id="{69030934-F057-4A66-BF99-DFA7AD6F7271}"/>
              </a:ext>
            </a:extLst>
          </p:cNvPr>
          <p:cNvSpPr>
            <a:spLocks xmlns:a="http://schemas.openxmlformats.org/drawingml/2006/main" noGrp="1"/>
          </p:cNvSpPr>
          <p:nvPr/>
        </p:nvSpPr>
        <p:spPr>
          <a:xfrm xmlns:a="http://schemas.openxmlformats.org/drawingml/2006/main">
            <a:off x="609600" y="2095500"/>
            <a:ext cx="385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D33"/>
                </a:solidFill>
                <a:latin typeface="Helvetica Neue"/>
                <a:ea typeface="Helvetica Neue"/>
                <a:cs typeface="Helvetica Neue"/>
              </a:defRPr>
            </a:defPPr>
            <a:lvl1pPr algn="l">
              <a:buNone/>
              <a:defRPr sz="2175" b="0">
                <a:solidFill>
                  <a:srgbClr val="263D33"/>
                </a:solidFill>
                <a:latin typeface="DejaVu Sans"/>
                <a:ea typeface="DejaVu Sans"/>
                <a:cs typeface="DejaVu Sans"/>
              </a:defRPr>
            </a:lvl1pPr>
            <a:lvl2pPr algn="l">
              <a:buNone/>
              <a:defRPr sz="2175" b="0">
                <a:solidFill>
                  <a:srgbClr val="263D33"/>
                </a:solidFill>
                <a:latin typeface="DejaVu Sans"/>
                <a:ea typeface="DejaVu Sans"/>
                <a:cs typeface="DejaVu Sans"/>
              </a:defRPr>
            </a:lvl2pPr>
            <a:lvl3pPr algn="l">
              <a:buNone/>
              <a:defRPr sz="2175" b="0">
                <a:solidFill>
                  <a:srgbClr val="263D33"/>
                </a:solidFill>
                <a:latin typeface="DejaVu Sans"/>
                <a:ea typeface="DejaVu Sans"/>
                <a:cs typeface="DejaVu Sans"/>
              </a:defRPr>
            </a:lvl3pPr>
            <a:lvl4pPr algn="l">
              <a:buNone/>
              <a:defRPr sz="2175" b="0">
                <a:solidFill>
                  <a:srgbClr val="263D33"/>
                </a:solidFill>
                <a:latin typeface="DejaVu Sans"/>
                <a:ea typeface="DejaVu Sans"/>
                <a:cs typeface="DejaVu Sans"/>
              </a:defRPr>
            </a:lvl4pPr>
            <a:lvl5pPr algn="l">
              <a:buNone/>
              <a:defRPr sz="2175" b="0">
                <a:solidFill>
                  <a:srgbClr val="263D33"/>
                </a:solidFill>
                <a:latin typeface="DejaVu Sans"/>
                <a:ea typeface="DejaVu Sans"/>
                <a:cs typeface="DejaVu Sans"/>
              </a:defRPr>
            </a:lvl5pPr>
            <a:lvl6pPr algn="l">
              <a:buNone/>
              <a:defRPr sz="2175" b="0">
                <a:solidFill>
                  <a:srgbClr val="263D33"/>
                </a:solidFill>
                <a:latin typeface="DejaVu Sans"/>
                <a:ea typeface="DejaVu Sans"/>
                <a:cs typeface="DejaVu Sans"/>
              </a:defRPr>
            </a:lvl6pPr>
            <a:lvl7pPr algn="l">
              <a:buNone/>
              <a:defRPr sz="2175" b="0">
                <a:solidFill>
                  <a:srgbClr val="263D33"/>
                </a:solidFill>
                <a:latin typeface="DejaVu Sans"/>
                <a:ea typeface="DejaVu Sans"/>
                <a:cs typeface="DejaVu Sans"/>
              </a:defRPr>
            </a:lvl7pPr>
            <a:lvl8pPr algn="l">
              <a:buNone/>
              <a:defRPr sz="2175" b="0">
                <a:solidFill>
                  <a:srgbClr val="263D33"/>
                </a:solidFill>
                <a:latin typeface="DejaVu Sans"/>
                <a:ea typeface="DejaVu Sans"/>
                <a:cs typeface="DejaVu Sans"/>
              </a:defRPr>
            </a:lvl8pPr>
            <a:lvl9pPr algn="l">
              <a:buNone/>
              <a:defRPr sz="2175" b="0">
                <a:solidFill>
                  <a:srgbClr val="263D33"/>
                </a:solidFill>
                <a:latin typeface="DejaVu Sans"/>
                <a:ea typeface="DejaVu Sans"/>
                <a:cs typeface="DejaVu Sans"/>
              </a:defRPr>
            </a:lvl9pPr>
          </a:lstStyle>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Contactos y estado</a:t>
            </a:r>
          </a:p>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del apoderado.</a:t>
            </a:r>
          </a:p>
        </p:txBody>
      </p:sp>
      <p:sp>
        <p:nvSpPr>
          <p:cNvPr id="7" name="Vínculos e historial&#10;por estudiante.">
            <a:extLst xmlns:a="http://schemas.openxmlformats.org/drawingml/2006/main">
              <a:ext uri="{FF2B5EF4-FFF2-40B4-BE49-F238E27FC236}">
                <a16:creationId xmlns:a16="http://schemas.microsoft.com/office/drawing/2014/main" id="{D7D5D569-DAF3-41B6-A7A3-7D6D90405C77}"/>
              </a:ext>
            </a:extLst>
          </p:cNvPr>
          <p:cNvSpPr>
            <a:spLocks xmlns:a="http://schemas.openxmlformats.org/drawingml/2006/main" noGrp="1"/>
          </p:cNvSpPr>
          <p:nvPr/>
        </p:nvSpPr>
        <p:spPr>
          <a:xfrm xmlns:a="http://schemas.openxmlformats.org/drawingml/2006/main">
            <a:off x="609600" y="3162300"/>
            <a:ext cx="385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D33"/>
                </a:solidFill>
                <a:latin typeface="Helvetica Neue"/>
                <a:ea typeface="Helvetica Neue"/>
                <a:cs typeface="Helvetica Neue"/>
              </a:defRPr>
            </a:defPPr>
            <a:lvl1pPr algn="l">
              <a:buNone/>
              <a:defRPr sz="2175" b="0">
                <a:solidFill>
                  <a:srgbClr val="263D33"/>
                </a:solidFill>
                <a:latin typeface="DejaVu Sans"/>
                <a:ea typeface="DejaVu Sans"/>
                <a:cs typeface="DejaVu Sans"/>
              </a:defRPr>
            </a:lvl1pPr>
            <a:lvl2pPr algn="l">
              <a:buNone/>
              <a:defRPr sz="2175" b="0">
                <a:solidFill>
                  <a:srgbClr val="263D33"/>
                </a:solidFill>
                <a:latin typeface="DejaVu Sans"/>
                <a:ea typeface="DejaVu Sans"/>
                <a:cs typeface="DejaVu Sans"/>
              </a:defRPr>
            </a:lvl2pPr>
            <a:lvl3pPr algn="l">
              <a:buNone/>
              <a:defRPr sz="2175" b="0">
                <a:solidFill>
                  <a:srgbClr val="263D33"/>
                </a:solidFill>
                <a:latin typeface="DejaVu Sans"/>
                <a:ea typeface="DejaVu Sans"/>
                <a:cs typeface="DejaVu Sans"/>
              </a:defRPr>
            </a:lvl3pPr>
            <a:lvl4pPr algn="l">
              <a:buNone/>
              <a:defRPr sz="2175" b="0">
                <a:solidFill>
                  <a:srgbClr val="263D33"/>
                </a:solidFill>
                <a:latin typeface="DejaVu Sans"/>
                <a:ea typeface="DejaVu Sans"/>
                <a:cs typeface="DejaVu Sans"/>
              </a:defRPr>
            </a:lvl4pPr>
            <a:lvl5pPr algn="l">
              <a:buNone/>
              <a:defRPr sz="2175" b="0">
                <a:solidFill>
                  <a:srgbClr val="263D33"/>
                </a:solidFill>
                <a:latin typeface="DejaVu Sans"/>
                <a:ea typeface="DejaVu Sans"/>
                <a:cs typeface="DejaVu Sans"/>
              </a:defRPr>
            </a:lvl5pPr>
            <a:lvl6pPr algn="l">
              <a:buNone/>
              <a:defRPr sz="2175" b="0">
                <a:solidFill>
                  <a:srgbClr val="263D33"/>
                </a:solidFill>
                <a:latin typeface="DejaVu Sans"/>
                <a:ea typeface="DejaVu Sans"/>
                <a:cs typeface="DejaVu Sans"/>
              </a:defRPr>
            </a:lvl6pPr>
            <a:lvl7pPr algn="l">
              <a:buNone/>
              <a:defRPr sz="2175" b="0">
                <a:solidFill>
                  <a:srgbClr val="263D33"/>
                </a:solidFill>
                <a:latin typeface="DejaVu Sans"/>
                <a:ea typeface="DejaVu Sans"/>
                <a:cs typeface="DejaVu Sans"/>
              </a:defRPr>
            </a:lvl7pPr>
            <a:lvl8pPr algn="l">
              <a:buNone/>
              <a:defRPr sz="2175" b="0">
                <a:solidFill>
                  <a:srgbClr val="263D33"/>
                </a:solidFill>
                <a:latin typeface="DejaVu Sans"/>
                <a:ea typeface="DejaVu Sans"/>
                <a:cs typeface="DejaVu Sans"/>
              </a:defRPr>
            </a:lvl8pPr>
            <a:lvl9pPr algn="l">
              <a:buNone/>
              <a:defRPr sz="2175" b="0">
                <a:solidFill>
                  <a:srgbClr val="263D33"/>
                </a:solidFill>
                <a:latin typeface="DejaVu Sans"/>
                <a:ea typeface="DejaVu Sans"/>
                <a:cs typeface="DejaVu Sans"/>
              </a:defRPr>
            </a:lvl9pPr>
          </a:lstStyle>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Vínculos e historial</a:t>
            </a:r>
          </a:p>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por estudiante.</a:t>
            </a:r>
          </a:p>
        </p:txBody>
      </p:sp>
      <p:sp>
        <p:nvSpPr>
          <p:cNvPr id="8" name="Un principal activo&#10;por estudiante.">
            <a:extLst xmlns:a="http://schemas.openxmlformats.org/drawingml/2006/main">
              <a:ext uri="{FF2B5EF4-FFF2-40B4-BE49-F238E27FC236}">
                <a16:creationId xmlns:a16="http://schemas.microsoft.com/office/drawing/2014/main" id="{7CC6F883-B8BF-4B37-8D3C-2CABAECF5620}"/>
              </a:ext>
            </a:extLst>
          </p:cNvPr>
          <p:cNvSpPr>
            <a:spLocks xmlns:a="http://schemas.openxmlformats.org/drawingml/2006/main" noGrp="1"/>
          </p:cNvSpPr>
          <p:nvPr/>
        </p:nvSpPr>
        <p:spPr>
          <a:xfrm xmlns:a="http://schemas.openxmlformats.org/drawingml/2006/main">
            <a:off x="609600" y="4229100"/>
            <a:ext cx="385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D33"/>
                </a:solidFill>
                <a:latin typeface="Helvetica Neue"/>
                <a:ea typeface="Helvetica Neue"/>
                <a:cs typeface="Helvetica Neue"/>
              </a:defRPr>
            </a:defPPr>
            <a:lvl1pPr algn="l">
              <a:buNone/>
              <a:defRPr sz="2175" b="0">
                <a:solidFill>
                  <a:srgbClr val="263D33"/>
                </a:solidFill>
                <a:latin typeface="DejaVu Sans"/>
                <a:ea typeface="DejaVu Sans"/>
                <a:cs typeface="DejaVu Sans"/>
              </a:defRPr>
            </a:lvl1pPr>
            <a:lvl2pPr algn="l">
              <a:buNone/>
              <a:defRPr sz="2175" b="0">
                <a:solidFill>
                  <a:srgbClr val="263D33"/>
                </a:solidFill>
                <a:latin typeface="DejaVu Sans"/>
                <a:ea typeface="DejaVu Sans"/>
                <a:cs typeface="DejaVu Sans"/>
              </a:defRPr>
            </a:lvl2pPr>
            <a:lvl3pPr algn="l">
              <a:buNone/>
              <a:defRPr sz="2175" b="0">
                <a:solidFill>
                  <a:srgbClr val="263D33"/>
                </a:solidFill>
                <a:latin typeface="DejaVu Sans"/>
                <a:ea typeface="DejaVu Sans"/>
                <a:cs typeface="DejaVu Sans"/>
              </a:defRPr>
            </a:lvl3pPr>
            <a:lvl4pPr algn="l">
              <a:buNone/>
              <a:defRPr sz="2175" b="0">
                <a:solidFill>
                  <a:srgbClr val="263D33"/>
                </a:solidFill>
                <a:latin typeface="DejaVu Sans"/>
                <a:ea typeface="DejaVu Sans"/>
                <a:cs typeface="DejaVu Sans"/>
              </a:defRPr>
            </a:lvl4pPr>
            <a:lvl5pPr algn="l">
              <a:buNone/>
              <a:defRPr sz="2175" b="0">
                <a:solidFill>
                  <a:srgbClr val="263D33"/>
                </a:solidFill>
                <a:latin typeface="DejaVu Sans"/>
                <a:ea typeface="DejaVu Sans"/>
                <a:cs typeface="DejaVu Sans"/>
              </a:defRPr>
            </a:lvl5pPr>
            <a:lvl6pPr algn="l">
              <a:buNone/>
              <a:defRPr sz="2175" b="0">
                <a:solidFill>
                  <a:srgbClr val="263D33"/>
                </a:solidFill>
                <a:latin typeface="DejaVu Sans"/>
                <a:ea typeface="DejaVu Sans"/>
                <a:cs typeface="DejaVu Sans"/>
              </a:defRPr>
            </a:lvl6pPr>
            <a:lvl7pPr algn="l">
              <a:buNone/>
              <a:defRPr sz="2175" b="0">
                <a:solidFill>
                  <a:srgbClr val="263D33"/>
                </a:solidFill>
                <a:latin typeface="DejaVu Sans"/>
                <a:ea typeface="DejaVu Sans"/>
                <a:cs typeface="DejaVu Sans"/>
              </a:defRPr>
            </a:lvl7pPr>
            <a:lvl8pPr algn="l">
              <a:buNone/>
              <a:defRPr sz="2175" b="0">
                <a:solidFill>
                  <a:srgbClr val="263D33"/>
                </a:solidFill>
                <a:latin typeface="DejaVu Sans"/>
                <a:ea typeface="DejaVu Sans"/>
                <a:cs typeface="DejaVu Sans"/>
              </a:defRPr>
            </a:lvl8pPr>
            <a:lvl9pPr algn="l">
              <a:buNone/>
              <a:defRPr sz="2175" b="0">
                <a:solidFill>
                  <a:srgbClr val="263D33"/>
                </a:solidFill>
                <a:latin typeface="DejaVu Sans"/>
                <a:ea typeface="DejaVu Sans"/>
                <a:cs typeface="DejaVu Sans"/>
              </a:defRPr>
            </a:lvl9pPr>
          </a:lstStyle>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Un principal activo</a:t>
            </a:r>
          </a:p>
          <a:p xmlns:a="http://schemas.openxmlformats.org/drawingml/2006/main">
            <a:pPr algn="l">
              <a:buNone/>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por estudiante.</a:t>
            </a:r>
          </a:p>
        </p:txBody>
      </p:sp>
      <p:sp>
        <p:nvSpPr>
          <p:cNvPr id="9" name="El alcance actual no incluye un login de apoderados.">
            <a:extLst xmlns:a="http://schemas.openxmlformats.org/drawingml/2006/main">
              <a:ext uri="{FF2B5EF4-FFF2-40B4-BE49-F238E27FC236}">
                <a16:creationId xmlns:a16="http://schemas.microsoft.com/office/drawing/2014/main" id="{B1157778-89C9-4EC9-8DDB-F212E05C5C73}"/>
              </a:ext>
            </a:extLst>
          </p:cNvPr>
          <p:cNvSpPr>
            <a:spLocks xmlns:a="http://schemas.openxmlformats.org/drawingml/2006/main" noGrp="1"/>
          </p:cNvSpPr>
          <p:nvPr/>
        </p:nvSpPr>
        <p:spPr>
          <a:xfrm xmlns:a="http://schemas.openxmlformats.org/drawingml/2006/main">
            <a:off x="609600" y="58864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84C3B"/>
                </a:solidFill>
                <a:latin typeface="Helvetica Neue"/>
                <a:ea typeface="Helvetica Neue"/>
                <a:cs typeface="Helvetica Neue"/>
              </a:defRPr>
            </a:defPPr>
            <a:lvl1pPr algn="l">
              <a:buNone/>
              <a:defRPr sz="1650" b="1">
                <a:solidFill>
                  <a:srgbClr val="184C3B"/>
                </a:solidFill>
                <a:latin typeface="DejaVu Sans"/>
                <a:ea typeface="DejaVu Sans"/>
                <a:cs typeface="DejaVu Sans"/>
              </a:defRPr>
            </a:lvl1pPr>
            <a:lvl2pPr algn="l">
              <a:buNone/>
              <a:defRPr sz="1650" b="1">
                <a:solidFill>
                  <a:srgbClr val="184C3B"/>
                </a:solidFill>
                <a:latin typeface="DejaVu Sans"/>
                <a:ea typeface="DejaVu Sans"/>
                <a:cs typeface="DejaVu Sans"/>
              </a:defRPr>
            </a:lvl2pPr>
            <a:lvl3pPr algn="l">
              <a:buNone/>
              <a:defRPr sz="1650" b="1">
                <a:solidFill>
                  <a:srgbClr val="184C3B"/>
                </a:solidFill>
                <a:latin typeface="DejaVu Sans"/>
                <a:ea typeface="DejaVu Sans"/>
                <a:cs typeface="DejaVu Sans"/>
              </a:defRPr>
            </a:lvl3pPr>
            <a:lvl4pPr algn="l">
              <a:buNone/>
              <a:defRPr sz="1650" b="1">
                <a:solidFill>
                  <a:srgbClr val="184C3B"/>
                </a:solidFill>
                <a:latin typeface="DejaVu Sans"/>
                <a:ea typeface="DejaVu Sans"/>
                <a:cs typeface="DejaVu Sans"/>
              </a:defRPr>
            </a:lvl4pPr>
            <a:lvl5pPr algn="l">
              <a:buNone/>
              <a:defRPr sz="1650" b="1">
                <a:solidFill>
                  <a:srgbClr val="184C3B"/>
                </a:solidFill>
                <a:latin typeface="DejaVu Sans"/>
                <a:ea typeface="DejaVu Sans"/>
                <a:cs typeface="DejaVu Sans"/>
              </a:defRPr>
            </a:lvl5pPr>
            <a:lvl6pPr algn="l">
              <a:buNone/>
              <a:defRPr sz="1650" b="1">
                <a:solidFill>
                  <a:srgbClr val="184C3B"/>
                </a:solidFill>
                <a:latin typeface="DejaVu Sans"/>
                <a:ea typeface="DejaVu Sans"/>
                <a:cs typeface="DejaVu Sans"/>
              </a:defRPr>
            </a:lvl6pPr>
            <a:lvl7pPr algn="l">
              <a:buNone/>
              <a:defRPr sz="1650" b="1">
                <a:solidFill>
                  <a:srgbClr val="184C3B"/>
                </a:solidFill>
                <a:latin typeface="DejaVu Sans"/>
                <a:ea typeface="DejaVu Sans"/>
                <a:cs typeface="DejaVu Sans"/>
              </a:defRPr>
            </a:lvl7pPr>
            <a:lvl8pPr algn="l">
              <a:buNone/>
              <a:defRPr sz="1650" b="1">
                <a:solidFill>
                  <a:srgbClr val="184C3B"/>
                </a:solidFill>
                <a:latin typeface="DejaVu Sans"/>
                <a:ea typeface="DejaVu Sans"/>
                <a:cs typeface="DejaVu Sans"/>
              </a:defRPr>
            </a:lvl8pPr>
            <a:lvl9pPr algn="l">
              <a:buNone/>
              <a:defRPr sz="1650" b="1">
                <a:solidFill>
                  <a:srgbClr val="184C3B"/>
                </a:solidFill>
                <a:latin typeface="DejaVu Sans"/>
                <a:ea typeface="DejaVu Sans"/>
                <a:cs typeface="DejaVu Sans"/>
              </a:defRPr>
            </a:lvl9pPr>
          </a:lstStyle>
          <a:p xmlns:a="http://schemas.openxmlformats.org/drawingml/2006/main">
            <a:pPr algn="l">
              <a:buNone/>
              <a:defRPr sz="1650" b="1">
                <a:solidFill>
                  <a:srgbClr val="184C3B"/>
                </a:solidFill>
                <a:latin typeface="Helvetica Neue"/>
                <a:ea typeface="Helvetica Neue"/>
                <a:cs typeface="Helvetica Neue"/>
              </a:defRPr>
            </a:pPr>
            <a:r>
              <a:rPr sz="1650" b="1">
                <a:solidFill>
                  <a:srgbClr val="184C3B"/>
                </a:solidFill>
                <a:latin typeface="Helvetica Neue"/>
                <a:ea typeface="Helvetica Neue"/>
                <a:cs typeface="Helvetica Neue"/>
              </a:rPr>
              <a:t>El alcance actual no incluye un login de apoderados.</a:t>
            </a:r>
          </a:p>
        </p:txBody>
      </p:sp>
    </p:spTree>
    <p:extLst>
      <p:ext uri="{BB962C8B-B14F-4D97-AF65-F5344CB8AC3E}">
        <p14:creationId xmlns:p14="http://schemas.microsoft.com/office/powerpoint/2010/main" val="958763518"/>
      </p:ext>
    </p:extLst>
  </p:cSld>
</p:sld>
</file>

<file path=ppt/slides/slide9.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0" name="SPRINT 5 / SCRUM-36">
            <a:extLst xmlns:a="http://schemas.openxmlformats.org/drawingml/2006/main">
              <a:ext uri="{FF2B5EF4-FFF2-40B4-BE49-F238E27FC236}">
                <a16:creationId xmlns:a16="http://schemas.microsoft.com/office/drawing/2014/main" id="{F9F33AC0-82FA-4F1E-969E-7FB8556BB806}"/>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SPRINT 5 / SCRUM-36</a:t>
            </a:r>
          </a:p>
        </p:txBody>
      </p:sp>
      <p:sp>
        <p:nvSpPr>
          <p:cNvPr id="2" name="Ficha integral según los permisos">
            <a:extLst xmlns:a="http://schemas.openxmlformats.org/drawingml/2006/main">
              <a:ext uri="{FF2B5EF4-FFF2-40B4-BE49-F238E27FC236}">
                <a16:creationId xmlns:a16="http://schemas.microsoft.com/office/drawing/2014/main" id="{A917A6A8-B2D9-4DD2-A152-75A49A45FE5A}"/>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Ficha integral según los permisos</a:t>
            </a:r>
          </a:p>
        </p:txBody>
      </p:sp>
      <p:sp>
        <p:nvSpPr>
          <p:cNvPr id="3" name="SIGAA  /  Capstone 2026">
            <a:extLst xmlns:a="http://schemas.openxmlformats.org/drawingml/2006/main">
              <a:ext uri="{FF2B5EF4-FFF2-40B4-BE49-F238E27FC236}">
                <a16:creationId xmlns:a16="http://schemas.microsoft.com/office/drawing/2014/main" id="{3A981E21-44C1-444B-9A3F-BF34AC79E0B4}"/>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Agustín  /  Bloque 2 de 3  /  SIGAA</a:t>
            </a:r>
          </a:p>
        </p:txBody>
      </p:sp>
      <p:sp>
        <p:nvSpPr>
          <p:cNvPr id="4" name="08   /   28 oct 2026">
            <a:extLst xmlns:a="http://schemas.openxmlformats.org/drawingml/2006/main">
              <a:ext uri="{FF2B5EF4-FFF2-40B4-BE49-F238E27FC236}">
                <a16:creationId xmlns:a16="http://schemas.microsoft.com/office/drawing/2014/main" id="{6B6D7D40-EB8E-4D6A-B5A8-A8A4A36EF66A}"/>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09 de 18   /   28 oct 2026</a:t>
            </a:r>
          </a:p>
        </p:txBody>
      </p:sp>
      <p:pic>
        <p:nvPicPr>
          <p:cNvPr id="5" name="">
            <a:extLst xmlns:a="http://schemas.openxmlformats.org/drawingml/2006/main">
              <a:ext uri="{FF2B5EF4-FFF2-40B4-BE49-F238E27FC236}">
                <a16:creationId xmlns:a16="http://schemas.microsoft.com/office/drawing/2014/main" id="{BD02C497-0ADB-4908-8A22-6D4A31D96651}"/>
              </a:ext>
            </a:extLst>
          </p:cNvPr>
          <p:cNvPicPr>
            <a:picLocks xmlns:a="http://schemas.openxmlformats.org/drawingml/2006/main" noChangeAspect="1"/>
          </p:cNvPicPr>
          <p:nvPr/>
        </p:nvPicPr>
        <p:blipFill>
          <a:blip xmlns:r="http://schemas.openxmlformats.org/officeDocument/2006/relationships" xmlns:a="http://schemas.openxmlformats.org/drawingml/2006/main" r:embed="Rc0c718fc000b41fa"/>
          <a:stretch xmlns:a="http://schemas.openxmlformats.org/drawingml/2006/main"/>
        </p:blipFill>
        <p:spPr>
          <a:xfrm xmlns:a="http://schemas.openxmlformats.org/drawingml/2006/main">
            <a:off x="8334375" y="1619616"/>
            <a:ext cx="2143125" cy="4637942"/>
          </a:xfrm>
          <a:prstGeom xmlns:a="http://schemas.openxmlformats.org/drawingml/2006/main" prst="rect">
            <a:avLst/>
          </a:prstGeom>
        </p:spPr>
      </p:pic>
      <p:sp>
        <p:nvSpPr>
          <p:cNvPr id="6" name="Reúne matrícula, notas publicadas y asistencia.">
            <a:extLst xmlns:a="http://schemas.openxmlformats.org/drawingml/2006/main">
              <a:ext uri="{FF2B5EF4-FFF2-40B4-BE49-F238E27FC236}">
                <a16:creationId xmlns:a16="http://schemas.microsoft.com/office/drawing/2014/main" id="{2CA563D2-7A02-44F0-BF77-15040F6C88C3}"/>
              </a:ext>
            </a:extLst>
          </p:cNvPr>
          <p:cNvSpPr>
            <a:spLocks xmlns:a="http://schemas.openxmlformats.org/drawingml/2006/main" noGrp="1"/>
          </p:cNvSpPr>
          <p:nvPr/>
        </p:nvSpPr>
        <p:spPr>
          <a:xfrm xmlns:a="http://schemas.openxmlformats.org/drawingml/2006/main">
            <a:off x="609600" y="2076450"/>
            <a:ext cx="71913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D33"/>
                </a:solidFill>
                <a:latin typeface="Helvetica Neue"/>
                <a:ea typeface="Helvetica Neue"/>
                <a:cs typeface="Helvetica Neue"/>
              </a:defRPr>
            </a:defPPr>
            <a:lvl1pPr algn="l">
              <a:buNone/>
              <a:defRPr sz="2250" b="0">
                <a:solidFill>
                  <a:srgbClr val="263D33"/>
                </a:solidFill>
                <a:latin typeface="DejaVu Sans"/>
                <a:ea typeface="DejaVu Sans"/>
                <a:cs typeface="DejaVu Sans"/>
              </a:defRPr>
            </a:lvl1pPr>
            <a:lvl2pPr algn="l">
              <a:buNone/>
              <a:defRPr sz="2250" b="0">
                <a:solidFill>
                  <a:srgbClr val="263D33"/>
                </a:solidFill>
                <a:latin typeface="DejaVu Sans"/>
                <a:ea typeface="DejaVu Sans"/>
                <a:cs typeface="DejaVu Sans"/>
              </a:defRPr>
            </a:lvl2pPr>
            <a:lvl3pPr algn="l">
              <a:buNone/>
              <a:defRPr sz="2250" b="0">
                <a:solidFill>
                  <a:srgbClr val="263D33"/>
                </a:solidFill>
                <a:latin typeface="DejaVu Sans"/>
                <a:ea typeface="DejaVu Sans"/>
                <a:cs typeface="DejaVu Sans"/>
              </a:defRPr>
            </a:lvl3pPr>
            <a:lvl4pPr algn="l">
              <a:buNone/>
              <a:defRPr sz="2250" b="0">
                <a:solidFill>
                  <a:srgbClr val="263D33"/>
                </a:solidFill>
                <a:latin typeface="DejaVu Sans"/>
                <a:ea typeface="DejaVu Sans"/>
                <a:cs typeface="DejaVu Sans"/>
              </a:defRPr>
            </a:lvl4pPr>
            <a:lvl5pPr algn="l">
              <a:buNone/>
              <a:defRPr sz="2250" b="0">
                <a:solidFill>
                  <a:srgbClr val="263D33"/>
                </a:solidFill>
                <a:latin typeface="DejaVu Sans"/>
                <a:ea typeface="DejaVu Sans"/>
                <a:cs typeface="DejaVu Sans"/>
              </a:defRPr>
            </a:lvl5pPr>
            <a:lvl6pPr algn="l">
              <a:buNone/>
              <a:defRPr sz="2250" b="0">
                <a:solidFill>
                  <a:srgbClr val="263D33"/>
                </a:solidFill>
                <a:latin typeface="DejaVu Sans"/>
                <a:ea typeface="DejaVu Sans"/>
                <a:cs typeface="DejaVu Sans"/>
              </a:defRPr>
            </a:lvl6pPr>
            <a:lvl7pPr algn="l">
              <a:buNone/>
              <a:defRPr sz="2250" b="0">
                <a:solidFill>
                  <a:srgbClr val="263D33"/>
                </a:solidFill>
                <a:latin typeface="DejaVu Sans"/>
                <a:ea typeface="DejaVu Sans"/>
                <a:cs typeface="DejaVu Sans"/>
              </a:defRPr>
            </a:lvl7pPr>
            <a:lvl8pPr algn="l">
              <a:buNone/>
              <a:defRPr sz="2250" b="0">
                <a:solidFill>
                  <a:srgbClr val="263D33"/>
                </a:solidFill>
                <a:latin typeface="DejaVu Sans"/>
                <a:ea typeface="DejaVu Sans"/>
                <a:cs typeface="DejaVu Sans"/>
              </a:defRPr>
            </a:lvl8pPr>
            <a:lvl9pPr algn="l">
              <a:buNone/>
              <a:defRPr sz="2250" b="0">
                <a:solidFill>
                  <a:srgbClr val="263D33"/>
                </a:solidFill>
                <a:latin typeface="DejaVu Sans"/>
                <a:ea typeface="DejaVu Sans"/>
                <a:cs typeface="DejaVu Sans"/>
              </a:defRPr>
            </a:lvl9pPr>
          </a:lstStyle>
          <a:p xmlns:a="http://schemas.openxmlformats.org/drawingml/2006/main">
            <a:pPr algn="l">
              <a:buNone/>
              <a:defRPr sz="2250" b="0">
                <a:solidFill>
                  <a:srgbClr val="263D33"/>
                </a:solidFill>
                <a:latin typeface="Helvetica Neue"/>
                <a:ea typeface="Helvetica Neue"/>
                <a:cs typeface="Helvetica Neue"/>
              </a:defRPr>
            </a:pPr>
            <a:r>
              <a:rPr sz="2250" b="0">
                <a:solidFill>
                  <a:srgbClr val="263D33"/>
                </a:solidFill>
                <a:latin typeface="Helvetica Neue"/>
                <a:ea typeface="Helvetica Neue"/>
                <a:cs typeface="Helvetica Neue"/>
              </a:rPr>
              <a:t>Reúne matrícula, notas publicadas y asistencia.</a:t>
            </a:r>
          </a:p>
        </p:txBody>
      </p:sp>
      <p:sp>
        <p:nvSpPr>
          <p:cNvPr id="7" name="El personal autorizado consulta alertas, casos&#10;y víncul">
            <a:extLst xmlns:a="http://schemas.openxmlformats.org/drawingml/2006/main">
              <a:ext uri="{FF2B5EF4-FFF2-40B4-BE49-F238E27FC236}">
                <a16:creationId xmlns:a16="http://schemas.microsoft.com/office/drawing/2014/main" id="{7D6FF343-E11D-4CFF-AADD-119749C25238}"/>
              </a:ext>
            </a:extLst>
          </p:cNvPr>
          <p:cNvSpPr>
            <a:spLocks xmlns:a="http://schemas.openxmlformats.org/drawingml/2006/main" noGrp="1"/>
          </p:cNvSpPr>
          <p:nvPr/>
        </p:nvSpPr>
        <p:spPr>
          <a:xfrm xmlns:a="http://schemas.openxmlformats.org/drawingml/2006/main">
            <a:off x="609600" y="3219450"/>
            <a:ext cx="71913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D33"/>
                </a:solidFill>
                <a:latin typeface="Helvetica Neue"/>
                <a:ea typeface="Helvetica Neue"/>
                <a:cs typeface="Helvetica Neue"/>
              </a:defRPr>
            </a:defPPr>
            <a:lvl1pPr algn="l">
              <a:buNone/>
              <a:defRPr sz="2250" b="0">
                <a:solidFill>
                  <a:srgbClr val="263D33"/>
                </a:solidFill>
                <a:latin typeface="DejaVu Sans"/>
                <a:ea typeface="DejaVu Sans"/>
                <a:cs typeface="DejaVu Sans"/>
              </a:defRPr>
            </a:lvl1pPr>
            <a:lvl2pPr algn="l">
              <a:buNone/>
              <a:defRPr sz="2250" b="0">
                <a:solidFill>
                  <a:srgbClr val="263D33"/>
                </a:solidFill>
                <a:latin typeface="DejaVu Sans"/>
                <a:ea typeface="DejaVu Sans"/>
                <a:cs typeface="DejaVu Sans"/>
              </a:defRPr>
            </a:lvl2pPr>
            <a:lvl3pPr algn="l">
              <a:buNone/>
              <a:defRPr sz="2250" b="0">
                <a:solidFill>
                  <a:srgbClr val="263D33"/>
                </a:solidFill>
                <a:latin typeface="DejaVu Sans"/>
                <a:ea typeface="DejaVu Sans"/>
                <a:cs typeface="DejaVu Sans"/>
              </a:defRPr>
            </a:lvl3pPr>
            <a:lvl4pPr algn="l">
              <a:buNone/>
              <a:defRPr sz="2250" b="0">
                <a:solidFill>
                  <a:srgbClr val="263D33"/>
                </a:solidFill>
                <a:latin typeface="DejaVu Sans"/>
                <a:ea typeface="DejaVu Sans"/>
                <a:cs typeface="DejaVu Sans"/>
              </a:defRPr>
            </a:lvl4pPr>
            <a:lvl5pPr algn="l">
              <a:buNone/>
              <a:defRPr sz="2250" b="0">
                <a:solidFill>
                  <a:srgbClr val="263D33"/>
                </a:solidFill>
                <a:latin typeface="DejaVu Sans"/>
                <a:ea typeface="DejaVu Sans"/>
                <a:cs typeface="DejaVu Sans"/>
              </a:defRPr>
            </a:lvl5pPr>
            <a:lvl6pPr algn="l">
              <a:buNone/>
              <a:defRPr sz="2250" b="0">
                <a:solidFill>
                  <a:srgbClr val="263D33"/>
                </a:solidFill>
                <a:latin typeface="DejaVu Sans"/>
                <a:ea typeface="DejaVu Sans"/>
                <a:cs typeface="DejaVu Sans"/>
              </a:defRPr>
            </a:lvl6pPr>
            <a:lvl7pPr algn="l">
              <a:buNone/>
              <a:defRPr sz="2250" b="0">
                <a:solidFill>
                  <a:srgbClr val="263D33"/>
                </a:solidFill>
                <a:latin typeface="DejaVu Sans"/>
                <a:ea typeface="DejaVu Sans"/>
                <a:cs typeface="DejaVu Sans"/>
              </a:defRPr>
            </a:lvl7pPr>
            <a:lvl8pPr algn="l">
              <a:buNone/>
              <a:defRPr sz="2250" b="0">
                <a:solidFill>
                  <a:srgbClr val="263D33"/>
                </a:solidFill>
                <a:latin typeface="DejaVu Sans"/>
                <a:ea typeface="DejaVu Sans"/>
                <a:cs typeface="DejaVu Sans"/>
              </a:defRPr>
            </a:lvl8pPr>
            <a:lvl9pPr algn="l">
              <a:buNone/>
              <a:defRPr sz="2250" b="0">
                <a:solidFill>
                  <a:srgbClr val="263D33"/>
                </a:solidFill>
                <a:latin typeface="DejaVu Sans"/>
                <a:ea typeface="DejaVu Sans"/>
                <a:cs typeface="DejaVu Sans"/>
              </a:defRPr>
            </a:lvl9pPr>
          </a:lstStyle>
          <a:p xmlns:a="http://schemas.openxmlformats.org/drawingml/2006/main">
            <a:pPr algn="l">
              <a:buNone/>
              <a:defRPr sz="2250" b="0">
                <a:solidFill>
                  <a:srgbClr val="263D33"/>
                </a:solidFill>
                <a:latin typeface="Helvetica Neue"/>
                <a:ea typeface="Helvetica Neue"/>
                <a:cs typeface="Helvetica Neue"/>
              </a:defRPr>
            </a:pPr>
            <a:r>
              <a:rPr sz="2250" b="0">
                <a:solidFill>
                  <a:srgbClr val="263D33"/>
                </a:solidFill>
                <a:latin typeface="Helvetica Neue"/>
                <a:ea typeface="Helvetica Neue"/>
                <a:cs typeface="Helvetica Neue"/>
              </a:rPr>
              <a:t>El personal autorizado consulta alertas, casos</a:t>
            </a:r>
          </a:p>
          <a:p xmlns:a="http://schemas.openxmlformats.org/drawingml/2006/main">
            <a:pPr algn="l">
              <a:buNone/>
              <a:defRPr sz="2250" b="0">
                <a:solidFill>
                  <a:srgbClr val="263D33"/>
                </a:solidFill>
                <a:latin typeface="Helvetica Neue"/>
                <a:ea typeface="Helvetica Neue"/>
                <a:cs typeface="Helvetica Neue"/>
              </a:defRPr>
            </a:pPr>
            <a:r>
              <a:rPr sz="2250" b="0">
                <a:solidFill>
                  <a:srgbClr val="263D33"/>
                </a:solidFill>
                <a:latin typeface="Helvetica Neue"/>
                <a:ea typeface="Helvetica Neue"/>
                <a:cs typeface="Helvetica Neue"/>
              </a:rPr>
              <a:t>y vínculos con apoderados.</a:t>
            </a:r>
          </a:p>
        </p:txBody>
      </p:sp>
      <p:sp>
        <p:nvSpPr>
          <p:cNvPr id="8" name="El estudiante consulta solo sus datos propios&#10;y publica">
            <a:extLst xmlns:a="http://schemas.openxmlformats.org/drawingml/2006/main">
              <a:ext uri="{FF2B5EF4-FFF2-40B4-BE49-F238E27FC236}">
                <a16:creationId xmlns:a16="http://schemas.microsoft.com/office/drawing/2014/main" id="{0D5DA5BE-D866-4DF9-A37F-B8379D51E456}"/>
              </a:ext>
            </a:extLst>
          </p:cNvPr>
          <p:cNvSpPr>
            <a:spLocks xmlns:a="http://schemas.openxmlformats.org/drawingml/2006/main" noGrp="1"/>
          </p:cNvSpPr>
          <p:nvPr/>
        </p:nvSpPr>
        <p:spPr>
          <a:xfrm xmlns:a="http://schemas.openxmlformats.org/drawingml/2006/main">
            <a:off x="609600" y="4362450"/>
            <a:ext cx="71913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D33"/>
                </a:solidFill>
                <a:latin typeface="Helvetica Neue"/>
                <a:ea typeface="Helvetica Neue"/>
                <a:cs typeface="Helvetica Neue"/>
              </a:defRPr>
            </a:defPPr>
            <a:lvl1pPr algn="l">
              <a:buNone/>
              <a:defRPr sz="2250" b="0">
                <a:solidFill>
                  <a:srgbClr val="263D33"/>
                </a:solidFill>
                <a:latin typeface="DejaVu Sans"/>
                <a:ea typeface="DejaVu Sans"/>
                <a:cs typeface="DejaVu Sans"/>
              </a:defRPr>
            </a:lvl1pPr>
            <a:lvl2pPr algn="l">
              <a:buNone/>
              <a:defRPr sz="2250" b="0">
                <a:solidFill>
                  <a:srgbClr val="263D33"/>
                </a:solidFill>
                <a:latin typeface="DejaVu Sans"/>
                <a:ea typeface="DejaVu Sans"/>
                <a:cs typeface="DejaVu Sans"/>
              </a:defRPr>
            </a:lvl2pPr>
            <a:lvl3pPr algn="l">
              <a:buNone/>
              <a:defRPr sz="2250" b="0">
                <a:solidFill>
                  <a:srgbClr val="263D33"/>
                </a:solidFill>
                <a:latin typeface="DejaVu Sans"/>
                <a:ea typeface="DejaVu Sans"/>
                <a:cs typeface="DejaVu Sans"/>
              </a:defRPr>
            </a:lvl3pPr>
            <a:lvl4pPr algn="l">
              <a:buNone/>
              <a:defRPr sz="2250" b="0">
                <a:solidFill>
                  <a:srgbClr val="263D33"/>
                </a:solidFill>
                <a:latin typeface="DejaVu Sans"/>
                <a:ea typeface="DejaVu Sans"/>
                <a:cs typeface="DejaVu Sans"/>
              </a:defRPr>
            </a:lvl4pPr>
            <a:lvl5pPr algn="l">
              <a:buNone/>
              <a:defRPr sz="2250" b="0">
                <a:solidFill>
                  <a:srgbClr val="263D33"/>
                </a:solidFill>
                <a:latin typeface="DejaVu Sans"/>
                <a:ea typeface="DejaVu Sans"/>
                <a:cs typeface="DejaVu Sans"/>
              </a:defRPr>
            </a:lvl5pPr>
            <a:lvl6pPr algn="l">
              <a:buNone/>
              <a:defRPr sz="2250" b="0">
                <a:solidFill>
                  <a:srgbClr val="263D33"/>
                </a:solidFill>
                <a:latin typeface="DejaVu Sans"/>
                <a:ea typeface="DejaVu Sans"/>
                <a:cs typeface="DejaVu Sans"/>
              </a:defRPr>
            </a:lvl6pPr>
            <a:lvl7pPr algn="l">
              <a:buNone/>
              <a:defRPr sz="2250" b="0">
                <a:solidFill>
                  <a:srgbClr val="263D33"/>
                </a:solidFill>
                <a:latin typeface="DejaVu Sans"/>
                <a:ea typeface="DejaVu Sans"/>
                <a:cs typeface="DejaVu Sans"/>
              </a:defRPr>
            </a:lvl7pPr>
            <a:lvl8pPr algn="l">
              <a:buNone/>
              <a:defRPr sz="2250" b="0">
                <a:solidFill>
                  <a:srgbClr val="263D33"/>
                </a:solidFill>
                <a:latin typeface="DejaVu Sans"/>
                <a:ea typeface="DejaVu Sans"/>
                <a:cs typeface="DejaVu Sans"/>
              </a:defRPr>
            </a:lvl8pPr>
            <a:lvl9pPr algn="l">
              <a:buNone/>
              <a:defRPr sz="2250" b="0">
                <a:solidFill>
                  <a:srgbClr val="263D33"/>
                </a:solidFill>
                <a:latin typeface="DejaVu Sans"/>
                <a:ea typeface="DejaVu Sans"/>
                <a:cs typeface="DejaVu Sans"/>
              </a:defRPr>
            </a:lvl9pPr>
          </a:lstStyle>
          <a:p xmlns:a="http://schemas.openxmlformats.org/drawingml/2006/main">
            <a:pPr algn="l">
              <a:buNone/>
              <a:defRPr sz="2250" b="0">
                <a:solidFill>
                  <a:srgbClr val="263D33"/>
                </a:solidFill>
                <a:latin typeface="Helvetica Neue"/>
                <a:ea typeface="Helvetica Neue"/>
                <a:cs typeface="Helvetica Neue"/>
              </a:defRPr>
            </a:pPr>
            <a:r>
              <a:rPr sz="2250" b="0">
                <a:solidFill>
                  <a:srgbClr val="263D33"/>
                </a:solidFill>
                <a:latin typeface="Helvetica Neue"/>
                <a:ea typeface="Helvetica Neue"/>
                <a:cs typeface="Helvetica Neue"/>
              </a:rPr>
              <a:t>El estudiante consulta solo sus datos propios</a:t>
            </a:r>
          </a:p>
          <a:p xmlns:a="http://schemas.openxmlformats.org/drawingml/2006/main">
            <a:pPr algn="l">
              <a:buNone/>
              <a:defRPr sz="2250" b="0">
                <a:solidFill>
                  <a:srgbClr val="263D33"/>
                </a:solidFill>
                <a:latin typeface="Helvetica Neue"/>
                <a:ea typeface="Helvetica Neue"/>
                <a:cs typeface="Helvetica Neue"/>
              </a:defRPr>
            </a:pPr>
            <a:r>
              <a:rPr sz="2250" b="0">
                <a:solidFill>
                  <a:srgbClr val="263D33"/>
                </a:solidFill>
                <a:latin typeface="Helvetica Neue"/>
                <a:ea typeface="Helvetica Neue"/>
                <a:cs typeface="Helvetica Neue"/>
              </a:rPr>
              <a:t>y publicados.</a:t>
            </a:r>
          </a:p>
        </p:txBody>
      </p:sp>
      <p:sp>
        <p:nvSpPr>
          <p:cNvPr id="9" name="Vista móvil de prueba. Hasta 500 registros por sección,">
            <a:extLst xmlns:a="http://schemas.openxmlformats.org/drawingml/2006/main">
              <a:ext uri="{FF2B5EF4-FFF2-40B4-BE49-F238E27FC236}">
                <a16:creationId xmlns:a16="http://schemas.microsoft.com/office/drawing/2014/main" id="{1C419E0B-F517-487A-B937-40066F9DB951}"/>
              </a:ext>
            </a:extLst>
          </p:cNvPr>
          <p:cNvSpPr>
            <a:spLocks xmlns:a="http://schemas.openxmlformats.org/drawingml/2006/main" noGrp="1"/>
          </p:cNvSpPr>
          <p:nvPr/>
        </p:nvSpPr>
        <p:spPr>
          <a:xfrm xmlns:a="http://schemas.openxmlformats.org/drawingml/2006/main">
            <a:off x="609600" y="5886450"/>
            <a:ext cx="7334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53685D"/>
                </a:solidFill>
                <a:latin typeface="Helvetica Neue"/>
                <a:ea typeface="Helvetica Neue"/>
                <a:cs typeface="Helvetica Neue"/>
              </a:defRPr>
            </a:defPPr>
            <a:lvl1pPr algn="l">
              <a:buNone/>
              <a:defRPr sz="1500" b="0">
                <a:solidFill>
                  <a:srgbClr val="53685D"/>
                </a:solidFill>
                <a:latin typeface="DejaVu Sans"/>
                <a:ea typeface="DejaVu Sans"/>
                <a:cs typeface="DejaVu Sans"/>
              </a:defRPr>
            </a:lvl1pPr>
            <a:lvl2pPr algn="l">
              <a:buNone/>
              <a:defRPr sz="1500" b="0">
                <a:solidFill>
                  <a:srgbClr val="53685D"/>
                </a:solidFill>
                <a:latin typeface="DejaVu Sans"/>
                <a:ea typeface="DejaVu Sans"/>
                <a:cs typeface="DejaVu Sans"/>
              </a:defRPr>
            </a:lvl2pPr>
            <a:lvl3pPr algn="l">
              <a:buNone/>
              <a:defRPr sz="1500" b="0">
                <a:solidFill>
                  <a:srgbClr val="53685D"/>
                </a:solidFill>
                <a:latin typeface="DejaVu Sans"/>
                <a:ea typeface="DejaVu Sans"/>
                <a:cs typeface="DejaVu Sans"/>
              </a:defRPr>
            </a:lvl3pPr>
            <a:lvl4pPr algn="l">
              <a:buNone/>
              <a:defRPr sz="1500" b="0">
                <a:solidFill>
                  <a:srgbClr val="53685D"/>
                </a:solidFill>
                <a:latin typeface="DejaVu Sans"/>
                <a:ea typeface="DejaVu Sans"/>
                <a:cs typeface="DejaVu Sans"/>
              </a:defRPr>
            </a:lvl4pPr>
            <a:lvl5pPr algn="l">
              <a:buNone/>
              <a:defRPr sz="1500" b="0">
                <a:solidFill>
                  <a:srgbClr val="53685D"/>
                </a:solidFill>
                <a:latin typeface="DejaVu Sans"/>
                <a:ea typeface="DejaVu Sans"/>
                <a:cs typeface="DejaVu Sans"/>
              </a:defRPr>
            </a:lvl5pPr>
            <a:lvl6pPr algn="l">
              <a:buNone/>
              <a:defRPr sz="1500" b="0">
                <a:solidFill>
                  <a:srgbClr val="53685D"/>
                </a:solidFill>
                <a:latin typeface="DejaVu Sans"/>
                <a:ea typeface="DejaVu Sans"/>
                <a:cs typeface="DejaVu Sans"/>
              </a:defRPr>
            </a:lvl6pPr>
            <a:lvl7pPr algn="l">
              <a:buNone/>
              <a:defRPr sz="1500" b="0">
                <a:solidFill>
                  <a:srgbClr val="53685D"/>
                </a:solidFill>
                <a:latin typeface="DejaVu Sans"/>
                <a:ea typeface="DejaVu Sans"/>
                <a:cs typeface="DejaVu Sans"/>
              </a:defRPr>
            </a:lvl7pPr>
            <a:lvl8pPr algn="l">
              <a:buNone/>
              <a:defRPr sz="1500" b="0">
                <a:solidFill>
                  <a:srgbClr val="53685D"/>
                </a:solidFill>
                <a:latin typeface="DejaVu Sans"/>
                <a:ea typeface="DejaVu Sans"/>
                <a:cs typeface="DejaVu Sans"/>
              </a:defRPr>
            </a:lvl8pPr>
            <a:lvl9pPr algn="l">
              <a:buNone/>
              <a:defRPr sz="1500" b="0">
                <a:solidFill>
                  <a:srgbClr val="53685D"/>
                </a:solidFill>
                <a:latin typeface="DejaVu Sans"/>
                <a:ea typeface="DejaVu Sans"/>
                <a:cs typeface="DejaVu Sans"/>
              </a:defRPr>
            </a:lvl9pPr>
          </a:lstStyle>
          <a:p xmlns:a="http://schemas.openxmlformats.org/drawingml/2006/main">
            <a:pPr algn="l">
              <a:buNone/>
              <a:defRPr sz="1500" b="0">
                <a:solidFill>
                  <a:srgbClr val="53685D"/>
                </a:solidFill>
                <a:latin typeface="Helvetica Neue"/>
                <a:ea typeface="Helvetica Neue"/>
                <a:cs typeface="Helvetica Neue"/>
              </a:defRPr>
            </a:pPr>
            <a:r>
              <a:rPr sz="1500" b="0">
                <a:solidFill>
                  <a:srgbClr val="53685D"/>
                </a:solidFill>
                <a:latin typeface="Helvetica Neue"/>
                <a:ea typeface="Helvetica Neue"/>
                <a:cs typeface="Helvetica Neue"/>
              </a:rPr>
              <a:t>Vista móvil de prueba. Hasta 500 registros por sección, con aviso de límite.</a:t>
            </a:r>
          </a:p>
        </p:txBody>
      </p:sp>
    </p:spTree>
    <p:extLst>
      <p:ext uri="{BB962C8B-B14F-4D97-AF65-F5344CB8AC3E}">
        <p14:creationId xmlns:p14="http://schemas.microsoft.com/office/powerpoint/2010/main" val="2089602851"/>
      </p:ext>
    </p:extLst>
  </p:cSld>
</p:sld>
</file>

<file path=ppt/slides/slide10.xml><?xml version="1.0" encoding="utf-8"?>
<p:sld xmlns:p="http://schemas.openxmlformats.org/presentationml/2006/main">
  <p:cSld>
    <p:bg>
      <p:bgPr>
        <a:solidFill xmlns:a="http://schemas.openxmlformats.org/drawingml/2006/main">
          <a:srgbClr val="184C3B"/>
        </a:solidFill>
      </p:bgPr>
    </p:bg>
    <p:spTree>
      <p:nvGrpSpPr>
        <p:cNvPr id="1" name=""/>
        <p:cNvGrpSpPr/>
        <p:nvPr/>
      </p:nvGrpSpPr>
      <p:grpSpPr>
        <a:xfrm xmlns:a="http://schemas.openxmlformats.org/drawingml/2006/main"/>
      </p:grpSpPr>
      <p:sp>
        <p:nvSpPr>
          <p:cNvPr id="12" name="VERIFICACIÓN DEL 28 DE OCTUBRE">
            <a:extLst xmlns:a="http://schemas.openxmlformats.org/drawingml/2006/main">
              <a:ext uri="{FF2B5EF4-FFF2-40B4-BE49-F238E27FC236}">
                <a16:creationId xmlns:a16="http://schemas.microsoft.com/office/drawing/2014/main" id="{54762123-795E-4DA9-96B4-058F6F3C699E}"/>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D9BC7A"/>
                </a:solidFill>
                <a:latin typeface="Helvetica Neue"/>
                <a:ea typeface="Helvetica Neue"/>
                <a:cs typeface="Helvetica Neue"/>
              </a:defRPr>
            </a:defPPr>
            <a:lvl1pPr algn="l">
              <a:buNone/>
              <a:defRPr sz="1200" b="1">
                <a:solidFill>
                  <a:srgbClr val="D9BC7A"/>
                </a:solidFill>
                <a:latin typeface="DejaVu Sans"/>
                <a:ea typeface="DejaVu Sans"/>
                <a:cs typeface="DejaVu Sans"/>
              </a:defRPr>
            </a:lvl1pPr>
            <a:lvl2pPr algn="l">
              <a:buNone/>
              <a:defRPr sz="1200" b="1">
                <a:solidFill>
                  <a:srgbClr val="D9BC7A"/>
                </a:solidFill>
                <a:latin typeface="DejaVu Sans"/>
                <a:ea typeface="DejaVu Sans"/>
                <a:cs typeface="DejaVu Sans"/>
              </a:defRPr>
            </a:lvl2pPr>
            <a:lvl3pPr algn="l">
              <a:buNone/>
              <a:defRPr sz="1200" b="1">
                <a:solidFill>
                  <a:srgbClr val="D9BC7A"/>
                </a:solidFill>
                <a:latin typeface="DejaVu Sans"/>
                <a:ea typeface="DejaVu Sans"/>
                <a:cs typeface="DejaVu Sans"/>
              </a:defRPr>
            </a:lvl3pPr>
            <a:lvl4pPr algn="l">
              <a:buNone/>
              <a:defRPr sz="1200" b="1">
                <a:solidFill>
                  <a:srgbClr val="D9BC7A"/>
                </a:solidFill>
                <a:latin typeface="DejaVu Sans"/>
                <a:ea typeface="DejaVu Sans"/>
                <a:cs typeface="DejaVu Sans"/>
              </a:defRPr>
            </a:lvl4pPr>
            <a:lvl5pPr algn="l">
              <a:buNone/>
              <a:defRPr sz="1200" b="1">
                <a:solidFill>
                  <a:srgbClr val="D9BC7A"/>
                </a:solidFill>
                <a:latin typeface="DejaVu Sans"/>
                <a:ea typeface="DejaVu Sans"/>
                <a:cs typeface="DejaVu Sans"/>
              </a:defRPr>
            </a:lvl5pPr>
            <a:lvl6pPr algn="l">
              <a:buNone/>
              <a:defRPr sz="1200" b="1">
                <a:solidFill>
                  <a:srgbClr val="D9BC7A"/>
                </a:solidFill>
                <a:latin typeface="DejaVu Sans"/>
                <a:ea typeface="DejaVu Sans"/>
                <a:cs typeface="DejaVu Sans"/>
              </a:defRPr>
            </a:lvl6pPr>
            <a:lvl7pPr algn="l">
              <a:buNone/>
              <a:defRPr sz="1200" b="1">
                <a:solidFill>
                  <a:srgbClr val="D9BC7A"/>
                </a:solidFill>
                <a:latin typeface="DejaVu Sans"/>
                <a:ea typeface="DejaVu Sans"/>
                <a:cs typeface="DejaVu Sans"/>
              </a:defRPr>
            </a:lvl7pPr>
            <a:lvl8pPr algn="l">
              <a:buNone/>
              <a:defRPr sz="1200" b="1">
                <a:solidFill>
                  <a:srgbClr val="D9BC7A"/>
                </a:solidFill>
                <a:latin typeface="DejaVu Sans"/>
                <a:ea typeface="DejaVu Sans"/>
                <a:cs typeface="DejaVu Sans"/>
              </a:defRPr>
            </a:lvl8pPr>
            <a:lvl9pPr algn="l">
              <a:buNone/>
              <a:defRPr sz="1200" b="1">
                <a:solidFill>
                  <a:srgbClr val="D9BC7A"/>
                </a:solidFill>
                <a:latin typeface="DejaVu Sans"/>
                <a:ea typeface="DejaVu Sans"/>
                <a:cs typeface="DejaVu Sans"/>
              </a:defRPr>
            </a:lvl9pPr>
          </a:lstStyle>
          <a:p xmlns:a="http://schemas.openxmlformats.org/drawingml/2006/main">
            <a:pPr algn="l">
              <a:buNone/>
              <a:defRPr sz="1200" b="1">
                <a:solidFill>
                  <a:srgbClr val="D9BC7A"/>
                </a:solidFill>
                <a:latin typeface="Helvetica Neue"/>
                <a:ea typeface="Helvetica Neue"/>
                <a:cs typeface="Helvetica Neue"/>
              </a:defRPr>
            </a:pPr>
            <a:r>
              <a:rPr sz="1200" b="1">
                <a:solidFill>
                  <a:srgbClr val="D9BC7A"/>
                </a:solidFill>
                <a:latin typeface="Helvetica Neue"/>
                <a:ea typeface="Helvetica Neue"/>
                <a:cs typeface="Helvetica Neue"/>
              </a:rPr>
              <a:t>VERIFICACIÓN DEL 28 DE OCTUBRE</a:t>
            </a:r>
          </a:p>
        </p:txBody>
      </p:sp>
      <p:sp>
        <p:nvSpPr>
          <p:cNvPr id="2" name="Evidencia de calidad del incremento">
            <a:extLst xmlns:a="http://schemas.openxmlformats.org/drawingml/2006/main">
              <a:ext uri="{FF2B5EF4-FFF2-40B4-BE49-F238E27FC236}">
                <a16:creationId xmlns:a16="http://schemas.microsoft.com/office/drawing/2014/main" id="{DD6F1106-88AD-4A5D-846E-16BC85E22844}"/>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FFFFF"/>
                </a:solidFill>
                <a:latin typeface="Georgia"/>
                <a:ea typeface="Georgia"/>
                <a:cs typeface="Georgia"/>
              </a:defRPr>
            </a:defPPr>
            <a:lvl1pPr algn="l">
              <a:buNone/>
              <a:defRPr sz="3300" b="1">
                <a:solidFill>
                  <a:srgbClr val="FFFFFF"/>
                </a:solidFill>
                <a:latin typeface="DejaVu Sans"/>
                <a:ea typeface="DejaVu Sans"/>
                <a:cs typeface="DejaVu Sans"/>
              </a:defRPr>
            </a:lvl1pPr>
            <a:lvl2pPr algn="l">
              <a:buNone/>
              <a:defRPr sz="3300" b="1">
                <a:solidFill>
                  <a:srgbClr val="FFFFFF"/>
                </a:solidFill>
                <a:latin typeface="DejaVu Sans"/>
                <a:ea typeface="DejaVu Sans"/>
                <a:cs typeface="DejaVu Sans"/>
              </a:defRPr>
            </a:lvl2pPr>
            <a:lvl3pPr algn="l">
              <a:buNone/>
              <a:defRPr sz="3300" b="1">
                <a:solidFill>
                  <a:srgbClr val="FFFFFF"/>
                </a:solidFill>
                <a:latin typeface="DejaVu Sans"/>
                <a:ea typeface="DejaVu Sans"/>
                <a:cs typeface="DejaVu Sans"/>
              </a:defRPr>
            </a:lvl3pPr>
            <a:lvl4pPr algn="l">
              <a:buNone/>
              <a:defRPr sz="3300" b="1">
                <a:solidFill>
                  <a:srgbClr val="FFFFFF"/>
                </a:solidFill>
                <a:latin typeface="DejaVu Sans"/>
                <a:ea typeface="DejaVu Sans"/>
                <a:cs typeface="DejaVu Sans"/>
              </a:defRPr>
            </a:lvl4pPr>
            <a:lvl5pPr algn="l">
              <a:buNone/>
              <a:defRPr sz="3300" b="1">
                <a:solidFill>
                  <a:srgbClr val="FFFFFF"/>
                </a:solidFill>
                <a:latin typeface="DejaVu Sans"/>
                <a:ea typeface="DejaVu Sans"/>
                <a:cs typeface="DejaVu Sans"/>
              </a:defRPr>
            </a:lvl5pPr>
            <a:lvl6pPr algn="l">
              <a:buNone/>
              <a:defRPr sz="3300" b="1">
                <a:solidFill>
                  <a:srgbClr val="FFFFFF"/>
                </a:solidFill>
                <a:latin typeface="DejaVu Sans"/>
                <a:ea typeface="DejaVu Sans"/>
                <a:cs typeface="DejaVu Sans"/>
              </a:defRPr>
            </a:lvl6pPr>
            <a:lvl7pPr algn="l">
              <a:buNone/>
              <a:defRPr sz="3300" b="1">
                <a:solidFill>
                  <a:srgbClr val="FFFFFF"/>
                </a:solidFill>
                <a:latin typeface="DejaVu Sans"/>
                <a:ea typeface="DejaVu Sans"/>
                <a:cs typeface="DejaVu Sans"/>
              </a:defRPr>
            </a:lvl7pPr>
            <a:lvl8pPr algn="l">
              <a:buNone/>
              <a:defRPr sz="3300" b="1">
                <a:solidFill>
                  <a:srgbClr val="FFFFFF"/>
                </a:solidFill>
                <a:latin typeface="DejaVu Sans"/>
                <a:ea typeface="DejaVu Sans"/>
                <a:cs typeface="DejaVu Sans"/>
              </a:defRPr>
            </a:lvl8pPr>
            <a:lvl9pPr algn="l">
              <a:buNone/>
              <a:defRPr sz="3300" b="1">
                <a:solidFill>
                  <a:srgbClr val="FFFFFF"/>
                </a:solidFill>
                <a:latin typeface="DejaVu Sans"/>
                <a:ea typeface="DejaVu Sans"/>
                <a:cs typeface="DejaVu Sans"/>
              </a:defRPr>
            </a:lvl9pPr>
          </a:lstStyle>
          <a:p xmlns:a="http://schemas.openxmlformats.org/drawingml/2006/main">
            <a:pPr algn="l">
              <a:buNone/>
              <a:defRPr sz="3300" b="0">
                <a:solidFill>
                  <a:srgbClr val="FFFFFF"/>
                </a:solidFill>
                <a:latin typeface="Georgia"/>
                <a:ea typeface="Georgia"/>
                <a:cs typeface="Georgia"/>
              </a:defRPr>
            </a:pPr>
            <a:r>
              <a:rPr sz="3300" b="0">
                <a:solidFill>
                  <a:srgbClr val="FFFFFF"/>
                </a:solidFill>
                <a:latin typeface="Georgia"/>
                <a:ea typeface="Georgia"/>
                <a:cs typeface="Georgia"/>
              </a:rPr>
              <a:t>Evidencia de calidad del incremento</a:t>
            </a:r>
          </a:p>
        </p:txBody>
      </p:sp>
      <p:sp>
        <p:nvSpPr>
          <p:cNvPr id="3" name="SIGAA  /  Capstone 2026">
            <a:extLst xmlns:a="http://schemas.openxmlformats.org/drawingml/2006/main">
              <a:ext uri="{FF2B5EF4-FFF2-40B4-BE49-F238E27FC236}">
                <a16:creationId xmlns:a16="http://schemas.microsoft.com/office/drawing/2014/main" id="{BE8713EB-5404-4599-A4C7-8F553B49EEE6}"/>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D3E0D7"/>
                </a:solidFill>
                <a:latin typeface="Helvetica Neue"/>
                <a:ea typeface="Helvetica Neue"/>
                <a:cs typeface="Helvetica Neue"/>
              </a:defRPr>
            </a:defPPr>
            <a:lvl1pPr algn="l">
              <a:buNone/>
              <a:defRPr sz="1050" b="0">
                <a:solidFill>
                  <a:srgbClr val="D3E0D7"/>
                </a:solidFill>
                <a:latin typeface="DejaVu Sans"/>
                <a:ea typeface="DejaVu Sans"/>
                <a:cs typeface="DejaVu Sans"/>
              </a:defRPr>
            </a:lvl1pPr>
            <a:lvl2pPr algn="l">
              <a:buNone/>
              <a:defRPr sz="1050" b="0">
                <a:solidFill>
                  <a:srgbClr val="D3E0D7"/>
                </a:solidFill>
                <a:latin typeface="DejaVu Sans"/>
                <a:ea typeface="DejaVu Sans"/>
                <a:cs typeface="DejaVu Sans"/>
              </a:defRPr>
            </a:lvl2pPr>
            <a:lvl3pPr algn="l">
              <a:buNone/>
              <a:defRPr sz="1050" b="0">
                <a:solidFill>
                  <a:srgbClr val="D3E0D7"/>
                </a:solidFill>
                <a:latin typeface="DejaVu Sans"/>
                <a:ea typeface="DejaVu Sans"/>
                <a:cs typeface="DejaVu Sans"/>
              </a:defRPr>
            </a:lvl3pPr>
            <a:lvl4pPr algn="l">
              <a:buNone/>
              <a:defRPr sz="1050" b="0">
                <a:solidFill>
                  <a:srgbClr val="D3E0D7"/>
                </a:solidFill>
                <a:latin typeface="DejaVu Sans"/>
                <a:ea typeface="DejaVu Sans"/>
                <a:cs typeface="DejaVu Sans"/>
              </a:defRPr>
            </a:lvl4pPr>
            <a:lvl5pPr algn="l">
              <a:buNone/>
              <a:defRPr sz="1050" b="0">
                <a:solidFill>
                  <a:srgbClr val="D3E0D7"/>
                </a:solidFill>
                <a:latin typeface="DejaVu Sans"/>
                <a:ea typeface="DejaVu Sans"/>
                <a:cs typeface="DejaVu Sans"/>
              </a:defRPr>
            </a:lvl5pPr>
            <a:lvl6pPr algn="l">
              <a:buNone/>
              <a:defRPr sz="1050" b="0">
                <a:solidFill>
                  <a:srgbClr val="D3E0D7"/>
                </a:solidFill>
                <a:latin typeface="DejaVu Sans"/>
                <a:ea typeface="DejaVu Sans"/>
                <a:cs typeface="DejaVu Sans"/>
              </a:defRPr>
            </a:lvl6pPr>
            <a:lvl7pPr algn="l">
              <a:buNone/>
              <a:defRPr sz="1050" b="0">
                <a:solidFill>
                  <a:srgbClr val="D3E0D7"/>
                </a:solidFill>
                <a:latin typeface="DejaVu Sans"/>
                <a:ea typeface="DejaVu Sans"/>
                <a:cs typeface="DejaVu Sans"/>
              </a:defRPr>
            </a:lvl7pPr>
            <a:lvl8pPr algn="l">
              <a:buNone/>
              <a:defRPr sz="1050" b="0">
                <a:solidFill>
                  <a:srgbClr val="D3E0D7"/>
                </a:solidFill>
                <a:latin typeface="DejaVu Sans"/>
                <a:ea typeface="DejaVu Sans"/>
                <a:cs typeface="DejaVu Sans"/>
              </a:defRPr>
            </a:lvl8pPr>
            <a:lvl9pPr algn="l">
              <a:buNone/>
              <a:defRPr sz="1050" b="0">
                <a:solidFill>
                  <a:srgbClr val="D3E0D7"/>
                </a:solidFill>
                <a:latin typeface="DejaVu Sans"/>
                <a:ea typeface="DejaVu Sans"/>
                <a:cs typeface="DejaVu Sans"/>
              </a:defRPr>
            </a:lvl9pPr>
          </a:lstStyle>
          <a:p xmlns:a="http://schemas.openxmlformats.org/drawingml/2006/main">
            <a:pPr algn="l">
              <a:buNone/>
              <a:defRPr sz="1050" b="0">
                <a:solidFill>
                  <a:srgbClr val="D3E0D7"/>
                </a:solidFill>
                <a:latin typeface="Helvetica Neue"/>
                <a:ea typeface="Helvetica Neue"/>
                <a:cs typeface="Helvetica Neue"/>
              </a:defRPr>
            </a:pPr>
            <a:r>
              <a:rPr sz="1050" b="0">
                <a:solidFill>
                  <a:srgbClr val="D3E0D7"/>
                </a:solidFill>
                <a:latin typeface="Helvetica Neue"/>
                <a:ea typeface="Helvetica Neue"/>
                <a:cs typeface="Helvetica Neue"/>
              </a:rPr>
              <a:t>Agustín  /  Bloque 2 de 3  /  SIGAA</a:t>
            </a:r>
          </a:p>
        </p:txBody>
      </p:sp>
      <p:sp>
        <p:nvSpPr>
          <p:cNvPr id="4" name="09   /   28 oct 2026">
            <a:extLst xmlns:a="http://schemas.openxmlformats.org/drawingml/2006/main">
              <a:ext uri="{FF2B5EF4-FFF2-40B4-BE49-F238E27FC236}">
                <a16:creationId xmlns:a16="http://schemas.microsoft.com/office/drawing/2014/main" id="{791463F9-640B-4F7F-8ACE-EDD06489527F}"/>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D3E0D7"/>
                </a:solidFill>
                <a:latin typeface="Helvetica Neue"/>
                <a:ea typeface="Helvetica Neue"/>
                <a:cs typeface="Helvetica Neue"/>
              </a:defRPr>
            </a:defPPr>
            <a:lvl1pPr algn="l">
              <a:buNone/>
              <a:defRPr sz="1050" b="0">
                <a:solidFill>
                  <a:srgbClr val="D3E0D7"/>
                </a:solidFill>
                <a:latin typeface="DejaVu Sans"/>
                <a:ea typeface="DejaVu Sans"/>
                <a:cs typeface="DejaVu Sans"/>
              </a:defRPr>
            </a:lvl1pPr>
            <a:lvl2pPr algn="l">
              <a:buNone/>
              <a:defRPr sz="1050" b="0">
                <a:solidFill>
                  <a:srgbClr val="D3E0D7"/>
                </a:solidFill>
                <a:latin typeface="DejaVu Sans"/>
                <a:ea typeface="DejaVu Sans"/>
                <a:cs typeface="DejaVu Sans"/>
              </a:defRPr>
            </a:lvl2pPr>
            <a:lvl3pPr algn="l">
              <a:buNone/>
              <a:defRPr sz="1050" b="0">
                <a:solidFill>
                  <a:srgbClr val="D3E0D7"/>
                </a:solidFill>
                <a:latin typeface="DejaVu Sans"/>
                <a:ea typeface="DejaVu Sans"/>
                <a:cs typeface="DejaVu Sans"/>
              </a:defRPr>
            </a:lvl3pPr>
            <a:lvl4pPr algn="l">
              <a:buNone/>
              <a:defRPr sz="1050" b="0">
                <a:solidFill>
                  <a:srgbClr val="D3E0D7"/>
                </a:solidFill>
                <a:latin typeface="DejaVu Sans"/>
                <a:ea typeface="DejaVu Sans"/>
                <a:cs typeface="DejaVu Sans"/>
              </a:defRPr>
            </a:lvl4pPr>
            <a:lvl5pPr algn="l">
              <a:buNone/>
              <a:defRPr sz="1050" b="0">
                <a:solidFill>
                  <a:srgbClr val="D3E0D7"/>
                </a:solidFill>
                <a:latin typeface="DejaVu Sans"/>
                <a:ea typeface="DejaVu Sans"/>
                <a:cs typeface="DejaVu Sans"/>
              </a:defRPr>
            </a:lvl5pPr>
            <a:lvl6pPr algn="l">
              <a:buNone/>
              <a:defRPr sz="1050" b="0">
                <a:solidFill>
                  <a:srgbClr val="D3E0D7"/>
                </a:solidFill>
                <a:latin typeface="DejaVu Sans"/>
                <a:ea typeface="DejaVu Sans"/>
                <a:cs typeface="DejaVu Sans"/>
              </a:defRPr>
            </a:lvl6pPr>
            <a:lvl7pPr algn="l">
              <a:buNone/>
              <a:defRPr sz="1050" b="0">
                <a:solidFill>
                  <a:srgbClr val="D3E0D7"/>
                </a:solidFill>
                <a:latin typeface="DejaVu Sans"/>
                <a:ea typeface="DejaVu Sans"/>
                <a:cs typeface="DejaVu Sans"/>
              </a:defRPr>
            </a:lvl7pPr>
            <a:lvl8pPr algn="l">
              <a:buNone/>
              <a:defRPr sz="1050" b="0">
                <a:solidFill>
                  <a:srgbClr val="D3E0D7"/>
                </a:solidFill>
                <a:latin typeface="DejaVu Sans"/>
                <a:ea typeface="DejaVu Sans"/>
                <a:cs typeface="DejaVu Sans"/>
              </a:defRPr>
            </a:lvl8pPr>
            <a:lvl9pPr algn="l">
              <a:buNone/>
              <a:defRPr sz="1050" b="0">
                <a:solidFill>
                  <a:srgbClr val="D3E0D7"/>
                </a:solidFill>
                <a:latin typeface="DejaVu Sans"/>
                <a:ea typeface="DejaVu Sans"/>
                <a:cs typeface="DejaVu Sans"/>
              </a:defRPr>
            </a:lvl9pPr>
          </a:lstStyle>
          <a:p xmlns:a="http://schemas.openxmlformats.org/drawingml/2006/main">
            <a:pPr algn="l">
              <a:buNone/>
              <a:defRPr sz="1050" b="0">
                <a:solidFill>
                  <a:srgbClr val="D3E0D7"/>
                </a:solidFill>
                <a:latin typeface="Helvetica Neue"/>
                <a:ea typeface="Helvetica Neue"/>
                <a:cs typeface="Helvetica Neue"/>
              </a:defRPr>
            </a:pPr>
            <a:r>
              <a:rPr sz="1050" b="0">
                <a:solidFill>
                  <a:srgbClr val="D3E0D7"/>
                </a:solidFill>
                <a:latin typeface="Helvetica Neue"/>
                <a:ea typeface="Helvetica Neue"/>
                <a:cs typeface="Helvetica Neue"/>
              </a:rPr>
              <a:t>10 de 18   /   28 oct 2026</a:t>
            </a:r>
          </a:p>
        </p:txBody>
      </p:sp>
      <p:sp>
        <p:nvSpPr>
          <p:cNvPr id="5" name="63">
            <a:extLst xmlns:a="http://schemas.openxmlformats.org/drawingml/2006/main">
              <a:ext uri="{FF2B5EF4-FFF2-40B4-BE49-F238E27FC236}">
                <a16:creationId xmlns:a16="http://schemas.microsoft.com/office/drawing/2014/main" id="{3A4ABC22-BFE6-4B5D-ACA4-17E3C98FA014}"/>
              </a:ext>
            </a:extLst>
          </p:cNvPr>
          <p:cNvSpPr>
            <a:spLocks xmlns:a="http://schemas.openxmlformats.org/drawingml/2006/main" noGrp="1"/>
          </p:cNvSpPr>
          <p:nvPr/>
        </p:nvSpPr>
        <p:spPr>
          <a:xfrm xmlns:a="http://schemas.openxmlformats.org/drawingml/2006/main">
            <a:off x="609600" y="2009775"/>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200" b="0">
                <a:solidFill>
                  <a:srgbClr val="FFFFFF"/>
                </a:solidFill>
                <a:latin typeface="Georgia"/>
                <a:ea typeface="Georgia"/>
                <a:cs typeface="Georgia"/>
              </a:defRPr>
            </a:defPPr>
            <a:lvl1pPr algn="l">
              <a:buNone/>
              <a:defRPr sz="7200" b="1">
                <a:solidFill>
                  <a:srgbClr val="FFFFFF"/>
                </a:solidFill>
                <a:latin typeface="DejaVu Sans"/>
                <a:ea typeface="DejaVu Sans"/>
                <a:cs typeface="DejaVu Sans"/>
              </a:defRPr>
            </a:lvl1pPr>
            <a:lvl2pPr algn="l">
              <a:buNone/>
              <a:defRPr sz="7200" b="1">
                <a:solidFill>
                  <a:srgbClr val="FFFFFF"/>
                </a:solidFill>
                <a:latin typeface="DejaVu Sans"/>
                <a:ea typeface="DejaVu Sans"/>
                <a:cs typeface="DejaVu Sans"/>
              </a:defRPr>
            </a:lvl2pPr>
            <a:lvl3pPr algn="l">
              <a:buNone/>
              <a:defRPr sz="7200" b="1">
                <a:solidFill>
                  <a:srgbClr val="FFFFFF"/>
                </a:solidFill>
                <a:latin typeface="DejaVu Sans"/>
                <a:ea typeface="DejaVu Sans"/>
                <a:cs typeface="DejaVu Sans"/>
              </a:defRPr>
            </a:lvl3pPr>
            <a:lvl4pPr algn="l">
              <a:buNone/>
              <a:defRPr sz="7200" b="1">
                <a:solidFill>
                  <a:srgbClr val="FFFFFF"/>
                </a:solidFill>
                <a:latin typeface="DejaVu Sans"/>
                <a:ea typeface="DejaVu Sans"/>
                <a:cs typeface="DejaVu Sans"/>
              </a:defRPr>
            </a:lvl4pPr>
            <a:lvl5pPr algn="l">
              <a:buNone/>
              <a:defRPr sz="7200" b="1">
                <a:solidFill>
                  <a:srgbClr val="FFFFFF"/>
                </a:solidFill>
                <a:latin typeface="DejaVu Sans"/>
                <a:ea typeface="DejaVu Sans"/>
                <a:cs typeface="DejaVu Sans"/>
              </a:defRPr>
            </a:lvl5pPr>
            <a:lvl6pPr algn="l">
              <a:buNone/>
              <a:defRPr sz="7200" b="1">
                <a:solidFill>
                  <a:srgbClr val="FFFFFF"/>
                </a:solidFill>
                <a:latin typeface="DejaVu Sans"/>
                <a:ea typeface="DejaVu Sans"/>
                <a:cs typeface="DejaVu Sans"/>
              </a:defRPr>
            </a:lvl6pPr>
            <a:lvl7pPr algn="l">
              <a:buNone/>
              <a:defRPr sz="7200" b="1">
                <a:solidFill>
                  <a:srgbClr val="FFFFFF"/>
                </a:solidFill>
                <a:latin typeface="DejaVu Sans"/>
                <a:ea typeface="DejaVu Sans"/>
                <a:cs typeface="DejaVu Sans"/>
              </a:defRPr>
            </a:lvl7pPr>
            <a:lvl8pPr algn="l">
              <a:buNone/>
              <a:defRPr sz="7200" b="1">
                <a:solidFill>
                  <a:srgbClr val="FFFFFF"/>
                </a:solidFill>
                <a:latin typeface="DejaVu Sans"/>
                <a:ea typeface="DejaVu Sans"/>
                <a:cs typeface="DejaVu Sans"/>
              </a:defRPr>
            </a:lvl8pPr>
            <a:lvl9pPr algn="l">
              <a:buNone/>
              <a:defRPr sz="7200" b="1">
                <a:solidFill>
                  <a:srgbClr val="FFFFFF"/>
                </a:solidFill>
                <a:latin typeface="DejaVu Sans"/>
                <a:ea typeface="DejaVu Sans"/>
                <a:cs typeface="DejaVu Sans"/>
              </a:defRPr>
            </a:lvl9pPr>
          </a:lstStyle>
          <a:p xmlns:a="http://schemas.openxmlformats.org/drawingml/2006/main">
            <a:pPr algn="l">
              <a:buNone/>
              <a:defRPr sz="7200" b="0">
                <a:solidFill>
                  <a:srgbClr val="FFFFFF"/>
                </a:solidFill>
                <a:latin typeface="Georgia"/>
                <a:ea typeface="Georgia"/>
                <a:cs typeface="Georgia"/>
              </a:defRPr>
            </a:pPr>
            <a:r>
              <a:rPr sz="7200" b="0">
                <a:solidFill>
                  <a:srgbClr val="FFFFFF"/>
                </a:solidFill>
                <a:latin typeface="Georgia"/>
                <a:ea typeface="Georgia"/>
                <a:cs typeface="Georgia"/>
              </a:rPr>
              <a:t>63</a:t>
            </a:r>
          </a:p>
        </p:txBody>
      </p:sp>
      <p:sp>
        <p:nvSpPr>
          <p:cNvPr id="6" name="pruebas de servidor aprobadas">
            <a:extLst xmlns:a="http://schemas.openxmlformats.org/drawingml/2006/main">
              <a:ext uri="{FF2B5EF4-FFF2-40B4-BE49-F238E27FC236}">
                <a16:creationId xmlns:a16="http://schemas.microsoft.com/office/drawing/2014/main" id="{CE05CED9-87A8-4F52-A957-4FA61529F690}"/>
              </a:ext>
            </a:extLst>
          </p:cNvPr>
          <p:cNvSpPr>
            <a:spLocks xmlns:a="http://schemas.openxmlformats.org/drawingml/2006/main" noGrp="1"/>
          </p:cNvSpPr>
          <p:nvPr/>
        </p:nvSpPr>
        <p:spPr>
          <a:xfrm xmlns:a="http://schemas.openxmlformats.org/drawingml/2006/main">
            <a:off x="609600" y="333375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FFFFF"/>
                </a:solidFill>
                <a:latin typeface="Helvetica Neue"/>
                <a:ea typeface="Helvetica Neue"/>
                <a:cs typeface="Helvetica Neue"/>
              </a:defRPr>
            </a:defPPr>
            <a:lvl1pPr algn="l">
              <a:buNone/>
              <a:defRPr sz="2175" b="0">
                <a:solidFill>
                  <a:srgbClr val="FFFFFF"/>
                </a:solidFill>
                <a:latin typeface="DejaVu Sans"/>
                <a:ea typeface="DejaVu Sans"/>
                <a:cs typeface="DejaVu Sans"/>
              </a:defRPr>
            </a:lvl1pPr>
            <a:lvl2pPr algn="l">
              <a:buNone/>
              <a:defRPr sz="2175" b="0">
                <a:solidFill>
                  <a:srgbClr val="FFFFFF"/>
                </a:solidFill>
                <a:latin typeface="DejaVu Sans"/>
                <a:ea typeface="DejaVu Sans"/>
                <a:cs typeface="DejaVu Sans"/>
              </a:defRPr>
            </a:lvl2pPr>
            <a:lvl3pPr algn="l">
              <a:buNone/>
              <a:defRPr sz="2175" b="0">
                <a:solidFill>
                  <a:srgbClr val="FFFFFF"/>
                </a:solidFill>
                <a:latin typeface="DejaVu Sans"/>
                <a:ea typeface="DejaVu Sans"/>
                <a:cs typeface="DejaVu Sans"/>
              </a:defRPr>
            </a:lvl3pPr>
            <a:lvl4pPr algn="l">
              <a:buNone/>
              <a:defRPr sz="2175" b="0">
                <a:solidFill>
                  <a:srgbClr val="FFFFFF"/>
                </a:solidFill>
                <a:latin typeface="DejaVu Sans"/>
                <a:ea typeface="DejaVu Sans"/>
                <a:cs typeface="DejaVu Sans"/>
              </a:defRPr>
            </a:lvl4pPr>
            <a:lvl5pPr algn="l">
              <a:buNone/>
              <a:defRPr sz="2175" b="0">
                <a:solidFill>
                  <a:srgbClr val="FFFFFF"/>
                </a:solidFill>
                <a:latin typeface="DejaVu Sans"/>
                <a:ea typeface="DejaVu Sans"/>
                <a:cs typeface="DejaVu Sans"/>
              </a:defRPr>
            </a:lvl5pPr>
            <a:lvl6pPr algn="l">
              <a:buNone/>
              <a:defRPr sz="2175" b="0">
                <a:solidFill>
                  <a:srgbClr val="FFFFFF"/>
                </a:solidFill>
                <a:latin typeface="DejaVu Sans"/>
                <a:ea typeface="DejaVu Sans"/>
                <a:cs typeface="DejaVu Sans"/>
              </a:defRPr>
            </a:lvl6pPr>
            <a:lvl7pPr algn="l">
              <a:buNone/>
              <a:defRPr sz="2175" b="0">
                <a:solidFill>
                  <a:srgbClr val="FFFFFF"/>
                </a:solidFill>
                <a:latin typeface="DejaVu Sans"/>
                <a:ea typeface="DejaVu Sans"/>
                <a:cs typeface="DejaVu Sans"/>
              </a:defRPr>
            </a:lvl7pPr>
            <a:lvl8pPr algn="l">
              <a:buNone/>
              <a:defRPr sz="2175" b="0">
                <a:solidFill>
                  <a:srgbClr val="FFFFFF"/>
                </a:solidFill>
                <a:latin typeface="DejaVu Sans"/>
                <a:ea typeface="DejaVu Sans"/>
                <a:cs typeface="DejaVu Sans"/>
              </a:defRPr>
            </a:lvl8pPr>
            <a:lvl9pPr algn="l">
              <a:buNone/>
              <a:defRPr sz="2175" b="0">
                <a:solidFill>
                  <a:srgbClr val="FFFFFF"/>
                </a:solidFill>
                <a:latin typeface="DejaVu Sans"/>
                <a:ea typeface="DejaVu Sans"/>
                <a:cs typeface="DejaVu Sans"/>
              </a:defRPr>
            </a:lvl9pPr>
          </a:lstStyle>
          <a:p xmlns:a="http://schemas.openxmlformats.org/drawingml/2006/main">
            <a:pPr algn="l">
              <a:buNone/>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pruebas de servidor aprobadas</a:t>
            </a:r>
          </a:p>
        </p:txBody>
      </p:sp>
      <p:sp>
        <p:nvSpPr>
          <p:cNvPr id="7" name="6 unitarias + 57 de integración">
            <a:extLst xmlns:a="http://schemas.openxmlformats.org/drawingml/2006/main">
              <a:ext uri="{FF2B5EF4-FFF2-40B4-BE49-F238E27FC236}">
                <a16:creationId xmlns:a16="http://schemas.microsoft.com/office/drawing/2014/main" id="{305E0A29-71D1-4096-BAD5-DA1D0F9449A9}"/>
              </a:ext>
            </a:extLst>
          </p:cNvPr>
          <p:cNvSpPr>
            <a:spLocks xmlns:a="http://schemas.openxmlformats.org/drawingml/2006/main" noGrp="1"/>
          </p:cNvSpPr>
          <p:nvPr/>
        </p:nvSpPr>
        <p:spPr>
          <a:xfrm xmlns:a="http://schemas.openxmlformats.org/drawingml/2006/main">
            <a:off x="609600" y="41719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9BC7A"/>
                </a:solidFill>
                <a:latin typeface="Helvetica Neue"/>
                <a:ea typeface="Helvetica Neue"/>
                <a:cs typeface="Helvetica Neue"/>
              </a:defRPr>
            </a:defPPr>
            <a:lvl1pPr algn="l">
              <a:buNone/>
              <a:defRPr sz="1800" b="0">
                <a:solidFill>
                  <a:srgbClr val="D9BC7A"/>
                </a:solidFill>
                <a:latin typeface="DejaVu Sans"/>
                <a:ea typeface="DejaVu Sans"/>
                <a:cs typeface="DejaVu Sans"/>
              </a:defRPr>
            </a:lvl1pPr>
            <a:lvl2pPr algn="l">
              <a:buNone/>
              <a:defRPr sz="1800" b="0">
                <a:solidFill>
                  <a:srgbClr val="D9BC7A"/>
                </a:solidFill>
                <a:latin typeface="DejaVu Sans"/>
                <a:ea typeface="DejaVu Sans"/>
                <a:cs typeface="DejaVu Sans"/>
              </a:defRPr>
            </a:lvl2pPr>
            <a:lvl3pPr algn="l">
              <a:buNone/>
              <a:defRPr sz="1800" b="0">
                <a:solidFill>
                  <a:srgbClr val="D9BC7A"/>
                </a:solidFill>
                <a:latin typeface="DejaVu Sans"/>
                <a:ea typeface="DejaVu Sans"/>
                <a:cs typeface="DejaVu Sans"/>
              </a:defRPr>
            </a:lvl3pPr>
            <a:lvl4pPr algn="l">
              <a:buNone/>
              <a:defRPr sz="1800" b="0">
                <a:solidFill>
                  <a:srgbClr val="D9BC7A"/>
                </a:solidFill>
                <a:latin typeface="DejaVu Sans"/>
                <a:ea typeface="DejaVu Sans"/>
                <a:cs typeface="DejaVu Sans"/>
              </a:defRPr>
            </a:lvl4pPr>
            <a:lvl5pPr algn="l">
              <a:buNone/>
              <a:defRPr sz="1800" b="0">
                <a:solidFill>
                  <a:srgbClr val="D9BC7A"/>
                </a:solidFill>
                <a:latin typeface="DejaVu Sans"/>
                <a:ea typeface="DejaVu Sans"/>
                <a:cs typeface="DejaVu Sans"/>
              </a:defRPr>
            </a:lvl5pPr>
            <a:lvl6pPr algn="l">
              <a:buNone/>
              <a:defRPr sz="1800" b="0">
                <a:solidFill>
                  <a:srgbClr val="D9BC7A"/>
                </a:solidFill>
                <a:latin typeface="DejaVu Sans"/>
                <a:ea typeface="DejaVu Sans"/>
                <a:cs typeface="DejaVu Sans"/>
              </a:defRPr>
            </a:lvl6pPr>
            <a:lvl7pPr algn="l">
              <a:buNone/>
              <a:defRPr sz="1800" b="0">
                <a:solidFill>
                  <a:srgbClr val="D9BC7A"/>
                </a:solidFill>
                <a:latin typeface="DejaVu Sans"/>
                <a:ea typeface="DejaVu Sans"/>
                <a:cs typeface="DejaVu Sans"/>
              </a:defRPr>
            </a:lvl7pPr>
            <a:lvl8pPr algn="l">
              <a:buNone/>
              <a:defRPr sz="1800" b="0">
                <a:solidFill>
                  <a:srgbClr val="D9BC7A"/>
                </a:solidFill>
                <a:latin typeface="DejaVu Sans"/>
                <a:ea typeface="DejaVu Sans"/>
                <a:cs typeface="DejaVu Sans"/>
              </a:defRPr>
            </a:lvl8pPr>
            <a:lvl9pPr algn="l">
              <a:buNone/>
              <a:defRPr sz="1800" b="0">
                <a:solidFill>
                  <a:srgbClr val="D9BC7A"/>
                </a:solidFill>
                <a:latin typeface="DejaVu Sans"/>
                <a:ea typeface="DejaVu Sans"/>
                <a:cs typeface="DejaVu Sans"/>
              </a:defRPr>
            </a:lvl9pPr>
          </a:lstStyle>
          <a:p xmlns:a="http://schemas.openxmlformats.org/drawingml/2006/main">
            <a:pPr algn="l">
              <a:buNone/>
              <a:defRPr sz="1800" b="0">
                <a:solidFill>
                  <a:srgbClr val="D9BC7A"/>
                </a:solidFill>
                <a:latin typeface="Helvetica Neue"/>
                <a:ea typeface="Helvetica Neue"/>
                <a:cs typeface="Helvetica Neue"/>
              </a:defRPr>
            </a:pPr>
            <a:r>
              <a:rPr sz="1800" b="0">
                <a:solidFill>
                  <a:srgbClr val="D9BC7A"/>
                </a:solidFill>
                <a:latin typeface="Helvetica Neue"/>
                <a:ea typeface="Helvetica Neue"/>
                <a:cs typeface="Helvetica Neue"/>
              </a:rPr>
              <a:t>6 unitarias + 57 de integración</a:t>
            </a:r>
          </a:p>
        </p:txBody>
      </p:sp>
      <p:sp>
        <p:nvSpPr>
          <p:cNvPr id="8" name="19">
            <a:extLst xmlns:a="http://schemas.openxmlformats.org/drawingml/2006/main">
              <a:ext uri="{FF2B5EF4-FFF2-40B4-BE49-F238E27FC236}">
                <a16:creationId xmlns:a16="http://schemas.microsoft.com/office/drawing/2014/main" id="{E7F6F103-D1A1-42C7-9EDE-F0DE16537866}"/>
              </a:ext>
            </a:extLst>
          </p:cNvPr>
          <p:cNvSpPr>
            <a:spLocks xmlns:a="http://schemas.openxmlformats.org/drawingml/2006/main" noGrp="1"/>
          </p:cNvSpPr>
          <p:nvPr/>
        </p:nvSpPr>
        <p:spPr>
          <a:xfrm xmlns:a="http://schemas.openxmlformats.org/drawingml/2006/main">
            <a:off x="6419850" y="2009775"/>
            <a:ext cx="4857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200" b="0">
                <a:solidFill>
                  <a:srgbClr val="FFFFFF"/>
                </a:solidFill>
                <a:latin typeface="Georgia"/>
                <a:ea typeface="Georgia"/>
                <a:cs typeface="Georgia"/>
              </a:defRPr>
            </a:defPPr>
            <a:lvl1pPr algn="l">
              <a:buNone/>
              <a:defRPr sz="7200" b="1">
                <a:solidFill>
                  <a:srgbClr val="FFFFFF"/>
                </a:solidFill>
                <a:latin typeface="DejaVu Sans"/>
                <a:ea typeface="DejaVu Sans"/>
                <a:cs typeface="DejaVu Sans"/>
              </a:defRPr>
            </a:lvl1pPr>
            <a:lvl2pPr algn="l">
              <a:buNone/>
              <a:defRPr sz="7200" b="1">
                <a:solidFill>
                  <a:srgbClr val="FFFFFF"/>
                </a:solidFill>
                <a:latin typeface="DejaVu Sans"/>
                <a:ea typeface="DejaVu Sans"/>
                <a:cs typeface="DejaVu Sans"/>
              </a:defRPr>
            </a:lvl2pPr>
            <a:lvl3pPr algn="l">
              <a:buNone/>
              <a:defRPr sz="7200" b="1">
                <a:solidFill>
                  <a:srgbClr val="FFFFFF"/>
                </a:solidFill>
                <a:latin typeface="DejaVu Sans"/>
                <a:ea typeface="DejaVu Sans"/>
                <a:cs typeface="DejaVu Sans"/>
              </a:defRPr>
            </a:lvl3pPr>
            <a:lvl4pPr algn="l">
              <a:buNone/>
              <a:defRPr sz="7200" b="1">
                <a:solidFill>
                  <a:srgbClr val="FFFFFF"/>
                </a:solidFill>
                <a:latin typeface="DejaVu Sans"/>
                <a:ea typeface="DejaVu Sans"/>
                <a:cs typeface="DejaVu Sans"/>
              </a:defRPr>
            </a:lvl4pPr>
            <a:lvl5pPr algn="l">
              <a:buNone/>
              <a:defRPr sz="7200" b="1">
                <a:solidFill>
                  <a:srgbClr val="FFFFFF"/>
                </a:solidFill>
                <a:latin typeface="DejaVu Sans"/>
                <a:ea typeface="DejaVu Sans"/>
                <a:cs typeface="DejaVu Sans"/>
              </a:defRPr>
            </a:lvl5pPr>
            <a:lvl6pPr algn="l">
              <a:buNone/>
              <a:defRPr sz="7200" b="1">
                <a:solidFill>
                  <a:srgbClr val="FFFFFF"/>
                </a:solidFill>
                <a:latin typeface="DejaVu Sans"/>
                <a:ea typeface="DejaVu Sans"/>
                <a:cs typeface="DejaVu Sans"/>
              </a:defRPr>
            </a:lvl6pPr>
            <a:lvl7pPr algn="l">
              <a:buNone/>
              <a:defRPr sz="7200" b="1">
                <a:solidFill>
                  <a:srgbClr val="FFFFFF"/>
                </a:solidFill>
                <a:latin typeface="DejaVu Sans"/>
                <a:ea typeface="DejaVu Sans"/>
                <a:cs typeface="DejaVu Sans"/>
              </a:defRPr>
            </a:lvl7pPr>
            <a:lvl8pPr algn="l">
              <a:buNone/>
              <a:defRPr sz="7200" b="1">
                <a:solidFill>
                  <a:srgbClr val="FFFFFF"/>
                </a:solidFill>
                <a:latin typeface="DejaVu Sans"/>
                <a:ea typeface="DejaVu Sans"/>
                <a:cs typeface="DejaVu Sans"/>
              </a:defRPr>
            </a:lvl8pPr>
            <a:lvl9pPr algn="l">
              <a:buNone/>
              <a:defRPr sz="7200" b="1">
                <a:solidFill>
                  <a:srgbClr val="FFFFFF"/>
                </a:solidFill>
                <a:latin typeface="DejaVu Sans"/>
                <a:ea typeface="DejaVu Sans"/>
                <a:cs typeface="DejaVu Sans"/>
              </a:defRPr>
            </a:lvl9pPr>
          </a:lstStyle>
          <a:p xmlns:a="http://schemas.openxmlformats.org/drawingml/2006/main">
            <a:pPr algn="l">
              <a:buNone/>
              <a:defRPr sz="7200" b="0">
                <a:solidFill>
                  <a:srgbClr val="FFFFFF"/>
                </a:solidFill>
                <a:latin typeface="Georgia"/>
                <a:ea typeface="Georgia"/>
                <a:cs typeface="Georgia"/>
              </a:defRPr>
            </a:pPr>
            <a:r>
              <a:rPr sz="7200" b="0">
                <a:solidFill>
                  <a:srgbClr val="FFFFFF"/>
                </a:solidFill>
                <a:latin typeface="Georgia"/>
                <a:ea typeface="Georgia"/>
                <a:cs typeface="Georgia"/>
              </a:rPr>
              <a:t>19</a:t>
            </a:r>
          </a:p>
        </p:txBody>
      </p:sp>
      <p:sp>
        <p:nvSpPr>
          <p:cNvPr id="9" name="escenarios de navegador aprobados">
            <a:extLst xmlns:a="http://schemas.openxmlformats.org/drawingml/2006/main">
              <a:ext uri="{FF2B5EF4-FFF2-40B4-BE49-F238E27FC236}">
                <a16:creationId xmlns:a16="http://schemas.microsoft.com/office/drawing/2014/main" id="{E3D5A959-16E0-4D4D-A839-46D41B70A4E0}"/>
              </a:ext>
            </a:extLst>
          </p:cNvPr>
          <p:cNvSpPr>
            <a:spLocks xmlns:a="http://schemas.openxmlformats.org/drawingml/2006/main" noGrp="1"/>
          </p:cNvSpPr>
          <p:nvPr/>
        </p:nvSpPr>
        <p:spPr>
          <a:xfrm xmlns:a="http://schemas.openxmlformats.org/drawingml/2006/main">
            <a:off x="6419850" y="3333750"/>
            <a:ext cx="5048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FFFFF"/>
                </a:solidFill>
                <a:latin typeface="Helvetica Neue"/>
                <a:ea typeface="Helvetica Neue"/>
                <a:cs typeface="Helvetica Neue"/>
              </a:defRPr>
            </a:defPPr>
            <a:lvl1pPr algn="l">
              <a:buNone/>
              <a:defRPr sz="2175" b="0">
                <a:solidFill>
                  <a:srgbClr val="FFFFFF"/>
                </a:solidFill>
                <a:latin typeface="DejaVu Sans"/>
                <a:ea typeface="DejaVu Sans"/>
                <a:cs typeface="DejaVu Sans"/>
              </a:defRPr>
            </a:lvl1pPr>
            <a:lvl2pPr algn="l">
              <a:buNone/>
              <a:defRPr sz="2175" b="0">
                <a:solidFill>
                  <a:srgbClr val="FFFFFF"/>
                </a:solidFill>
                <a:latin typeface="DejaVu Sans"/>
                <a:ea typeface="DejaVu Sans"/>
                <a:cs typeface="DejaVu Sans"/>
              </a:defRPr>
            </a:lvl2pPr>
            <a:lvl3pPr algn="l">
              <a:buNone/>
              <a:defRPr sz="2175" b="0">
                <a:solidFill>
                  <a:srgbClr val="FFFFFF"/>
                </a:solidFill>
                <a:latin typeface="DejaVu Sans"/>
                <a:ea typeface="DejaVu Sans"/>
                <a:cs typeface="DejaVu Sans"/>
              </a:defRPr>
            </a:lvl3pPr>
            <a:lvl4pPr algn="l">
              <a:buNone/>
              <a:defRPr sz="2175" b="0">
                <a:solidFill>
                  <a:srgbClr val="FFFFFF"/>
                </a:solidFill>
                <a:latin typeface="DejaVu Sans"/>
                <a:ea typeface="DejaVu Sans"/>
                <a:cs typeface="DejaVu Sans"/>
              </a:defRPr>
            </a:lvl4pPr>
            <a:lvl5pPr algn="l">
              <a:buNone/>
              <a:defRPr sz="2175" b="0">
                <a:solidFill>
                  <a:srgbClr val="FFFFFF"/>
                </a:solidFill>
                <a:latin typeface="DejaVu Sans"/>
                <a:ea typeface="DejaVu Sans"/>
                <a:cs typeface="DejaVu Sans"/>
              </a:defRPr>
            </a:lvl5pPr>
            <a:lvl6pPr algn="l">
              <a:buNone/>
              <a:defRPr sz="2175" b="0">
                <a:solidFill>
                  <a:srgbClr val="FFFFFF"/>
                </a:solidFill>
                <a:latin typeface="DejaVu Sans"/>
                <a:ea typeface="DejaVu Sans"/>
                <a:cs typeface="DejaVu Sans"/>
              </a:defRPr>
            </a:lvl6pPr>
            <a:lvl7pPr algn="l">
              <a:buNone/>
              <a:defRPr sz="2175" b="0">
                <a:solidFill>
                  <a:srgbClr val="FFFFFF"/>
                </a:solidFill>
                <a:latin typeface="DejaVu Sans"/>
                <a:ea typeface="DejaVu Sans"/>
                <a:cs typeface="DejaVu Sans"/>
              </a:defRPr>
            </a:lvl7pPr>
            <a:lvl8pPr algn="l">
              <a:buNone/>
              <a:defRPr sz="2175" b="0">
                <a:solidFill>
                  <a:srgbClr val="FFFFFF"/>
                </a:solidFill>
                <a:latin typeface="DejaVu Sans"/>
                <a:ea typeface="DejaVu Sans"/>
                <a:cs typeface="DejaVu Sans"/>
              </a:defRPr>
            </a:lvl8pPr>
            <a:lvl9pPr algn="l">
              <a:buNone/>
              <a:defRPr sz="2175" b="0">
                <a:solidFill>
                  <a:srgbClr val="FFFFFF"/>
                </a:solidFill>
                <a:latin typeface="DejaVu Sans"/>
                <a:ea typeface="DejaVu Sans"/>
                <a:cs typeface="DejaVu Sans"/>
              </a:defRPr>
            </a:lvl9pPr>
          </a:lstStyle>
          <a:p xmlns:a="http://schemas.openxmlformats.org/drawingml/2006/main">
            <a:pPr algn="l">
              <a:buNone/>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escenarios de navegador aprobados</a:t>
            </a:r>
          </a:p>
        </p:txBody>
      </p:sp>
      <p:sp>
        <p:nvSpPr>
          <p:cNvPr id="10" name="8 nuevos + 11 de regresión">
            <a:extLst xmlns:a="http://schemas.openxmlformats.org/drawingml/2006/main">
              <a:ext uri="{FF2B5EF4-FFF2-40B4-BE49-F238E27FC236}">
                <a16:creationId xmlns:a16="http://schemas.microsoft.com/office/drawing/2014/main" id="{543CDCAA-A2F4-4DF0-B0B3-8541BFECB1CD}"/>
              </a:ext>
            </a:extLst>
          </p:cNvPr>
          <p:cNvSpPr>
            <a:spLocks xmlns:a="http://schemas.openxmlformats.org/drawingml/2006/main" noGrp="1"/>
          </p:cNvSpPr>
          <p:nvPr/>
        </p:nvSpPr>
        <p:spPr>
          <a:xfrm xmlns:a="http://schemas.openxmlformats.org/drawingml/2006/main">
            <a:off x="6419850" y="4171950"/>
            <a:ext cx="5048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9BC7A"/>
                </a:solidFill>
                <a:latin typeface="Helvetica Neue"/>
                <a:ea typeface="Helvetica Neue"/>
                <a:cs typeface="Helvetica Neue"/>
              </a:defRPr>
            </a:defPPr>
            <a:lvl1pPr algn="l">
              <a:buNone/>
              <a:defRPr sz="1800" b="0">
                <a:solidFill>
                  <a:srgbClr val="D9BC7A"/>
                </a:solidFill>
                <a:latin typeface="DejaVu Sans"/>
                <a:ea typeface="DejaVu Sans"/>
                <a:cs typeface="DejaVu Sans"/>
              </a:defRPr>
            </a:lvl1pPr>
            <a:lvl2pPr algn="l">
              <a:buNone/>
              <a:defRPr sz="1800" b="0">
                <a:solidFill>
                  <a:srgbClr val="D9BC7A"/>
                </a:solidFill>
                <a:latin typeface="DejaVu Sans"/>
                <a:ea typeface="DejaVu Sans"/>
                <a:cs typeface="DejaVu Sans"/>
              </a:defRPr>
            </a:lvl2pPr>
            <a:lvl3pPr algn="l">
              <a:buNone/>
              <a:defRPr sz="1800" b="0">
                <a:solidFill>
                  <a:srgbClr val="D9BC7A"/>
                </a:solidFill>
                <a:latin typeface="DejaVu Sans"/>
                <a:ea typeface="DejaVu Sans"/>
                <a:cs typeface="DejaVu Sans"/>
              </a:defRPr>
            </a:lvl3pPr>
            <a:lvl4pPr algn="l">
              <a:buNone/>
              <a:defRPr sz="1800" b="0">
                <a:solidFill>
                  <a:srgbClr val="D9BC7A"/>
                </a:solidFill>
                <a:latin typeface="DejaVu Sans"/>
                <a:ea typeface="DejaVu Sans"/>
                <a:cs typeface="DejaVu Sans"/>
              </a:defRPr>
            </a:lvl4pPr>
            <a:lvl5pPr algn="l">
              <a:buNone/>
              <a:defRPr sz="1800" b="0">
                <a:solidFill>
                  <a:srgbClr val="D9BC7A"/>
                </a:solidFill>
                <a:latin typeface="DejaVu Sans"/>
                <a:ea typeface="DejaVu Sans"/>
                <a:cs typeface="DejaVu Sans"/>
              </a:defRPr>
            </a:lvl5pPr>
            <a:lvl6pPr algn="l">
              <a:buNone/>
              <a:defRPr sz="1800" b="0">
                <a:solidFill>
                  <a:srgbClr val="D9BC7A"/>
                </a:solidFill>
                <a:latin typeface="DejaVu Sans"/>
                <a:ea typeface="DejaVu Sans"/>
                <a:cs typeface="DejaVu Sans"/>
              </a:defRPr>
            </a:lvl6pPr>
            <a:lvl7pPr algn="l">
              <a:buNone/>
              <a:defRPr sz="1800" b="0">
                <a:solidFill>
                  <a:srgbClr val="D9BC7A"/>
                </a:solidFill>
                <a:latin typeface="DejaVu Sans"/>
                <a:ea typeface="DejaVu Sans"/>
                <a:cs typeface="DejaVu Sans"/>
              </a:defRPr>
            </a:lvl7pPr>
            <a:lvl8pPr algn="l">
              <a:buNone/>
              <a:defRPr sz="1800" b="0">
                <a:solidFill>
                  <a:srgbClr val="D9BC7A"/>
                </a:solidFill>
                <a:latin typeface="DejaVu Sans"/>
                <a:ea typeface="DejaVu Sans"/>
                <a:cs typeface="DejaVu Sans"/>
              </a:defRPr>
            </a:lvl8pPr>
            <a:lvl9pPr algn="l">
              <a:buNone/>
              <a:defRPr sz="1800" b="0">
                <a:solidFill>
                  <a:srgbClr val="D9BC7A"/>
                </a:solidFill>
                <a:latin typeface="DejaVu Sans"/>
                <a:ea typeface="DejaVu Sans"/>
                <a:cs typeface="DejaVu Sans"/>
              </a:defRPr>
            </a:lvl9pPr>
          </a:lstStyle>
          <a:p xmlns:a="http://schemas.openxmlformats.org/drawingml/2006/main">
            <a:pPr algn="l">
              <a:buNone/>
              <a:defRPr sz="1800" b="0">
                <a:solidFill>
                  <a:srgbClr val="D9BC7A"/>
                </a:solidFill>
                <a:latin typeface="Helvetica Neue"/>
                <a:ea typeface="Helvetica Neue"/>
                <a:cs typeface="Helvetica Neue"/>
              </a:defRPr>
            </a:pPr>
            <a:r>
              <a:rPr sz="1800" b="0">
                <a:solidFill>
                  <a:srgbClr val="D9BC7A"/>
                </a:solidFill>
                <a:latin typeface="Helvetica Neue"/>
                <a:ea typeface="Helvetica Neue"/>
                <a:cs typeface="Helvetica Neue"/>
              </a:rPr>
              <a:t>8 nuevos + 11 de regresión</a:t>
            </a:r>
          </a:p>
        </p:txBody>
      </p:sp>
      <p:sp>
        <p:nvSpPr>
          <p:cNvPr id="11" name="Compilación aprobada. Falta validar Docker/PG16, otros ">
            <a:extLst xmlns:a="http://schemas.openxmlformats.org/drawingml/2006/main">
              <a:ext uri="{FF2B5EF4-FFF2-40B4-BE49-F238E27FC236}">
                <a16:creationId xmlns:a16="http://schemas.microsoft.com/office/drawing/2014/main" id="{A8E11741-DBF7-4CA8-8181-56D33B7FC424}"/>
              </a:ext>
            </a:extLst>
          </p:cNvPr>
          <p:cNvSpPr>
            <a:spLocks xmlns:a="http://schemas.openxmlformats.org/drawingml/2006/main" noGrp="1"/>
          </p:cNvSpPr>
          <p:nvPr/>
        </p:nvSpPr>
        <p:spPr>
          <a:xfrm xmlns:a="http://schemas.openxmlformats.org/drawingml/2006/main">
            <a:off x="609600" y="5276850"/>
            <a:ext cx="109537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Helvetica Neue"/>
                <a:ea typeface="Helvetica Neue"/>
                <a:cs typeface="Helvetica Neue"/>
              </a:defRPr>
            </a:defPPr>
            <a:lvl1pPr algn="l">
              <a:buNone/>
              <a:defRPr sz="2025" b="0">
                <a:solidFill>
                  <a:srgbClr val="FFFFFF"/>
                </a:solidFill>
                <a:latin typeface="DejaVu Sans"/>
                <a:ea typeface="DejaVu Sans"/>
                <a:cs typeface="DejaVu Sans"/>
              </a:defRPr>
            </a:lvl1pPr>
            <a:lvl2pPr algn="l">
              <a:buNone/>
              <a:defRPr sz="2025" b="0">
                <a:solidFill>
                  <a:srgbClr val="FFFFFF"/>
                </a:solidFill>
                <a:latin typeface="DejaVu Sans"/>
                <a:ea typeface="DejaVu Sans"/>
                <a:cs typeface="DejaVu Sans"/>
              </a:defRPr>
            </a:lvl2pPr>
            <a:lvl3pPr algn="l">
              <a:buNone/>
              <a:defRPr sz="2025" b="0">
                <a:solidFill>
                  <a:srgbClr val="FFFFFF"/>
                </a:solidFill>
                <a:latin typeface="DejaVu Sans"/>
                <a:ea typeface="DejaVu Sans"/>
                <a:cs typeface="DejaVu Sans"/>
              </a:defRPr>
            </a:lvl3pPr>
            <a:lvl4pPr algn="l">
              <a:buNone/>
              <a:defRPr sz="2025" b="0">
                <a:solidFill>
                  <a:srgbClr val="FFFFFF"/>
                </a:solidFill>
                <a:latin typeface="DejaVu Sans"/>
                <a:ea typeface="DejaVu Sans"/>
                <a:cs typeface="DejaVu Sans"/>
              </a:defRPr>
            </a:lvl4pPr>
            <a:lvl5pPr algn="l">
              <a:buNone/>
              <a:defRPr sz="2025" b="0">
                <a:solidFill>
                  <a:srgbClr val="FFFFFF"/>
                </a:solidFill>
                <a:latin typeface="DejaVu Sans"/>
                <a:ea typeface="DejaVu Sans"/>
                <a:cs typeface="DejaVu Sans"/>
              </a:defRPr>
            </a:lvl5pPr>
            <a:lvl6pPr algn="l">
              <a:buNone/>
              <a:defRPr sz="2025" b="0">
                <a:solidFill>
                  <a:srgbClr val="FFFFFF"/>
                </a:solidFill>
                <a:latin typeface="DejaVu Sans"/>
                <a:ea typeface="DejaVu Sans"/>
                <a:cs typeface="DejaVu Sans"/>
              </a:defRPr>
            </a:lvl6pPr>
            <a:lvl7pPr algn="l">
              <a:buNone/>
              <a:defRPr sz="2025" b="0">
                <a:solidFill>
                  <a:srgbClr val="FFFFFF"/>
                </a:solidFill>
                <a:latin typeface="DejaVu Sans"/>
                <a:ea typeface="DejaVu Sans"/>
                <a:cs typeface="DejaVu Sans"/>
              </a:defRPr>
            </a:lvl7pPr>
            <a:lvl8pPr algn="l">
              <a:buNone/>
              <a:defRPr sz="2025" b="0">
                <a:solidFill>
                  <a:srgbClr val="FFFFFF"/>
                </a:solidFill>
                <a:latin typeface="DejaVu Sans"/>
                <a:ea typeface="DejaVu Sans"/>
                <a:cs typeface="DejaVu Sans"/>
              </a:defRPr>
            </a:lvl8pPr>
            <a:lvl9pPr algn="l">
              <a:buNone/>
              <a:defRPr sz="2025" b="0">
                <a:solidFill>
                  <a:srgbClr val="FFFFFF"/>
                </a:solidFill>
                <a:latin typeface="DejaVu Sans"/>
                <a:ea typeface="DejaVu Sans"/>
                <a:cs typeface="DejaVu Sans"/>
              </a:defRPr>
            </a:lvl9pPr>
          </a:lstStyle>
          <a:p xmlns:a="http://schemas.openxmlformats.org/drawingml/2006/main">
            <a:pPr algn="l">
              <a:buNone/>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Compilación aprobada. Falta validar Docker/PG16, otros navegadores, carga y restauración.</a:t>
            </a:r>
          </a:p>
        </p:txBody>
      </p:sp>
    </p:spTree>
    <p:extLst>
      <p:ext uri="{BB962C8B-B14F-4D97-AF65-F5344CB8AC3E}">
        <p14:creationId xmlns:p14="http://schemas.microsoft.com/office/powerpoint/2010/main" val="1909992295"/>
      </p:ext>
    </p:extLst>
  </p:cSld>
</p:sld>
</file>

<file path=ppt/slides/slide11.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8" name="AVANCE DEL PROYECTO">
            <a:extLst xmlns:a="http://schemas.openxmlformats.org/drawingml/2006/main">
              <a:ext uri="{FF2B5EF4-FFF2-40B4-BE49-F238E27FC236}">
                <a16:creationId xmlns:a16="http://schemas.microsoft.com/office/drawing/2014/main" id="{AFC13EB6-6BEC-4C13-9CAA-0868F42ABE04}"/>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Jira refleja avance pendiente de aceptación">
            <a:extLst xmlns:a="http://schemas.openxmlformats.org/drawingml/2006/main">
              <a:ext uri="{FF2B5EF4-FFF2-40B4-BE49-F238E27FC236}">
                <a16:creationId xmlns:a16="http://schemas.microsoft.com/office/drawing/2014/main" id="{08022D36-920F-474B-97FD-1C4DCA15ABD3}"/>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Jira refleja avance pendiente de aceptación</a:t>
            </a:r>
          </a:p>
        </p:txBody>
      </p:sp>
      <p:sp>
        <p:nvSpPr>
          <p:cNvPr id="3" name="SIGAA  /  Capstone 2026">
            <a:extLst xmlns:a="http://schemas.openxmlformats.org/drawingml/2006/main">
              <a:ext uri="{FF2B5EF4-FFF2-40B4-BE49-F238E27FC236}">
                <a16:creationId xmlns:a16="http://schemas.microsoft.com/office/drawing/2014/main" id="{41C6DA07-26A1-49AE-9DE0-3BA2DCE284D5}"/>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Agustín  /  Bloque 2 de 3  /  SIGAA</a:t>
            </a:r>
          </a:p>
        </p:txBody>
      </p:sp>
      <p:sp>
        <p:nvSpPr>
          <p:cNvPr id="4" name="10   /   28 oct 2026">
            <a:extLst xmlns:a="http://schemas.openxmlformats.org/drawingml/2006/main">
              <a:ext uri="{FF2B5EF4-FFF2-40B4-BE49-F238E27FC236}">
                <a16:creationId xmlns:a16="http://schemas.microsoft.com/office/drawing/2014/main" id="{CB6D7D14-4F8E-4F11-A8FA-54F8C4C2C76F}"/>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11 de 18   /   28 oct 2026</a:t>
            </a:r>
          </a:p>
        </p:txBody>
      </p:sp>
      <p:graphicFrame>
        <p:nvGraphicFramePr>
          <p:cNvPr id="5" name="">
            <a:extLst xmlns:a="http://schemas.openxmlformats.org/drawingml/2006/main">
              <a:ext uri="{FF2B5EF4-FFF2-40B4-BE49-F238E27FC236}">
                <a16:creationId xmlns:a16="http://schemas.microsoft.com/office/drawing/2014/main" id="{01B67616-874F-4CF5-B911-B42AD603ED52}"/>
              </a:ext>
            </a:extLst>
          </p:cNvPr>
          <p:cNvGraphicFramePr/>
          <p:nvPr/>
        </p:nvGraphicFramePr>
        <p:xfrm>
          <a:off xmlns:a="http://schemas.openxmlformats.org/drawingml/2006/main" x="609600" y="1952625"/>
          <a:ext xmlns:a="http://schemas.openxmlformats.org/drawingml/2006/main" cx="10972800" cy="3409950"/>
        </p:xfrm>
        <a:graphic xmlns:a="http://schemas.openxmlformats.org/drawingml/2006/main">
          <a:graphicData uri="http://schemas.openxmlformats.org/drawingml/2006/table">
            <a:tbl>
              <a:tblPr/>
              <a:tblGrid>
                <a:gridCol w="5238750"/>
                <a:gridCol w="2667000"/>
                <a:gridCol w="3067050"/>
              </a:tblGrid>
              <a:tr h="568325">
                <a:tc>
                  <a:txBody>
                    <a:bodyPr/>
                    <a:lstStyle/>
                    <a:p>
                      <a:r>
                        <a:rPr sz="1875" b="1">
                          <a:solidFill>
                            <a:srgbClr val="FFFFFF"/>
                          </a:solidFill>
                          <a:latin typeface="Helvetica Neue"/>
                          <a:ea typeface="Helvetica Neue"/>
                          <a:cs typeface="Helvetica Neue"/>
                        </a:rPr>
                        <a:t>Estado</a:t>
                      </a:r>
                    </a:p>
                  </a:txBody>
                  <a:tcPr marL="152400" marR="152400" marT="114300" marB="114300" anchor="ctr">
                    <a:lnL w="4763">
                      <a:solidFill>
                        <a:srgbClr val="D5DDD1"/>
                      </a:solidFill>
                      <a:prstDash val="solid"/>
                    </a:lnL>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75" b="1">
                          <a:solidFill>
                            <a:srgbClr val="FFFFFF"/>
                          </a:solidFill>
                          <a:latin typeface="Helvetica Neue"/>
                          <a:ea typeface="Helvetica Neue"/>
                          <a:cs typeface="Helvetica Neue"/>
                        </a:rPr>
                        <a:t>Historias</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75" b="1">
                          <a:solidFill>
                            <a:srgbClr val="FFFFFF"/>
                          </a:solidFill>
                          <a:latin typeface="Helvetica Neue"/>
                          <a:ea typeface="Helvetica Neue"/>
                          <a:cs typeface="Helvetica Neue"/>
                        </a:rPr>
                        <a:t>Puntos estimados</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r>
              <a:tr h="568325">
                <a:tc>
                  <a:txBody>
                    <a:bodyPr/>
                    <a:lstStyle/>
                    <a:p>
                      <a:r>
                        <a:rPr sz="1950" b="0">
                          <a:solidFill>
                            <a:srgbClr val="263D33"/>
                          </a:solidFill>
                          <a:latin typeface="Helvetica Neue"/>
                          <a:ea typeface="Helvetica Neue"/>
                          <a:cs typeface="Helvetica Neue"/>
                        </a:rPr>
                        <a:t>Terminadas</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2</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13</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568325">
                <a:tc>
                  <a:txBody>
                    <a:bodyPr/>
                    <a:lstStyle/>
                    <a:p>
                      <a:r>
                        <a:rPr sz="1950" b="0">
                          <a:solidFill>
                            <a:srgbClr val="263D33"/>
                          </a:solidFill>
                          <a:latin typeface="Helvetica Neue"/>
                          <a:ea typeface="Helvetica Neue"/>
                          <a:cs typeface="Helvetica Neue"/>
                        </a:rPr>
                        <a:t>En revisión</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950" b="0">
                          <a:solidFill>
                            <a:srgbClr val="263D33"/>
                          </a:solidFill>
                          <a:latin typeface="Helvetica Neue"/>
                          <a:ea typeface="Helvetica Neue"/>
                          <a:cs typeface="Helvetica Neue"/>
                        </a:rPr>
                        <a:t>25</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c>
                  <a:txBody>
                    <a:bodyPr/>
                    <a:lstStyle/>
                    <a:p>
                      <a:r>
                        <a:rPr sz="1950" b="0">
                          <a:solidFill>
                            <a:srgbClr val="263D33"/>
                          </a:solidFill>
                          <a:latin typeface="Helvetica Neue"/>
                          <a:ea typeface="Helvetica Neue"/>
                          <a:cs typeface="Helvetica Neue"/>
                        </a:rPr>
                        <a:t>156</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568325">
                <a:tc>
                  <a:txBody>
                    <a:bodyPr/>
                    <a:lstStyle/>
                    <a:p>
                      <a:r>
                        <a:rPr sz="1950" b="0">
                          <a:solidFill>
                            <a:srgbClr val="263D33"/>
                          </a:solidFill>
                          <a:latin typeface="Helvetica Neue"/>
                          <a:ea typeface="Helvetica Neue"/>
                          <a:cs typeface="Helvetica Neue"/>
                        </a:rPr>
                        <a:t>En curso</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4</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34</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568325">
                <a:tc>
                  <a:txBody>
                    <a:bodyPr/>
                    <a:lstStyle/>
                    <a:p>
                      <a:r>
                        <a:rPr sz="1950" b="0">
                          <a:solidFill>
                            <a:srgbClr val="263D33"/>
                          </a:solidFill>
                          <a:latin typeface="Helvetica Neue"/>
                          <a:ea typeface="Helvetica Neue"/>
                          <a:cs typeface="Helvetica Neue"/>
                        </a:rPr>
                        <a:t>Pendientes</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950" b="0">
                          <a:solidFill>
                            <a:srgbClr val="263D33"/>
                          </a:solidFill>
                          <a:latin typeface="Helvetica Neue"/>
                          <a:ea typeface="Helvetica Neue"/>
                          <a:cs typeface="Helvetica Neue"/>
                        </a:rPr>
                        <a:t>9</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c>
                  <a:txBody>
                    <a:bodyPr/>
                    <a:lstStyle/>
                    <a:p>
                      <a:r>
                        <a:rPr sz="1950" b="0">
                          <a:solidFill>
                            <a:srgbClr val="263D33"/>
                          </a:solidFill>
                          <a:latin typeface="Helvetica Neue"/>
                          <a:ea typeface="Helvetica Neue"/>
                          <a:cs typeface="Helvetica Neue"/>
                        </a:rPr>
                        <a:t>52</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568325">
                <a:tc>
                  <a:txBody>
                    <a:bodyPr/>
                    <a:lstStyle/>
                    <a:p>
                      <a:r>
                        <a:rPr sz="1950" b="0">
                          <a:solidFill>
                            <a:srgbClr val="263D33"/>
                          </a:solidFill>
                          <a:latin typeface="Helvetica Neue"/>
                          <a:ea typeface="Helvetica Neue"/>
                          <a:cs typeface="Helvetica Neue"/>
                        </a:rPr>
                        <a:t>Total</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40</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c>
                  <a:txBody>
                    <a:bodyPr/>
                    <a:lstStyle/>
                    <a:p>
                      <a:r>
                        <a:rPr sz="1950" b="0">
                          <a:solidFill>
                            <a:srgbClr val="263D33"/>
                          </a:solidFill>
                          <a:latin typeface="Helvetica Neue"/>
                          <a:ea typeface="Helvetica Neue"/>
                          <a:cs typeface="Helvetica Neue"/>
                        </a:rPr>
                        <a:t>255</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bl>
          </a:graphicData>
        </a:graphic>
      </p:graphicFrame>
      <p:sp>
        <p:nvSpPr>
          <p:cNvPr id="6" name="Sprint 5: 21 puntos en revisión y 5 pendientes. Ninguno">
            <a:extLst xmlns:a="http://schemas.openxmlformats.org/drawingml/2006/main">
              <a:ext uri="{FF2B5EF4-FFF2-40B4-BE49-F238E27FC236}">
                <a16:creationId xmlns:a16="http://schemas.microsoft.com/office/drawing/2014/main" id="{C7301207-3AE9-4FC0-89AB-F2068454A931}"/>
              </a:ext>
            </a:extLst>
          </p:cNvPr>
          <p:cNvSpPr>
            <a:spLocks xmlns:a="http://schemas.openxmlformats.org/drawingml/2006/main" noGrp="1"/>
          </p:cNvSpPr>
          <p:nvPr/>
        </p:nvSpPr>
        <p:spPr>
          <a:xfrm xmlns:a="http://schemas.openxmlformats.org/drawingml/2006/main">
            <a:off x="609600" y="55721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4C3B"/>
                </a:solidFill>
                <a:latin typeface="Helvetica Neue"/>
                <a:ea typeface="Helvetica Neue"/>
                <a:cs typeface="Helvetica Neue"/>
              </a:defRPr>
            </a:defPPr>
            <a:lvl1pPr algn="l">
              <a:buNone/>
              <a:defRPr sz="1875" b="1">
                <a:solidFill>
                  <a:srgbClr val="184C3B"/>
                </a:solidFill>
                <a:latin typeface="DejaVu Sans"/>
                <a:ea typeface="DejaVu Sans"/>
                <a:cs typeface="DejaVu Sans"/>
              </a:defRPr>
            </a:lvl1pPr>
            <a:lvl2pPr algn="l">
              <a:buNone/>
              <a:defRPr sz="1875" b="1">
                <a:solidFill>
                  <a:srgbClr val="184C3B"/>
                </a:solidFill>
                <a:latin typeface="DejaVu Sans"/>
                <a:ea typeface="DejaVu Sans"/>
                <a:cs typeface="DejaVu Sans"/>
              </a:defRPr>
            </a:lvl2pPr>
            <a:lvl3pPr algn="l">
              <a:buNone/>
              <a:defRPr sz="1875" b="1">
                <a:solidFill>
                  <a:srgbClr val="184C3B"/>
                </a:solidFill>
                <a:latin typeface="DejaVu Sans"/>
                <a:ea typeface="DejaVu Sans"/>
                <a:cs typeface="DejaVu Sans"/>
              </a:defRPr>
            </a:lvl3pPr>
            <a:lvl4pPr algn="l">
              <a:buNone/>
              <a:defRPr sz="1875" b="1">
                <a:solidFill>
                  <a:srgbClr val="184C3B"/>
                </a:solidFill>
                <a:latin typeface="DejaVu Sans"/>
                <a:ea typeface="DejaVu Sans"/>
                <a:cs typeface="DejaVu Sans"/>
              </a:defRPr>
            </a:lvl4pPr>
            <a:lvl5pPr algn="l">
              <a:buNone/>
              <a:defRPr sz="1875" b="1">
                <a:solidFill>
                  <a:srgbClr val="184C3B"/>
                </a:solidFill>
                <a:latin typeface="DejaVu Sans"/>
                <a:ea typeface="DejaVu Sans"/>
                <a:cs typeface="DejaVu Sans"/>
              </a:defRPr>
            </a:lvl5pPr>
            <a:lvl6pPr algn="l">
              <a:buNone/>
              <a:defRPr sz="1875" b="1">
                <a:solidFill>
                  <a:srgbClr val="184C3B"/>
                </a:solidFill>
                <a:latin typeface="DejaVu Sans"/>
                <a:ea typeface="DejaVu Sans"/>
                <a:cs typeface="DejaVu Sans"/>
              </a:defRPr>
            </a:lvl6pPr>
            <a:lvl7pPr algn="l">
              <a:buNone/>
              <a:defRPr sz="1875" b="1">
                <a:solidFill>
                  <a:srgbClr val="184C3B"/>
                </a:solidFill>
                <a:latin typeface="DejaVu Sans"/>
                <a:ea typeface="DejaVu Sans"/>
                <a:cs typeface="DejaVu Sans"/>
              </a:defRPr>
            </a:lvl7pPr>
            <a:lvl8pPr algn="l">
              <a:buNone/>
              <a:defRPr sz="1875" b="1">
                <a:solidFill>
                  <a:srgbClr val="184C3B"/>
                </a:solidFill>
                <a:latin typeface="DejaVu Sans"/>
                <a:ea typeface="DejaVu Sans"/>
                <a:cs typeface="DejaVu Sans"/>
              </a:defRPr>
            </a:lvl8pPr>
            <a:lvl9pPr algn="l">
              <a:buNone/>
              <a:defRPr sz="1875" b="1">
                <a:solidFill>
                  <a:srgbClr val="184C3B"/>
                </a:solidFill>
                <a:latin typeface="DejaVu Sans"/>
                <a:ea typeface="DejaVu Sans"/>
                <a:cs typeface="DejaVu Sans"/>
              </a:defRPr>
            </a:lvl9pPr>
          </a:lstStyle>
          <a:p xmlns:a="http://schemas.openxmlformats.org/drawingml/2006/main">
            <a:pPr algn="l">
              <a:buNone/>
              <a:defRPr sz="1875" b="1">
                <a:solidFill>
                  <a:srgbClr val="184C3B"/>
                </a:solidFill>
                <a:latin typeface="Helvetica Neue"/>
                <a:ea typeface="Helvetica Neue"/>
                <a:cs typeface="Helvetica Neue"/>
              </a:defRPr>
            </a:pPr>
            <a:r>
              <a:rPr sz="1875" b="1">
                <a:solidFill>
                  <a:srgbClr val="184C3B"/>
                </a:solidFill>
                <a:latin typeface="Helvetica Neue"/>
                <a:ea typeface="Helvetica Neue"/>
                <a:cs typeface="Helvetica Neue"/>
              </a:rPr>
              <a:t>Sprint 5: 21 puntos en revisión y 5 pendientes. Ninguno aceptado.</a:t>
            </a:r>
          </a:p>
        </p:txBody>
      </p:sp>
      <p:sp>
        <p:nvSpPr>
          <p:cNvPr id="7" name="Conteo de historias PB. Excluye tareas y subtareas. No ">
            <a:extLst xmlns:a="http://schemas.openxmlformats.org/drawingml/2006/main">
              <a:ext uri="{FF2B5EF4-FFF2-40B4-BE49-F238E27FC236}">
                <a16:creationId xmlns:a16="http://schemas.microsoft.com/office/drawing/2014/main" id="{A30B4650-64CE-4D2E-A84E-CA991A0F0F5F}"/>
              </a:ext>
            </a:extLst>
          </p:cNvPr>
          <p:cNvSpPr>
            <a:spLocks xmlns:a="http://schemas.openxmlformats.org/drawingml/2006/main" noGrp="1"/>
          </p:cNvSpPr>
          <p:nvPr/>
        </p:nvSpPr>
        <p:spPr>
          <a:xfrm xmlns:a="http://schemas.openxmlformats.org/drawingml/2006/main">
            <a:off x="609600" y="60483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53685D"/>
                </a:solidFill>
                <a:latin typeface="Helvetica Neue"/>
                <a:ea typeface="Helvetica Neue"/>
                <a:cs typeface="Helvetica Neue"/>
              </a:defRPr>
            </a:defPPr>
            <a:lvl1pPr algn="l">
              <a:buNone/>
              <a:defRPr sz="1350" b="0">
                <a:solidFill>
                  <a:srgbClr val="53685D"/>
                </a:solidFill>
                <a:latin typeface="DejaVu Sans"/>
                <a:ea typeface="DejaVu Sans"/>
                <a:cs typeface="DejaVu Sans"/>
              </a:defRPr>
            </a:lvl1pPr>
            <a:lvl2pPr algn="l">
              <a:buNone/>
              <a:defRPr sz="1350" b="0">
                <a:solidFill>
                  <a:srgbClr val="53685D"/>
                </a:solidFill>
                <a:latin typeface="DejaVu Sans"/>
                <a:ea typeface="DejaVu Sans"/>
                <a:cs typeface="DejaVu Sans"/>
              </a:defRPr>
            </a:lvl2pPr>
            <a:lvl3pPr algn="l">
              <a:buNone/>
              <a:defRPr sz="1350" b="0">
                <a:solidFill>
                  <a:srgbClr val="53685D"/>
                </a:solidFill>
                <a:latin typeface="DejaVu Sans"/>
                <a:ea typeface="DejaVu Sans"/>
                <a:cs typeface="DejaVu Sans"/>
              </a:defRPr>
            </a:lvl3pPr>
            <a:lvl4pPr algn="l">
              <a:buNone/>
              <a:defRPr sz="1350" b="0">
                <a:solidFill>
                  <a:srgbClr val="53685D"/>
                </a:solidFill>
                <a:latin typeface="DejaVu Sans"/>
                <a:ea typeface="DejaVu Sans"/>
                <a:cs typeface="DejaVu Sans"/>
              </a:defRPr>
            </a:lvl4pPr>
            <a:lvl5pPr algn="l">
              <a:buNone/>
              <a:defRPr sz="1350" b="0">
                <a:solidFill>
                  <a:srgbClr val="53685D"/>
                </a:solidFill>
                <a:latin typeface="DejaVu Sans"/>
                <a:ea typeface="DejaVu Sans"/>
                <a:cs typeface="DejaVu Sans"/>
              </a:defRPr>
            </a:lvl5pPr>
            <a:lvl6pPr algn="l">
              <a:buNone/>
              <a:defRPr sz="1350" b="0">
                <a:solidFill>
                  <a:srgbClr val="53685D"/>
                </a:solidFill>
                <a:latin typeface="DejaVu Sans"/>
                <a:ea typeface="DejaVu Sans"/>
                <a:cs typeface="DejaVu Sans"/>
              </a:defRPr>
            </a:lvl6pPr>
            <a:lvl7pPr algn="l">
              <a:buNone/>
              <a:defRPr sz="1350" b="0">
                <a:solidFill>
                  <a:srgbClr val="53685D"/>
                </a:solidFill>
                <a:latin typeface="DejaVu Sans"/>
                <a:ea typeface="DejaVu Sans"/>
                <a:cs typeface="DejaVu Sans"/>
              </a:defRPr>
            </a:lvl7pPr>
            <a:lvl8pPr algn="l">
              <a:buNone/>
              <a:defRPr sz="1350" b="0">
                <a:solidFill>
                  <a:srgbClr val="53685D"/>
                </a:solidFill>
                <a:latin typeface="DejaVu Sans"/>
                <a:ea typeface="DejaVu Sans"/>
                <a:cs typeface="DejaVu Sans"/>
              </a:defRPr>
            </a:lvl8pPr>
            <a:lvl9pPr algn="l">
              <a:buNone/>
              <a:defRPr sz="1350" b="0">
                <a:solidFill>
                  <a:srgbClr val="53685D"/>
                </a:solidFill>
                <a:latin typeface="DejaVu Sans"/>
                <a:ea typeface="DejaVu Sans"/>
                <a:cs typeface="DejaVu Sans"/>
              </a:defRPr>
            </a:lvl9pPr>
          </a:lstStyle>
          <a:p xmlns:a="http://schemas.openxmlformats.org/drawingml/2006/main">
            <a:pPr algn="l">
              <a:buNone/>
              <a:defRPr sz="1350" b="0">
                <a:solidFill>
                  <a:srgbClr val="53685D"/>
                </a:solidFill>
                <a:latin typeface="Helvetica Neue"/>
                <a:ea typeface="Helvetica Neue"/>
                <a:cs typeface="Helvetica Neue"/>
              </a:defRPr>
            </a:pPr>
            <a:r>
              <a:rPr sz="1350" b="0">
                <a:solidFill>
                  <a:srgbClr val="53685D"/>
                </a:solidFill>
                <a:latin typeface="Helvetica Neue"/>
                <a:ea typeface="Helvetica Neue"/>
                <a:cs typeface="Helvetica Neue"/>
              </a:rPr>
              <a:t>Conteo de historias PB. Excluye tareas y subtareas. No equivale a un porcentaje terminado.</a:t>
            </a:r>
          </a:p>
        </p:txBody>
      </p:sp>
    </p:spTree>
    <p:extLst>
      <p:ext uri="{BB962C8B-B14F-4D97-AF65-F5344CB8AC3E}">
        <p14:creationId xmlns:p14="http://schemas.microsoft.com/office/powerpoint/2010/main" val="682357835"/>
      </p:ext>
    </p:extLst>
  </p:cSld>
</p:sld>
</file>

<file path=ppt/slides/slide12.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4" name="METODOLOGÍA Y REGISTROS">
            <a:extLst xmlns:a="http://schemas.openxmlformats.org/drawingml/2006/main">
              <a:ext uri="{FF2B5EF4-FFF2-40B4-BE49-F238E27FC236}">
                <a16:creationId xmlns:a16="http://schemas.microsoft.com/office/drawing/2014/main" id="{E04B66FE-FDD1-4002-839E-1145DFE44663}"/>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200" b="1">
                <a:solidFill>
                  <a:srgbClr val="B58C3C"/>
                </a:solidFill>
                <a:latin typeface="Helvetica Neue"/>
                <a:ea typeface="Helvetica Neue"/>
                <a:cs typeface="Helvetica Neue"/>
              </a:defRPr>
            </a:defPPr>
            <a:lvl1pPr>
              <a:defRPr sz="1200" b="1">
                <a:solidFill>
                  <a:srgbClr val="B58C3C"/>
                </a:solidFill>
                <a:latin typeface="Helvetica Neue"/>
                <a:ea typeface="Helvetica Neue"/>
                <a:cs typeface="Helvetica Neue"/>
              </a:defRPr>
            </a:lvl1pPr>
            <a:lvl2pPr>
              <a:defRPr sz="1200" b="1">
                <a:solidFill>
                  <a:srgbClr val="B58C3C"/>
                </a:solidFill>
                <a:latin typeface="Helvetica Neue"/>
                <a:ea typeface="Helvetica Neue"/>
                <a:cs typeface="Helvetica Neue"/>
              </a:defRPr>
            </a:lvl2pPr>
            <a:lvl3pPr>
              <a:defRPr sz="1200" b="1">
                <a:solidFill>
                  <a:srgbClr val="B58C3C"/>
                </a:solidFill>
                <a:latin typeface="Helvetica Neue"/>
                <a:ea typeface="Helvetica Neue"/>
                <a:cs typeface="Helvetica Neue"/>
              </a:defRPr>
            </a:lvl3pPr>
            <a:lvl4pPr>
              <a:defRPr sz="1200" b="1">
                <a:solidFill>
                  <a:srgbClr val="B58C3C"/>
                </a:solidFill>
                <a:latin typeface="Helvetica Neue"/>
                <a:ea typeface="Helvetica Neue"/>
                <a:cs typeface="Helvetica Neue"/>
              </a:defRPr>
            </a:lvl4pPr>
            <a:lvl5pPr>
              <a:defRPr sz="1200" b="1">
                <a:solidFill>
                  <a:srgbClr val="B58C3C"/>
                </a:solidFill>
                <a:latin typeface="Helvetica Neue"/>
                <a:ea typeface="Helvetica Neue"/>
                <a:cs typeface="Helvetica Neue"/>
              </a:defRPr>
            </a:lvl5pPr>
            <a:lvl6pPr>
              <a:defRPr sz="1200" b="1">
                <a:solidFill>
                  <a:srgbClr val="B58C3C"/>
                </a:solidFill>
                <a:latin typeface="Helvetica Neue"/>
                <a:ea typeface="Helvetica Neue"/>
                <a:cs typeface="Helvetica Neue"/>
              </a:defRPr>
            </a:lvl6pPr>
            <a:lvl7pPr>
              <a:defRPr sz="1200" b="1">
                <a:solidFill>
                  <a:srgbClr val="B58C3C"/>
                </a:solidFill>
                <a:latin typeface="Helvetica Neue"/>
                <a:ea typeface="Helvetica Neue"/>
                <a:cs typeface="Helvetica Neue"/>
              </a:defRPr>
            </a:lvl7pPr>
            <a:lvl8pPr>
              <a:defRPr sz="1200" b="1">
                <a:solidFill>
                  <a:srgbClr val="B58C3C"/>
                </a:solidFill>
                <a:latin typeface="Helvetica Neue"/>
                <a:ea typeface="Helvetica Neue"/>
                <a:cs typeface="Helvetica Neue"/>
              </a:defRPr>
            </a:lvl8pPr>
            <a:lvl9pPr>
              <a:defRPr sz="1200" b="1">
                <a:solidFill>
                  <a:srgbClr val="B58C3C"/>
                </a:solidFill>
                <a:latin typeface="Helvetica Neue"/>
                <a:ea typeface="Helvetica Neue"/>
                <a:cs typeface="Helvetica Neue"/>
              </a:defRPr>
            </a:lvl9pPr>
          </a:lstStyle>
          <a:p xmlns:a="http://schemas.openxmlformats.org/drawingml/2006/main">
            <a:pPr>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METODOLOGÍA Y REGISTROS</a:t>
            </a:r>
          </a:p>
        </p:txBody>
      </p:sp>
      <p:sp>
        <p:nvSpPr>
          <p:cNvPr id="2" name="Cómo organizamos el trabajo con Scrum">
            <a:extLst xmlns:a="http://schemas.openxmlformats.org/drawingml/2006/main">
              <a:ext uri="{FF2B5EF4-FFF2-40B4-BE49-F238E27FC236}">
                <a16:creationId xmlns:a16="http://schemas.microsoft.com/office/drawing/2014/main" id="{E1FA8987-AF25-4349-97FA-F03879F46040}"/>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3300" b="0">
                <a:solidFill>
                  <a:srgbClr val="184C3B"/>
                </a:solidFill>
                <a:latin typeface="Georgia"/>
                <a:ea typeface="Georgia"/>
                <a:cs typeface="Georgia"/>
              </a:defRPr>
            </a:defPPr>
            <a:lvl1pPr>
              <a:defRPr sz="3300" b="0">
                <a:solidFill>
                  <a:srgbClr val="184C3B"/>
                </a:solidFill>
                <a:latin typeface="Georgia"/>
                <a:ea typeface="Georgia"/>
                <a:cs typeface="Georgia"/>
              </a:defRPr>
            </a:lvl1pPr>
            <a:lvl2pPr>
              <a:defRPr sz="3300" b="0">
                <a:solidFill>
                  <a:srgbClr val="184C3B"/>
                </a:solidFill>
                <a:latin typeface="Georgia"/>
                <a:ea typeface="Georgia"/>
                <a:cs typeface="Georgia"/>
              </a:defRPr>
            </a:lvl2pPr>
            <a:lvl3pPr>
              <a:defRPr sz="3300" b="0">
                <a:solidFill>
                  <a:srgbClr val="184C3B"/>
                </a:solidFill>
                <a:latin typeface="Georgia"/>
                <a:ea typeface="Georgia"/>
                <a:cs typeface="Georgia"/>
              </a:defRPr>
            </a:lvl3pPr>
            <a:lvl4pPr>
              <a:defRPr sz="3300" b="0">
                <a:solidFill>
                  <a:srgbClr val="184C3B"/>
                </a:solidFill>
                <a:latin typeface="Georgia"/>
                <a:ea typeface="Georgia"/>
                <a:cs typeface="Georgia"/>
              </a:defRPr>
            </a:lvl4pPr>
            <a:lvl5pPr>
              <a:defRPr sz="3300" b="0">
                <a:solidFill>
                  <a:srgbClr val="184C3B"/>
                </a:solidFill>
                <a:latin typeface="Georgia"/>
                <a:ea typeface="Georgia"/>
                <a:cs typeface="Georgia"/>
              </a:defRPr>
            </a:lvl5pPr>
            <a:lvl6pPr>
              <a:defRPr sz="3300" b="0">
                <a:solidFill>
                  <a:srgbClr val="184C3B"/>
                </a:solidFill>
                <a:latin typeface="Georgia"/>
                <a:ea typeface="Georgia"/>
                <a:cs typeface="Georgia"/>
              </a:defRPr>
            </a:lvl6pPr>
            <a:lvl7pPr>
              <a:defRPr sz="3300" b="0">
                <a:solidFill>
                  <a:srgbClr val="184C3B"/>
                </a:solidFill>
                <a:latin typeface="Georgia"/>
                <a:ea typeface="Georgia"/>
                <a:cs typeface="Georgia"/>
              </a:defRPr>
            </a:lvl7pPr>
            <a:lvl8pPr>
              <a:defRPr sz="3300" b="0">
                <a:solidFill>
                  <a:srgbClr val="184C3B"/>
                </a:solidFill>
                <a:latin typeface="Georgia"/>
                <a:ea typeface="Georgia"/>
                <a:cs typeface="Georgia"/>
              </a:defRPr>
            </a:lvl8pPr>
            <a:lvl9pPr>
              <a:defRPr sz="3300" b="0">
                <a:solidFill>
                  <a:srgbClr val="184C3B"/>
                </a:solidFill>
                <a:latin typeface="Georgia"/>
                <a:ea typeface="Georgia"/>
                <a:cs typeface="Georgia"/>
              </a:defRPr>
            </a:lvl9pPr>
          </a:lstStyle>
          <a:p xmlns:a="http://schemas.openxmlformats.org/drawingml/2006/main">
            <a:pPr>
              <a:defRPr sz="3300" b="0">
                <a:solidFill>
                  <a:srgbClr val="184C3B"/>
                </a:solidFill>
                <a:latin typeface="Georgia"/>
                <a:ea typeface="Georgia"/>
                <a:cs typeface="Georgia"/>
              </a:defRPr>
            </a:pPr>
            <a:r>
              <a:rPr sz="3300" b="0">
                <a:solidFill>
                  <a:srgbClr val="184C3B"/>
                </a:solidFill>
                <a:latin typeface="Georgia"/>
                <a:ea typeface="Georgia"/>
                <a:cs typeface="Georgia"/>
              </a:rPr>
              <a:t>Cómo organizamos el trabajo con Scrum</a:t>
            </a:r>
          </a:p>
        </p:txBody>
      </p:sp>
      <p:sp>
        <p:nvSpPr>
          <p:cNvPr id="3" name="Planificación">
            <a:extLst xmlns:a="http://schemas.openxmlformats.org/drawingml/2006/main">
              <a:ext uri="{FF2B5EF4-FFF2-40B4-BE49-F238E27FC236}">
                <a16:creationId xmlns:a16="http://schemas.microsoft.com/office/drawing/2014/main" id="{78B3BF8F-C194-4D5F-9918-7A03137A6E0C}"/>
              </a:ext>
            </a:extLst>
          </p:cNvPr>
          <p:cNvSpPr>
            <a:spLocks xmlns:a="http://schemas.openxmlformats.org/drawingml/2006/main" noGrp="1"/>
          </p:cNvSpPr>
          <p:nvPr/>
        </p:nvSpPr>
        <p:spPr>
          <a:xfrm xmlns:a="http://schemas.openxmlformats.org/drawingml/2006/main">
            <a:off x="609600" y="2095500"/>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84C3B"/>
                </a:solidFill>
                <a:latin typeface="Georgia"/>
                <a:ea typeface="Georgia"/>
                <a:cs typeface="Georgia"/>
              </a:defRPr>
            </a:defPPr>
            <a:lvl1pPr>
              <a:defRPr sz="2250" b="0">
                <a:solidFill>
                  <a:srgbClr val="184C3B"/>
                </a:solidFill>
                <a:latin typeface="Georgia"/>
                <a:ea typeface="Georgia"/>
                <a:cs typeface="Georgia"/>
              </a:defRPr>
            </a:lvl1pPr>
            <a:lvl2pPr>
              <a:defRPr sz="2250" b="0">
                <a:solidFill>
                  <a:srgbClr val="184C3B"/>
                </a:solidFill>
                <a:latin typeface="Georgia"/>
                <a:ea typeface="Georgia"/>
                <a:cs typeface="Georgia"/>
              </a:defRPr>
            </a:lvl2pPr>
            <a:lvl3pPr>
              <a:defRPr sz="2250" b="0">
                <a:solidFill>
                  <a:srgbClr val="184C3B"/>
                </a:solidFill>
                <a:latin typeface="Georgia"/>
                <a:ea typeface="Georgia"/>
                <a:cs typeface="Georgia"/>
              </a:defRPr>
            </a:lvl3pPr>
            <a:lvl4pPr>
              <a:defRPr sz="2250" b="0">
                <a:solidFill>
                  <a:srgbClr val="184C3B"/>
                </a:solidFill>
                <a:latin typeface="Georgia"/>
                <a:ea typeface="Georgia"/>
                <a:cs typeface="Georgia"/>
              </a:defRPr>
            </a:lvl4pPr>
            <a:lvl5pPr>
              <a:defRPr sz="2250" b="0">
                <a:solidFill>
                  <a:srgbClr val="184C3B"/>
                </a:solidFill>
                <a:latin typeface="Georgia"/>
                <a:ea typeface="Georgia"/>
                <a:cs typeface="Georgia"/>
              </a:defRPr>
            </a:lvl5pPr>
            <a:lvl6pPr>
              <a:defRPr sz="2250" b="0">
                <a:solidFill>
                  <a:srgbClr val="184C3B"/>
                </a:solidFill>
                <a:latin typeface="Georgia"/>
                <a:ea typeface="Georgia"/>
                <a:cs typeface="Georgia"/>
              </a:defRPr>
            </a:lvl6pPr>
            <a:lvl7pPr>
              <a:defRPr sz="2250" b="0">
                <a:solidFill>
                  <a:srgbClr val="184C3B"/>
                </a:solidFill>
                <a:latin typeface="Georgia"/>
                <a:ea typeface="Georgia"/>
                <a:cs typeface="Georgia"/>
              </a:defRPr>
            </a:lvl7pPr>
            <a:lvl8pPr>
              <a:defRPr sz="2250" b="0">
                <a:solidFill>
                  <a:srgbClr val="184C3B"/>
                </a:solidFill>
                <a:latin typeface="Georgia"/>
                <a:ea typeface="Georgia"/>
                <a:cs typeface="Georgia"/>
              </a:defRPr>
            </a:lvl8pPr>
            <a:lvl9pPr>
              <a:defRPr sz="2250" b="0">
                <a:solidFill>
                  <a:srgbClr val="184C3B"/>
                </a:solidFill>
                <a:latin typeface="Georgia"/>
                <a:ea typeface="Georgia"/>
                <a:cs typeface="Georgia"/>
              </a:defRPr>
            </a:lvl9pPr>
          </a:lstStyle>
          <a:p xmlns:a="http://schemas.openxmlformats.org/drawingml/2006/main">
            <a:pPr>
              <a:defRPr sz="2250" b="0">
                <a:solidFill>
                  <a:srgbClr val="184C3B"/>
                </a:solidFill>
                <a:latin typeface="Georgia"/>
                <a:ea typeface="Georgia"/>
                <a:cs typeface="Georgia"/>
              </a:defRPr>
            </a:pPr>
            <a:r>
              <a:rPr sz="2250" b="0">
                <a:solidFill>
                  <a:srgbClr val="184C3B"/>
                </a:solidFill>
                <a:latin typeface="Georgia"/>
                <a:ea typeface="Georgia"/>
                <a:cs typeface="Georgia"/>
              </a:rPr>
              <a:t>Planificación</a:t>
            </a:r>
          </a:p>
        </p:txBody>
      </p:sp>
      <p:sp>
        <p:nvSpPr>
          <p:cNvPr id="4" name="Elegir del backlog qué trabajo cabe y cómo verific">
            <a:extLst xmlns:a="http://schemas.openxmlformats.org/drawingml/2006/main">
              <a:ext uri="{FF2B5EF4-FFF2-40B4-BE49-F238E27FC236}">
                <a16:creationId xmlns:a16="http://schemas.microsoft.com/office/drawing/2014/main" id="{E397382D-6D69-4787-8DB2-1AEFD18ABC2C}"/>
              </a:ext>
            </a:extLst>
          </p:cNvPr>
          <p:cNvSpPr>
            <a:spLocks xmlns:a="http://schemas.openxmlformats.org/drawingml/2006/main" noGrp="1"/>
          </p:cNvSpPr>
          <p:nvPr/>
        </p:nvSpPr>
        <p:spPr>
          <a:xfrm xmlns:a="http://schemas.openxmlformats.org/drawingml/2006/main">
            <a:off x="3571875" y="211455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263D33"/>
                </a:solidFill>
                <a:latin typeface="Helvetica Neue"/>
                <a:ea typeface="Helvetica Neue"/>
                <a:cs typeface="Helvetica Neue"/>
              </a:defRPr>
            </a:defPPr>
            <a:lvl1pPr>
              <a:defRPr sz="2175" b="0">
                <a:solidFill>
                  <a:srgbClr val="263D33"/>
                </a:solidFill>
                <a:latin typeface="Helvetica Neue"/>
                <a:ea typeface="Helvetica Neue"/>
                <a:cs typeface="Helvetica Neue"/>
              </a:defRPr>
            </a:lvl1pPr>
            <a:lvl2pPr>
              <a:defRPr sz="2175" b="0">
                <a:solidFill>
                  <a:srgbClr val="263D33"/>
                </a:solidFill>
                <a:latin typeface="Helvetica Neue"/>
                <a:ea typeface="Helvetica Neue"/>
                <a:cs typeface="Helvetica Neue"/>
              </a:defRPr>
            </a:lvl2pPr>
            <a:lvl3pPr>
              <a:defRPr sz="2175" b="0">
                <a:solidFill>
                  <a:srgbClr val="263D33"/>
                </a:solidFill>
                <a:latin typeface="Helvetica Neue"/>
                <a:ea typeface="Helvetica Neue"/>
                <a:cs typeface="Helvetica Neue"/>
              </a:defRPr>
            </a:lvl3pPr>
            <a:lvl4pPr>
              <a:defRPr sz="2175" b="0">
                <a:solidFill>
                  <a:srgbClr val="263D33"/>
                </a:solidFill>
                <a:latin typeface="Helvetica Neue"/>
                <a:ea typeface="Helvetica Neue"/>
                <a:cs typeface="Helvetica Neue"/>
              </a:defRPr>
            </a:lvl4pPr>
            <a:lvl5pPr>
              <a:defRPr sz="2175" b="0">
                <a:solidFill>
                  <a:srgbClr val="263D33"/>
                </a:solidFill>
                <a:latin typeface="Helvetica Neue"/>
                <a:ea typeface="Helvetica Neue"/>
                <a:cs typeface="Helvetica Neue"/>
              </a:defRPr>
            </a:lvl5pPr>
            <a:lvl6pPr>
              <a:defRPr sz="2175" b="0">
                <a:solidFill>
                  <a:srgbClr val="263D33"/>
                </a:solidFill>
                <a:latin typeface="Helvetica Neue"/>
                <a:ea typeface="Helvetica Neue"/>
                <a:cs typeface="Helvetica Neue"/>
              </a:defRPr>
            </a:lvl6pPr>
            <a:lvl7pPr>
              <a:defRPr sz="2175" b="0">
                <a:solidFill>
                  <a:srgbClr val="263D33"/>
                </a:solidFill>
                <a:latin typeface="Helvetica Neue"/>
                <a:ea typeface="Helvetica Neue"/>
                <a:cs typeface="Helvetica Neue"/>
              </a:defRPr>
            </a:lvl7pPr>
            <a:lvl8pPr>
              <a:defRPr sz="2175" b="0">
                <a:solidFill>
                  <a:srgbClr val="263D33"/>
                </a:solidFill>
                <a:latin typeface="Helvetica Neue"/>
                <a:ea typeface="Helvetica Neue"/>
                <a:cs typeface="Helvetica Neue"/>
              </a:defRPr>
            </a:lvl8pPr>
            <a:lvl9pPr>
              <a:defRPr sz="2175" b="0">
                <a:solidFill>
                  <a:srgbClr val="263D33"/>
                </a:solidFill>
                <a:latin typeface="Helvetica Neue"/>
                <a:ea typeface="Helvetica Neue"/>
                <a:cs typeface="Helvetica Neue"/>
              </a:defRPr>
            </a:lvl9pPr>
          </a:lstStyle>
          <a:p xmlns:a="http://schemas.openxmlformats.org/drawingml/2006/main">
            <a:pPr>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Elegir del backlog qué trabajo cabe y cómo verificarlo.</a:t>
            </a:r>
          </a:p>
        </p:txBody>
      </p:sp>
      <p:sp>
        <p:nvSpPr>
          <p:cNvPr id="5" name="Seguimiento">
            <a:extLst xmlns:a="http://schemas.openxmlformats.org/drawingml/2006/main">
              <a:ext uri="{FF2B5EF4-FFF2-40B4-BE49-F238E27FC236}">
                <a16:creationId xmlns:a16="http://schemas.microsoft.com/office/drawing/2014/main" id="{B86196B8-140D-4D3F-A53B-D4B7C351CB31}"/>
              </a:ext>
            </a:extLst>
          </p:cNvPr>
          <p:cNvSpPr>
            <a:spLocks xmlns:a="http://schemas.openxmlformats.org/drawingml/2006/main" noGrp="1"/>
          </p:cNvSpPr>
          <p:nvPr/>
        </p:nvSpPr>
        <p:spPr>
          <a:xfrm xmlns:a="http://schemas.openxmlformats.org/drawingml/2006/main">
            <a:off x="609600" y="292417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84C3B"/>
                </a:solidFill>
                <a:latin typeface="Georgia"/>
                <a:ea typeface="Georgia"/>
                <a:cs typeface="Georgia"/>
              </a:defRPr>
            </a:defPPr>
            <a:lvl1pPr>
              <a:defRPr sz="2250" b="0">
                <a:solidFill>
                  <a:srgbClr val="184C3B"/>
                </a:solidFill>
                <a:latin typeface="Georgia"/>
                <a:ea typeface="Georgia"/>
                <a:cs typeface="Georgia"/>
              </a:defRPr>
            </a:lvl1pPr>
            <a:lvl2pPr>
              <a:defRPr sz="2250" b="0">
                <a:solidFill>
                  <a:srgbClr val="184C3B"/>
                </a:solidFill>
                <a:latin typeface="Georgia"/>
                <a:ea typeface="Georgia"/>
                <a:cs typeface="Georgia"/>
              </a:defRPr>
            </a:lvl2pPr>
            <a:lvl3pPr>
              <a:defRPr sz="2250" b="0">
                <a:solidFill>
                  <a:srgbClr val="184C3B"/>
                </a:solidFill>
                <a:latin typeface="Georgia"/>
                <a:ea typeface="Georgia"/>
                <a:cs typeface="Georgia"/>
              </a:defRPr>
            </a:lvl3pPr>
            <a:lvl4pPr>
              <a:defRPr sz="2250" b="0">
                <a:solidFill>
                  <a:srgbClr val="184C3B"/>
                </a:solidFill>
                <a:latin typeface="Georgia"/>
                <a:ea typeface="Georgia"/>
                <a:cs typeface="Georgia"/>
              </a:defRPr>
            </a:lvl4pPr>
            <a:lvl5pPr>
              <a:defRPr sz="2250" b="0">
                <a:solidFill>
                  <a:srgbClr val="184C3B"/>
                </a:solidFill>
                <a:latin typeface="Georgia"/>
                <a:ea typeface="Georgia"/>
                <a:cs typeface="Georgia"/>
              </a:defRPr>
            </a:lvl5pPr>
            <a:lvl6pPr>
              <a:defRPr sz="2250" b="0">
                <a:solidFill>
                  <a:srgbClr val="184C3B"/>
                </a:solidFill>
                <a:latin typeface="Georgia"/>
                <a:ea typeface="Georgia"/>
                <a:cs typeface="Georgia"/>
              </a:defRPr>
            </a:lvl6pPr>
            <a:lvl7pPr>
              <a:defRPr sz="2250" b="0">
                <a:solidFill>
                  <a:srgbClr val="184C3B"/>
                </a:solidFill>
                <a:latin typeface="Georgia"/>
                <a:ea typeface="Georgia"/>
                <a:cs typeface="Georgia"/>
              </a:defRPr>
            </a:lvl7pPr>
            <a:lvl8pPr>
              <a:defRPr sz="2250" b="0">
                <a:solidFill>
                  <a:srgbClr val="184C3B"/>
                </a:solidFill>
                <a:latin typeface="Georgia"/>
                <a:ea typeface="Georgia"/>
                <a:cs typeface="Georgia"/>
              </a:defRPr>
            </a:lvl8pPr>
            <a:lvl9pPr>
              <a:defRPr sz="2250" b="0">
                <a:solidFill>
                  <a:srgbClr val="184C3B"/>
                </a:solidFill>
                <a:latin typeface="Georgia"/>
                <a:ea typeface="Georgia"/>
                <a:cs typeface="Georgia"/>
              </a:defRPr>
            </a:lvl9pPr>
          </a:lstStyle>
          <a:p xmlns:a="http://schemas.openxmlformats.org/drawingml/2006/main">
            <a:pPr>
              <a:defRPr sz="2250" b="0">
                <a:solidFill>
                  <a:srgbClr val="184C3B"/>
                </a:solidFill>
                <a:latin typeface="Georgia"/>
                <a:ea typeface="Georgia"/>
                <a:cs typeface="Georgia"/>
              </a:defRPr>
            </a:pPr>
            <a:r>
              <a:rPr sz="2250" b="0">
                <a:solidFill>
                  <a:srgbClr val="184C3B"/>
                </a:solidFill>
                <a:latin typeface="Georgia"/>
                <a:ea typeface="Georgia"/>
                <a:cs typeface="Georgia"/>
              </a:rPr>
              <a:t>Seguimiento</a:t>
            </a:r>
          </a:p>
        </p:txBody>
      </p:sp>
      <p:sp>
        <p:nvSpPr>
          <p:cNvPr id="6" name="Tablero de estados, daily real e impedimentos.">
            <a:extLst xmlns:a="http://schemas.openxmlformats.org/drawingml/2006/main">
              <a:ext uri="{FF2B5EF4-FFF2-40B4-BE49-F238E27FC236}">
                <a16:creationId xmlns:a16="http://schemas.microsoft.com/office/drawing/2014/main" id="{47294DAE-0585-468C-980A-78894E2E3BB3}"/>
              </a:ext>
            </a:extLst>
          </p:cNvPr>
          <p:cNvSpPr>
            <a:spLocks xmlns:a="http://schemas.openxmlformats.org/drawingml/2006/main" noGrp="1"/>
          </p:cNvSpPr>
          <p:nvPr/>
        </p:nvSpPr>
        <p:spPr>
          <a:xfrm xmlns:a="http://schemas.openxmlformats.org/drawingml/2006/main">
            <a:off x="3571875" y="2943225"/>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263D33"/>
                </a:solidFill>
                <a:latin typeface="Helvetica Neue"/>
                <a:ea typeface="Helvetica Neue"/>
                <a:cs typeface="Helvetica Neue"/>
              </a:defRPr>
            </a:defPPr>
            <a:lvl1pPr>
              <a:defRPr sz="2175" b="0">
                <a:solidFill>
                  <a:srgbClr val="263D33"/>
                </a:solidFill>
                <a:latin typeface="Helvetica Neue"/>
                <a:ea typeface="Helvetica Neue"/>
                <a:cs typeface="Helvetica Neue"/>
              </a:defRPr>
            </a:lvl1pPr>
            <a:lvl2pPr>
              <a:defRPr sz="2175" b="0">
                <a:solidFill>
                  <a:srgbClr val="263D33"/>
                </a:solidFill>
                <a:latin typeface="Helvetica Neue"/>
                <a:ea typeface="Helvetica Neue"/>
                <a:cs typeface="Helvetica Neue"/>
              </a:defRPr>
            </a:lvl2pPr>
            <a:lvl3pPr>
              <a:defRPr sz="2175" b="0">
                <a:solidFill>
                  <a:srgbClr val="263D33"/>
                </a:solidFill>
                <a:latin typeface="Helvetica Neue"/>
                <a:ea typeface="Helvetica Neue"/>
                <a:cs typeface="Helvetica Neue"/>
              </a:defRPr>
            </a:lvl3pPr>
            <a:lvl4pPr>
              <a:defRPr sz="2175" b="0">
                <a:solidFill>
                  <a:srgbClr val="263D33"/>
                </a:solidFill>
                <a:latin typeface="Helvetica Neue"/>
                <a:ea typeface="Helvetica Neue"/>
                <a:cs typeface="Helvetica Neue"/>
              </a:defRPr>
            </a:lvl4pPr>
            <a:lvl5pPr>
              <a:defRPr sz="2175" b="0">
                <a:solidFill>
                  <a:srgbClr val="263D33"/>
                </a:solidFill>
                <a:latin typeface="Helvetica Neue"/>
                <a:ea typeface="Helvetica Neue"/>
                <a:cs typeface="Helvetica Neue"/>
              </a:defRPr>
            </a:lvl5pPr>
            <a:lvl6pPr>
              <a:defRPr sz="2175" b="0">
                <a:solidFill>
                  <a:srgbClr val="263D33"/>
                </a:solidFill>
                <a:latin typeface="Helvetica Neue"/>
                <a:ea typeface="Helvetica Neue"/>
                <a:cs typeface="Helvetica Neue"/>
              </a:defRPr>
            </a:lvl6pPr>
            <a:lvl7pPr>
              <a:defRPr sz="2175" b="0">
                <a:solidFill>
                  <a:srgbClr val="263D33"/>
                </a:solidFill>
                <a:latin typeface="Helvetica Neue"/>
                <a:ea typeface="Helvetica Neue"/>
                <a:cs typeface="Helvetica Neue"/>
              </a:defRPr>
            </a:lvl7pPr>
            <a:lvl8pPr>
              <a:defRPr sz="2175" b="0">
                <a:solidFill>
                  <a:srgbClr val="263D33"/>
                </a:solidFill>
                <a:latin typeface="Helvetica Neue"/>
                <a:ea typeface="Helvetica Neue"/>
                <a:cs typeface="Helvetica Neue"/>
              </a:defRPr>
            </a:lvl8pPr>
            <a:lvl9pPr>
              <a:defRPr sz="2175" b="0">
                <a:solidFill>
                  <a:srgbClr val="263D33"/>
                </a:solidFill>
                <a:latin typeface="Helvetica Neue"/>
                <a:ea typeface="Helvetica Neue"/>
                <a:cs typeface="Helvetica Neue"/>
              </a:defRPr>
            </a:lvl9pPr>
          </a:lstStyle>
          <a:p xmlns:a="http://schemas.openxmlformats.org/drawingml/2006/main">
            <a:pPr>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Tablero de estados, daily real e impedimentos.</a:t>
            </a:r>
          </a:p>
        </p:txBody>
      </p:sp>
      <p:sp>
        <p:nvSpPr>
          <p:cNvPr id="7" name="Review">
            <a:extLst xmlns:a="http://schemas.openxmlformats.org/drawingml/2006/main">
              <a:ext uri="{FF2B5EF4-FFF2-40B4-BE49-F238E27FC236}">
                <a16:creationId xmlns:a16="http://schemas.microsoft.com/office/drawing/2014/main" id="{0A626112-7B76-4B1B-BCCD-92296980A65A}"/>
              </a:ext>
            </a:extLst>
          </p:cNvPr>
          <p:cNvSpPr>
            <a:spLocks xmlns:a="http://schemas.openxmlformats.org/drawingml/2006/main" noGrp="1"/>
          </p:cNvSpPr>
          <p:nvPr/>
        </p:nvSpPr>
        <p:spPr>
          <a:xfrm xmlns:a="http://schemas.openxmlformats.org/drawingml/2006/main">
            <a:off x="609600" y="3752850"/>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84C3B"/>
                </a:solidFill>
                <a:latin typeface="Georgia"/>
                <a:ea typeface="Georgia"/>
                <a:cs typeface="Georgia"/>
              </a:defRPr>
            </a:defPPr>
            <a:lvl1pPr>
              <a:defRPr sz="2250" b="0">
                <a:solidFill>
                  <a:srgbClr val="184C3B"/>
                </a:solidFill>
                <a:latin typeface="Georgia"/>
                <a:ea typeface="Georgia"/>
                <a:cs typeface="Georgia"/>
              </a:defRPr>
            </a:lvl1pPr>
            <a:lvl2pPr>
              <a:defRPr sz="2250" b="0">
                <a:solidFill>
                  <a:srgbClr val="184C3B"/>
                </a:solidFill>
                <a:latin typeface="Georgia"/>
                <a:ea typeface="Georgia"/>
                <a:cs typeface="Georgia"/>
              </a:defRPr>
            </a:lvl2pPr>
            <a:lvl3pPr>
              <a:defRPr sz="2250" b="0">
                <a:solidFill>
                  <a:srgbClr val="184C3B"/>
                </a:solidFill>
                <a:latin typeface="Georgia"/>
                <a:ea typeface="Georgia"/>
                <a:cs typeface="Georgia"/>
              </a:defRPr>
            </a:lvl3pPr>
            <a:lvl4pPr>
              <a:defRPr sz="2250" b="0">
                <a:solidFill>
                  <a:srgbClr val="184C3B"/>
                </a:solidFill>
                <a:latin typeface="Georgia"/>
                <a:ea typeface="Georgia"/>
                <a:cs typeface="Georgia"/>
              </a:defRPr>
            </a:lvl4pPr>
            <a:lvl5pPr>
              <a:defRPr sz="2250" b="0">
                <a:solidFill>
                  <a:srgbClr val="184C3B"/>
                </a:solidFill>
                <a:latin typeface="Georgia"/>
                <a:ea typeface="Georgia"/>
                <a:cs typeface="Georgia"/>
              </a:defRPr>
            </a:lvl5pPr>
            <a:lvl6pPr>
              <a:defRPr sz="2250" b="0">
                <a:solidFill>
                  <a:srgbClr val="184C3B"/>
                </a:solidFill>
                <a:latin typeface="Georgia"/>
                <a:ea typeface="Georgia"/>
                <a:cs typeface="Georgia"/>
              </a:defRPr>
            </a:lvl6pPr>
            <a:lvl7pPr>
              <a:defRPr sz="2250" b="0">
                <a:solidFill>
                  <a:srgbClr val="184C3B"/>
                </a:solidFill>
                <a:latin typeface="Georgia"/>
                <a:ea typeface="Georgia"/>
                <a:cs typeface="Georgia"/>
              </a:defRPr>
            </a:lvl7pPr>
            <a:lvl8pPr>
              <a:defRPr sz="2250" b="0">
                <a:solidFill>
                  <a:srgbClr val="184C3B"/>
                </a:solidFill>
                <a:latin typeface="Georgia"/>
                <a:ea typeface="Georgia"/>
                <a:cs typeface="Georgia"/>
              </a:defRPr>
            </a:lvl8pPr>
            <a:lvl9pPr>
              <a:defRPr sz="2250" b="0">
                <a:solidFill>
                  <a:srgbClr val="184C3B"/>
                </a:solidFill>
                <a:latin typeface="Georgia"/>
                <a:ea typeface="Georgia"/>
                <a:cs typeface="Georgia"/>
              </a:defRPr>
            </a:lvl9pPr>
          </a:lstStyle>
          <a:p xmlns:a="http://schemas.openxmlformats.org/drawingml/2006/main">
            <a:pPr>
              <a:defRPr sz="2250" b="0">
                <a:solidFill>
                  <a:srgbClr val="184C3B"/>
                </a:solidFill>
                <a:latin typeface="Georgia"/>
                <a:ea typeface="Georgia"/>
                <a:cs typeface="Georgia"/>
              </a:defRPr>
            </a:pPr>
            <a:r>
              <a:rPr sz="2250" b="0">
                <a:solidFill>
                  <a:srgbClr val="184C3B"/>
                </a:solidFill>
                <a:latin typeface="Georgia"/>
                <a:ea typeface="Georgia"/>
                <a:cs typeface="Georgia"/>
              </a:rPr>
              <a:t>Review</a:t>
            </a:r>
          </a:p>
        </p:txBody>
      </p:sp>
      <p:sp>
        <p:nvSpPr>
          <p:cNvPr id="8" name="Revisar el producto y registrar su aceptación.">
            <a:extLst xmlns:a="http://schemas.openxmlformats.org/drawingml/2006/main">
              <a:ext uri="{FF2B5EF4-FFF2-40B4-BE49-F238E27FC236}">
                <a16:creationId xmlns:a16="http://schemas.microsoft.com/office/drawing/2014/main" id="{1F0AD9FA-B845-430E-97FA-8E8C629FE531}"/>
              </a:ext>
            </a:extLst>
          </p:cNvPr>
          <p:cNvSpPr>
            <a:spLocks xmlns:a="http://schemas.openxmlformats.org/drawingml/2006/main" noGrp="1"/>
          </p:cNvSpPr>
          <p:nvPr/>
        </p:nvSpPr>
        <p:spPr>
          <a:xfrm xmlns:a="http://schemas.openxmlformats.org/drawingml/2006/main">
            <a:off x="3571875" y="3771900"/>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263D33"/>
                </a:solidFill>
                <a:latin typeface="Helvetica Neue"/>
                <a:ea typeface="Helvetica Neue"/>
                <a:cs typeface="Helvetica Neue"/>
              </a:defRPr>
            </a:defPPr>
            <a:lvl1pPr>
              <a:defRPr sz="2175" b="0">
                <a:solidFill>
                  <a:srgbClr val="263D33"/>
                </a:solidFill>
                <a:latin typeface="Helvetica Neue"/>
                <a:ea typeface="Helvetica Neue"/>
                <a:cs typeface="Helvetica Neue"/>
              </a:defRPr>
            </a:lvl1pPr>
            <a:lvl2pPr>
              <a:defRPr sz="2175" b="0">
                <a:solidFill>
                  <a:srgbClr val="263D33"/>
                </a:solidFill>
                <a:latin typeface="Helvetica Neue"/>
                <a:ea typeface="Helvetica Neue"/>
                <a:cs typeface="Helvetica Neue"/>
              </a:defRPr>
            </a:lvl2pPr>
            <a:lvl3pPr>
              <a:defRPr sz="2175" b="0">
                <a:solidFill>
                  <a:srgbClr val="263D33"/>
                </a:solidFill>
                <a:latin typeface="Helvetica Neue"/>
                <a:ea typeface="Helvetica Neue"/>
                <a:cs typeface="Helvetica Neue"/>
              </a:defRPr>
            </a:lvl3pPr>
            <a:lvl4pPr>
              <a:defRPr sz="2175" b="0">
                <a:solidFill>
                  <a:srgbClr val="263D33"/>
                </a:solidFill>
                <a:latin typeface="Helvetica Neue"/>
                <a:ea typeface="Helvetica Neue"/>
                <a:cs typeface="Helvetica Neue"/>
              </a:defRPr>
            </a:lvl4pPr>
            <a:lvl5pPr>
              <a:defRPr sz="2175" b="0">
                <a:solidFill>
                  <a:srgbClr val="263D33"/>
                </a:solidFill>
                <a:latin typeface="Helvetica Neue"/>
                <a:ea typeface="Helvetica Neue"/>
                <a:cs typeface="Helvetica Neue"/>
              </a:defRPr>
            </a:lvl5pPr>
            <a:lvl6pPr>
              <a:defRPr sz="2175" b="0">
                <a:solidFill>
                  <a:srgbClr val="263D33"/>
                </a:solidFill>
                <a:latin typeface="Helvetica Neue"/>
                <a:ea typeface="Helvetica Neue"/>
                <a:cs typeface="Helvetica Neue"/>
              </a:defRPr>
            </a:lvl6pPr>
            <a:lvl7pPr>
              <a:defRPr sz="2175" b="0">
                <a:solidFill>
                  <a:srgbClr val="263D33"/>
                </a:solidFill>
                <a:latin typeface="Helvetica Neue"/>
                <a:ea typeface="Helvetica Neue"/>
                <a:cs typeface="Helvetica Neue"/>
              </a:defRPr>
            </a:lvl7pPr>
            <a:lvl8pPr>
              <a:defRPr sz="2175" b="0">
                <a:solidFill>
                  <a:srgbClr val="263D33"/>
                </a:solidFill>
                <a:latin typeface="Helvetica Neue"/>
                <a:ea typeface="Helvetica Neue"/>
                <a:cs typeface="Helvetica Neue"/>
              </a:defRPr>
            </a:lvl8pPr>
            <a:lvl9pPr>
              <a:defRPr sz="2175" b="0">
                <a:solidFill>
                  <a:srgbClr val="263D33"/>
                </a:solidFill>
                <a:latin typeface="Helvetica Neue"/>
                <a:ea typeface="Helvetica Neue"/>
                <a:cs typeface="Helvetica Neue"/>
              </a:defRPr>
            </a:lvl9pPr>
          </a:lstStyle>
          <a:p xmlns:a="http://schemas.openxmlformats.org/drawingml/2006/main">
            <a:pPr>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Revisar el producto y registrar su aceptación.</a:t>
            </a:r>
          </a:p>
        </p:txBody>
      </p:sp>
      <p:sp>
        <p:nvSpPr>
          <p:cNvPr id="9" name="Retrospectiva">
            <a:extLst xmlns:a="http://schemas.openxmlformats.org/drawingml/2006/main">
              <a:ext uri="{FF2B5EF4-FFF2-40B4-BE49-F238E27FC236}">
                <a16:creationId xmlns:a16="http://schemas.microsoft.com/office/drawing/2014/main" id="{E8FBD20F-12B9-4BC0-B09D-989D54308468}"/>
              </a:ext>
            </a:extLst>
          </p:cNvPr>
          <p:cNvSpPr>
            <a:spLocks xmlns:a="http://schemas.openxmlformats.org/drawingml/2006/main" noGrp="1"/>
          </p:cNvSpPr>
          <p:nvPr/>
        </p:nvSpPr>
        <p:spPr>
          <a:xfrm xmlns:a="http://schemas.openxmlformats.org/drawingml/2006/main">
            <a:off x="609600" y="458152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250" b="0">
                <a:solidFill>
                  <a:srgbClr val="184C3B"/>
                </a:solidFill>
                <a:latin typeface="Georgia"/>
                <a:ea typeface="Georgia"/>
                <a:cs typeface="Georgia"/>
              </a:defRPr>
            </a:defPPr>
            <a:lvl1pPr>
              <a:defRPr sz="2250" b="0">
                <a:solidFill>
                  <a:srgbClr val="184C3B"/>
                </a:solidFill>
                <a:latin typeface="Georgia"/>
                <a:ea typeface="Georgia"/>
                <a:cs typeface="Georgia"/>
              </a:defRPr>
            </a:lvl1pPr>
            <a:lvl2pPr>
              <a:defRPr sz="2250" b="0">
                <a:solidFill>
                  <a:srgbClr val="184C3B"/>
                </a:solidFill>
                <a:latin typeface="Georgia"/>
                <a:ea typeface="Georgia"/>
                <a:cs typeface="Georgia"/>
              </a:defRPr>
            </a:lvl2pPr>
            <a:lvl3pPr>
              <a:defRPr sz="2250" b="0">
                <a:solidFill>
                  <a:srgbClr val="184C3B"/>
                </a:solidFill>
                <a:latin typeface="Georgia"/>
                <a:ea typeface="Georgia"/>
                <a:cs typeface="Georgia"/>
              </a:defRPr>
            </a:lvl3pPr>
            <a:lvl4pPr>
              <a:defRPr sz="2250" b="0">
                <a:solidFill>
                  <a:srgbClr val="184C3B"/>
                </a:solidFill>
                <a:latin typeface="Georgia"/>
                <a:ea typeface="Georgia"/>
                <a:cs typeface="Georgia"/>
              </a:defRPr>
            </a:lvl4pPr>
            <a:lvl5pPr>
              <a:defRPr sz="2250" b="0">
                <a:solidFill>
                  <a:srgbClr val="184C3B"/>
                </a:solidFill>
                <a:latin typeface="Georgia"/>
                <a:ea typeface="Georgia"/>
                <a:cs typeface="Georgia"/>
              </a:defRPr>
            </a:lvl5pPr>
            <a:lvl6pPr>
              <a:defRPr sz="2250" b="0">
                <a:solidFill>
                  <a:srgbClr val="184C3B"/>
                </a:solidFill>
                <a:latin typeface="Georgia"/>
                <a:ea typeface="Georgia"/>
                <a:cs typeface="Georgia"/>
              </a:defRPr>
            </a:lvl6pPr>
            <a:lvl7pPr>
              <a:defRPr sz="2250" b="0">
                <a:solidFill>
                  <a:srgbClr val="184C3B"/>
                </a:solidFill>
                <a:latin typeface="Georgia"/>
                <a:ea typeface="Georgia"/>
                <a:cs typeface="Georgia"/>
              </a:defRPr>
            </a:lvl7pPr>
            <a:lvl8pPr>
              <a:defRPr sz="2250" b="0">
                <a:solidFill>
                  <a:srgbClr val="184C3B"/>
                </a:solidFill>
                <a:latin typeface="Georgia"/>
                <a:ea typeface="Georgia"/>
                <a:cs typeface="Georgia"/>
              </a:defRPr>
            </a:lvl8pPr>
            <a:lvl9pPr>
              <a:defRPr sz="2250" b="0">
                <a:solidFill>
                  <a:srgbClr val="184C3B"/>
                </a:solidFill>
                <a:latin typeface="Georgia"/>
                <a:ea typeface="Georgia"/>
                <a:cs typeface="Georgia"/>
              </a:defRPr>
            </a:lvl9pPr>
          </a:lstStyle>
          <a:p xmlns:a="http://schemas.openxmlformats.org/drawingml/2006/main">
            <a:pPr>
              <a:defRPr sz="2250" b="0">
                <a:solidFill>
                  <a:srgbClr val="184C3B"/>
                </a:solidFill>
                <a:latin typeface="Georgia"/>
                <a:ea typeface="Georgia"/>
                <a:cs typeface="Georgia"/>
              </a:defRPr>
            </a:pPr>
            <a:r>
              <a:rPr sz="2250" b="0">
                <a:solidFill>
                  <a:srgbClr val="184C3B"/>
                </a:solidFill>
                <a:latin typeface="Georgia"/>
                <a:ea typeface="Georgia"/>
                <a:cs typeface="Georgia"/>
              </a:rPr>
              <a:t>Retrospectiva</a:t>
            </a:r>
          </a:p>
        </p:txBody>
      </p:sp>
      <p:sp>
        <p:nvSpPr>
          <p:cNvPr id="10" name="Acordar mejoras sobre la forma de trabajar.">
            <a:extLst xmlns:a="http://schemas.openxmlformats.org/drawingml/2006/main">
              <a:ext uri="{FF2B5EF4-FFF2-40B4-BE49-F238E27FC236}">
                <a16:creationId xmlns:a16="http://schemas.microsoft.com/office/drawing/2014/main" id="{F643A271-9606-4B68-A202-E13645D2F25B}"/>
              </a:ext>
            </a:extLst>
          </p:cNvPr>
          <p:cNvSpPr>
            <a:spLocks xmlns:a="http://schemas.openxmlformats.org/drawingml/2006/main" noGrp="1"/>
          </p:cNvSpPr>
          <p:nvPr/>
        </p:nvSpPr>
        <p:spPr>
          <a:xfrm xmlns:a="http://schemas.openxmlformats.org/drawingml/2006/main">
            <a:off x="3571875" y="4600575"/>
            <a:ext cx="800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175" b="0">
                <a:solidFill>
                  <a:srgbClr val="263D33"/>
                </a:solidFill>
                <a:latin typeface="Helvetica Neue"/>
                <a:ea typeface="Helvetica Neue"/>
                <a:cs typeface="Helvetica Neue"/>
              </a:defRPr>
            </a:defPPr>
            <a:lvl1pPr>
              <a:defRPr sz="2175" b="0">
                <a:solidFill>
                  <a:srgbClr val="263D33"/>
                </a:solidFill>
                <a:latin typeface="Helvetica Neue"/>
                <a:ea typeface="Helvetica Neue"/>
                <a:cs typeface="Helvetica Neue"/>
              </a:defRPr>
            </a:lvl1pPr>
            <a:lvl2pPr>
              <a:defRPr sz="2175" b="0">
                <a:solidFill>
                  <a:srgbClr val="263D33"/>
                </a:solidFill>
                <a:latin typeface="Helvetica Neue"/>
                <a:ea typeface="Helvetica Neue"/>
                <a:cs typeface="Helvetica Neue"/>
              </a:defRPr>
            </a:lvl2pPr>
            <a:lvl3pPr>
              <a:defRPr sz="2175" b="0">
                <a:solidFill>
                  <a:srgbClr val="263D33"/>
                </a:solidFill>
                <a:latin typeface="Helvetica Neue"/>
                <a:ea typeface="Helvetica Neue"/>
                <a:cs typeface="Helvetica Neue"/>
              </a:defRPr>
            </a:lvl3pPr>
            <a:lvl4pPr>
              <a:defRPr sz="2175" b="0">
                <a:solidFill>
                  <a:srgbClr val="263D33"/>
                </a:solidFill>
                <a:latin typeface="Helvetica Neue"/>
                <a:ea typeface="Helvetica Neue"/>
                <a:cs typeface="Helvetica Neue"/>
              </a:defRPr>
            </a:lvl4pPr>
            <a:lvl5pPr>
              <a:defRPr sz="2175" b="0">
                <a:solidFill>
                  <a:srgbClr val="263D33"/>
                </a:solidFill>
                <a:latin typeface="Helvetica Neue"/>
                <a:ea typeface="Helvetica Neue"/>
                <a:cs typeface="Helvetica Neue"/>
              </a:defRPr>
            </a:lvl5pPr>
            <a:lvl6pPr>
              <a:defRPr sz="2175" b="0">
                <a:solidFill>
                  <a:srgbClr val="263D33"/>
                </a:solidFill>
                <a:latin typeface="Helvetica Neue"/>
                <a:ea typeface="Helvetica Neue"/>
                <a:cs typeface="Helvetica Neue"/>
              </a:defRPr>
            </a:lvl6pPr>
            <a:lvl7pPr>
              <a:defRPr sz="2175" b="0">
                <a:solidFill>
                  <a:srgbClr val="263D33"/>
                </a:solidFill>
                <a:latin typeface="Helvetica Neue"/>
                <a:ea typeface="Helvetica Neue"/>
                <a:cs typeface="Helvetica Neue"/>
              </a:defRPr>
            </a:lvl7pPr>
            <a:lvl8pPr>
              <a:defRPr sz="2175" b="0">
                <a:solidFill>
                  <a:srgbClr val="263D33"/>
                </a:solidFill>
                <a:latin typeface="Helvetica Neue"/>
                <a:ea typeface="Helvetica Neue"/>
                <a:cs typeface="Helvetica Neue"/>
              </a:defRPr>
            </a:lvl8pPr>
            <a:lvl9pPr>
              <a:defRPr sz="2175" b="0">
                <a:solidFill>
                  <a:srgbClr val="263D33"/>
                </a:solidFill>
                <a:latin typeface="Helvetica Neue"/>
                <a:ea typeface="Helvetica Neue"/>
                <a:cs typeface="Helvetica Neue"/>
              </a:defRPr>
            </a:lvl9pPr>
          </a:lstStyle>
          <a:p xmlns:a="http://schemas.openxmlformats.org/drawingml/2006/main">
            <a:pPr>
              <a:defRPr sz="2175" b="0">
                <a:solidFill>
                  <a:srgbClr val="263D33"/>
                </a:solidFill>
                <a:latin typeface="Helvetica Neue"/>
                <a:ea typeface="Helvetica Neue"/>
                <a:cs typeface="Helvetica Neue"/>
              </a:defRPr>
            </a:pPr>
            <a:r>
              <a:rPr sz="2175" b="0">
                <a:solidFill>
                  <a:srgbClr val="263D33"/>
                </a:solidFill>
                <a:latin typeface="Helvetica Neue"/>
                <a:ea typeface="Helvetica Neue"/>
                <a:cs typeface="Helvetica Neue"/>
              </a:rPr>
              <a:t>Acordar mejoras sobre la forma de trabajar.</a:t>
            </a:r>
          </a:p>
        </p:txBody>
      </p:sp>
      <p:sp>
        <p:nvSpPr>
          <p:cNvPr id="11" name="Los registros técnicos no acreditan reuniones. Las">
            <a:extLst xmlns:a="http://schemas.openxmlformats.org/drawingml/2006/main">
              <a:ext uri="{FF2B5EF4-FFF2-40B4-BE49-F238E27FC236}">
                <a16:creationId xmlns:a16="http://schemas.microsoft.com/office/drawing/2014/main" id="{97036A1F-99FB-43EF-891B-B9C60F8C19D1}"/>
              </a:ext>
            </a:extLst>
          </p:cNvPr>
          <p:cNvSpPr>
            <a:spLocks xmlns:a="http://schemas.openxmlformats.org/drawingml/2006/main" noGrp="1"/>
          </p:cNvSpPr>
          <p:nvPr/>
        </p:nvSpPr>
        <p:spPr>
          <a:xfrm xmlns:a="http://schemas.openxmlformats.org/drawingml/2006/main">
            <a:off x="609600" y="58102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650" b="0">
                <a:solidFill>
                  <a:srgbClr val="53685D"/>
                </a:solidFill>
                <a:latin typeface="Helvetica Neue"/>
                <a:ea typeface="Helvetica Neue"/>
                <a:cs typeface="Helvetica Neue"/>
              </a:defRPr>
            </a:defPPr>
            <a:lvl1pPr>
              <a:defRPr sz="1650" b="0">
                <a:solidFill>
                  <a:srgbClr val="53685D"/>
                </a:solidFill>
                <a:latin typeface="Helvetica Neue"/>
                <a:ea typeface="Helvetica Neue"/>
                <a:cs typeface="Helvetica Neue"/>
              </a:defRPr>
            </a:lvl1pPr>
            <a:lvl2pPr>
              <a:defRPr sz="1650" b="0">
                <a:solidFill>
                  <a:srgbClr val="53685D"/>
                </a:solidFill>
                <a:latin typeface="Helvetica Neue"/>
                <a:ea typeface="Helvetica Neue"/>
                <a:cs typeface="Helvetica Neue"/>
              </a:defRPr>
            </a:lvl2pPr>
            <a:lvl3pPr>
              <a:defRPr sz="1650" b="0">
                <a:solidFill>
                  <a:srgbClr val="53685D"/>
                </a:solidFill>
                <a:latin typeface="Helvetica Neue"/>
                <a:ea typeface="Helvetica Neue"/>
                <a:cs typeface="Helvetica Neue"/>
              </a:defRPr>
            </a:lvl3pPr>
            <a:lvl4pPr>
              <a:defRPr sz="1650" b="0">
                <a:solidFill>
                  <a:srgbClr val="53685D"/>
                </a:solidFill>
                <a:latin typeface="Helvetica Neue"/>
                <a:ea typeface="Helvetica Neue"/>
                <a:cs typeface="Helvetica Neue"/>
              </a:defRPr>
            </a:lvl4pPr>
            <a:lvl5pPr>
              <a:defRPr sz="1650" b="0">
                <a:solidFill>
                  <a:srgbClr val="53685D"/>
                </a:solidFill>
                <a:latin typeface="Helvetica Neue"/>
                <a:ea typeface="Helvetica Neue"/>
                <a:cs typeface="Helvetica Neue"/>
              </a:defRPr>
            </a:lvl5pPr>
            <a:lvl6pPr>
              <a:defRPr sz="1650" b="0">
                <a:solidFill>
                  <a:srgbClr val="53685D"/>
                </a:solidFill>
                <a:latin typeface="Helvetica Neue"/>
                <a:ea typeface="Helvetica Neue"/>
                <a:cs typeface="Helvetica Neue"/>
              </a:defRPr>
            </a:lvl6pPr>
            <a:lvl7pPr>
              <a:defRPr sz="1650" b="0">
                <a:solidFill>
                  <a:srgbClr val="53685D"/>
                </a:solidFill>
                <a:latin typeface="Helvetica Neue"/>
                <a:ea typeface="Helvetica Neue"/>
                <a:cs typeface="Helvetica Neue"/>
              </a:defRPr>
            </a:lvl7pPr>
            <a:lvl8pPr>
              <a:defRPr sz="1650" b="0">
                <a:solidFill>
                  <a:srgbClr val="53685D"/>
                </a:solidFill>
                <a:latin typeface="Helvetica Neue"/>
                <a:ea typeface="Helvetica Neue"/>
                <a:cs typeface="Helvetica Neue"/>
              </a:defRPr>
            </a:lvl8pPr>
            <a:lvl9pPr>
              <a:defRPr sz="1650" b="0">
                <a:solidFill>
                  <a:srgbClr val="53685D"/>
                </a:solidFill>
                <a:latin typeface="Helvetica Neue"/>
                <a:ea typeface="Helvetica Neue"/>
                <a:cs typeface="Helvetica Neue"/>
              </a:defRPr>
            </a:lvl9pPr>
          </a:lstStyle>
          <a:p xmlns:a="http://schemas.openxmlformats.org/drawingml/2006/main">
            <a:pPr>
              <a:defRPr sz="1650" b="0">
                <a:solidFill>
                  <a:srgbClr val="53685D"/>
                </a:solidFill>
                <a:latin typeface="Helvetica Neue"/>
                <a:ea typeface="Helvetica Neue"/>
                <a:cs typeface="Helvetica Neue"/>
              </a:defRPr>
            </a:pPr>
            <a:r>
              <a:rPr sz="1650" b="0">
                <a:solidFill>
                  <a:srgbClr val="53685D"/>
                </a:solidFill>
                <a:latin typeface="Helvetica Neue"/>
                <a:ea typeface="Helvetica Neue"/>
                <a:cs typeface="Helvetica Neue"/>
              </a:rPr>
              <a:t>Los registros técnicos no acreditan reuniones. Las ceremonias se documentan cuando ocurren.</a:t>
            </a:r>
          </a:p>
        </p:txBody>
      </p:sp>
      <p:sp>
        <p:nvSpPr>
          <p:cNvPr id="12" name="Agustín  /  Bloque 2 de 3  /  SIGAA">
            <a:extLst xmlns:a="http://schemas.openxmlformats.org/drawingml/2006/main">
              <a:ext uri="{FF2B5EF4-FFF2-40B4-BE49-F238E27FC236}">
                <a16:creationId xmlns:a16="http://schemas.microsoft.com/office/drawing/2014/main" id="{5D3EF4AE-DB34-4D45-BCBB-F1DA0427EF8E}"/>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53685D"/>
                </a:solidFill>
                <a:latin typeface="Helvetica Neue"/>
                <a:ea typeface="Helvetica Neue"/>
                <a:cs typeface="Helvetica Neue"/>
              </a:defRPr>
            </a:defPPr>
            <a:lvl1pPr>
              <a:defRPr sz="1050" b="0">
                <a:solidFill>
                  <a:srgbClr val="53685D"/>
                </a:solidFill>
                <a:latin typeface="Helvetica Neue"/>
                <a:ea typeface="Helvetica Neue"/>
                <a:cs typeface="Helvetica Neue"/>
              </a:defRPr>
            </a:lvl1pPr>
            <a:lvl2pPr>
              <a:defRPr sz="1050" b="0">
                <a:solidFill>
                  <a:srgbClr val="53685D"/>
                </a:solidFill>
                <a:latin typeface="Helvetica Neue"/>
                <a:ea typeface="Helvetica Neue"/>
                <a:cs typeface="Helvetica Neue"/>
              </a:defRPr>
            </a:lvl2pPr>
            <a:lvl3pPr>
              <a:defRPr sz="1050" b="0">
                <a:solidFill>
                  <a:srgbClr val="53685D"/>
                </a:solidFill>
                <a:latin typeface="Helvetica Neue"/>
                <a:ea typeface="Helvetica Neue"/>
                <a:cs typeface="Helvetica Neue"/>
              </a:defRPr>
            </a:lvl3pPr>
            <a:lvl4pPr>
              <a:defRPr sz="1050" b="0">
                <a:solidFill>
                  <a:srgbClr val="53685D"/>
                </a:solidFill>
                <a:latin typeface="Helvetica Neue"/>
                <a:ea typeface="Helvetica Neue"/>
                <a:cs typeface="Helvetica Neue"/>
              </a:defRPr>
            </a:lvl4pPr>
            <a:lvl5pPr>
              <a:defRPr sz="1050" b="0">
                <a:solidFill>
                  <a:srgbClr val="53685D"/>
                </a:solidFill>
                <a:latin typeface="Helvetica Neue"/>
                <a:ea typeface="Helvetica Neue"/>
                <a:cs typeface="Helvetica Neue"/>
              </a:defRPr>
            </a:lvl5pPr>
            <a:lvl6pPr>
              <a:defRPr sz="1050" b="0">
                <a:solidFill>
                  <a:srgbClr val="53685D"/>
                </a:solidFill>
                <a:latin typeface="Helvetica Neue"/>
                <a:ea typeface="Helvetica Neue"/>
                <a:cs typeface="Helvetica Neue"/>
              </a:defRPr>
            </a:lvl6pPr>
            <a:lvl7pPr>
              <a:defRPr sz="1050" b="0">
                <a:solidFill>
                  <a:srgbClr val="53685D"/>
                </a:solidFill>
                <a:latin typeface="Helvetica Neue"/>
                <a:ea typeface="Helvetica Neue"/>
                <a:cs typeface="Helvetica Neue"/>
              </a:defRPr>
            </a:lvl7pPr>
            <a:lvl8pPr>
              <a:defRPr sz="1050" b="0">
                <a:solidFill>
                  <a:srgbClr val="53685D"/>
                </a:solidFill>
                <a:latin typeface="Helvetica Neue"/>
                <a:ea typeface="Helvetica Neue"/>
                <a:cs typeface="Helvetica Neue"/>
              </a:defRPr>
            </a:lvl8pPr>
            <a:lvl9pPr>
              <a:defRPr sz="1050" b="0">
                <a:solidFill>
                  <a:srgbClr val="53685D"/>
                </a:solidFill>
                <a:latin typeface="Helvetica Neue"/>
                <a:ea typeface="Helvetica Neue"/>
                <a:cs typeface="Helvetica Neue"/>
              </a:defRPr>
            </a:lvl9pPr>
          </a:lstStyle>
          <a:p xmlns:a="http://schemas.openxmlformats.org/drawingml/2006/main">
            <a:pPr>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Agustín  /  Bloque 2 de 3  /  SIGAA</a:t>
            </a:r>
          </a:p>
        </p:txBody>
      </p:sp>
      <p:sp>
        <p:nvSpPr>
          <p:cNvPr id="13" name="12 de 18   /   28 oct 2026">
            <a:extLst xmlns:a="http://schemas.openxmlformats.org/drawingml/2006/main">
              <a:ext uri="{FF2B5EF4-FFF2-40B4-BE49-F238E27FC236}">
                <a16:creationId xmlns:a16="http://schemas.microsoft.com/office/drawing/2014/main" id="{421861BF-4E39-4724-9C6B-A680C198A116}"/>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1050" b="0">
                <a:solidFill>
                  <a:srgbClr val="53685D"/>
                </a:solidFill>
                <a:latin typeface="Helvetica Neue"/>
                <a:ea typeface="Helvetica Neue"/>
                <a:cs typeface="Helvetica Neue"/>
              </a:defRPr>
            </a:defPPr>
            <a:lvl1pPr>
              <a:defRPr sz="1050" b="0">
                <a:solidFill>
                  <a:srgbClr val="53685D"/>
                </a:solidFill>
                <a:latin typeface="Helvetica Neue"/>
                <a:ea typeface="Helvetica Neue"/>
                <a:cs typeface="Helvetica Neue"/>
              </a:defRPr>
            </a:lvl1pPr>
            <a:lvl2pPr>
              <a:defRPr sz="1050" b="0">
                <a:solidFill>
                  <a:srgbClr val="53685D"/>
                </a:solidFill>
                <a:latin typeface="Helvetica Neue"/>
                <a:ea typeface="Helvetica Neue"/>
                <a:cs typeface="Helvetica Neue"/>
              </a:defRPr>
            </a:lvl2pPr>
            <a:lvl3pPr>
              <a:defRPr sz="1050" b="0">
                <a:solidFill>
                  <a:srgbClr val="53685D"/>
                </a:solidFill>
                <a:latin typeface="Helvetica Neue"/>
                <a:ea typeface="Helvetica Neue"/>
                <a:cs typeface="Helvetica Neue"/>
              </a:defRPr>
            </a:lvl3pPr>
            <a:lvl4pPr>
              <a:defRPr sz="1050" b="0">
                <a:solidFill>
                  <a:srgbClr val="53685D"/>
                </a:solidFill>
                <a:latin typeface="Helvetica Neue"/>
                <a:ea typeface="Helvetica Neue"/>
                <a:cs typeface="Helvetica Neue"/>
              </a:defRPr>
            </a:lvl4pPr>
            <a:lvl5pPr>
              <a:defRPr sz="1050" b="0">
                <a:solidFill>
                  <a:srgbClr val="53685D"/>
                </a:solidFill>
                <a:latin typeface="Helvetica Neue"/>
                <a:ea typeface="Helvetica Neue"/>
                <a:cs typeface="Helvetica Neue"/>
              </a:defRPr>
            </a:lvl5pPr>
            <a:lvl6pPr>
              <a:defRPr sz="1050" b="0">
                <a:solidFill>
                  <a:srgbClr val="53685D"/>
                </a:solidFill>
                <a:latin typeface="Helvetica Neue"/>
                <a:ea typeface="Helvetica Neue"/>
                <a:cs typeface="Helvetica Neue"/>
              </a:defRPr>
            </a:lvl6pPr>
            <a:lvl7pPr>
              <a:defRPr sz="1050" b="0">
                <a:solidFill>
                  <a:srgbClr val="53685D"/>
                </a:solidFill>
                <a:latin typeface="Helvetica Neue"/>
                <a:ea typeface="Helvetica Neue"/>
                <a:cs typeface="Helvetica Neue"/>
              </a:defRPr>
            </a:lvl7pPr>
            <a:lvl8pPr>
              <a:defRPr sz="1050" b="0">
                <a:solidFill>
                  <a:srgbClr val="53685D"/>
                </a:solidFill>
                <a:latin typeface="Helvetica Neue"/>
                <a:ea typeface="Helvetica Neue"/>
                <a:cs typeface="Helvetica Neue"/>
              </a:defRPr>
            </a:lvl8pPr>
            <a:lvl9pPr>
              <a:defRPr sz="1050" b="0">
                <a:solidFill>
                  <a:srgbClr val="53685D"/>
                </a:solidFill>
                <a:latin typeface="Helvetica Neue"/>
                <a:ea typeface="Helvetica Neue"/>
                <a:cs typeface="Helvetica Neue"/>
              </a:defRPr>
            </a:lvl9pPr>
          </a:lstStyle>
          <a:p xmlns:a="http://schemas.openxmlformats.org/drawingml/2006/main">
            <a:pPr>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12 de 18   /   28 oct 2026</a:t>
            </a:r>
          </a:p>
        </p:txBody>
      </p:sp>
    </p:spTree>
    <p:extLst>
      <p:ext uri="{BB962C8B-B14F-4D97-AF65-F5344CB8AC3E}">
        <p14:creationId xmlns:p14="http://schemas.microsoft.com/office/powerpoint/2010/main" val="208834683"/>
      </p:ext>
    </p:extLst>
  </p:cSld>
</p:sld>
</file>

<file path=ppt/slides/slide13.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6" name="AVANCE DEL PROYECTO">
            <a:extLst xmlns:a="http://schemas.openxmlformats.org/drawingml/2006/main">
              <a:ext uri="{FF2B5EF4-FFF2-40B4-BE49-F238E27FC236}">
                <a16:creationId xmlns:a16="http://schemas.microsoft.com/office/drawing/2014/main" id="{F67BD188-B120-4A89-9AF7-462A025E4B43}"/>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Pendientes de desarrollo y operación">
            <a:extLst xmlns:a="http://schemas.openxmlformats.org/drawingml/2006/main">
              <a:ext uri="{FF2B5EF4-FFF2-40B4-BE49-F238E27FC236}">
                <a16:creationId xmlns:a16="http://schemas.microsoft.com/office/drawing/2014/main" id="{CA73687B-DE1E-4945-A01B-BCD94D679A76}"/>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Pendientes de desarrollo y operación</a:t>
            </a:r>
          </a:p>
        </p:txBody>
      </p:sp>
      <p:sp>
        <p:nvSpPr>
          <p:cNvPr id="3" name="SIGAA  /  Capstone 2026">
            <a:extLst xmlns:a="http://schemas.openxmlformats.org/drawingml/2006/main">
              <a:ext uri="{FF2B5EF4-FFF2-40B4-BE49-F238E27FC236}">
                <a16:creationId xmlns:a16="http://schemas.microsoft.com/office/drawing/2014/main" id="{3A3F0B84-BB3A-4773-98B6-8D642CB84FFF}"/>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Matías  /  Bloque 3 de 3  /  SIGAA</a:t>
            </a:r>
          </a:p>
        </p:txBody>
      </p:sp>
      <p:sp>
        <p:nvSpPr>
          <p:cNvPr id="4" name="11   /   28 oct 2026">
            <a:extLst xmlns:a="http://schemas.openxmlformats.org/drawingml/2006/main">
              <a:ext uri="{FF2B5EF4-FFF2-40B4-BE49-F238E27FC236}">
                <a16:creationId xmlns:a16="http://schemas.microsoft.com/office/drawing/2014/main" id="{C8F7C07C-927B-4FA7-B973-F373941F5938}"/>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13 de 18   /   28 oct 2026</a:t>
            </a:r>
          </a:p>
        </p:txBody>
      </p:sp>
      <p:sp>
        <p:nvSpPr>
          <p:cNvPr id="5" name="PARA ASEGURAR EL CIERRE">
            <a:extLst xmlns:a="http://schemas.openxmlformats.org/drawingml/2006/main">
              <a:ext uri="{FF2B5EF4-FFF2-40B4-BE49-F238E27FC236}">
                <a16:creationId xmlns:a16="http://schemas.microsoft.com/office/drawing/2014/main" id="{C778B5C6-435A-42F6-8F08-02A90DE6A9E0}"/>
              </a:ext>
            </a:extLst>
          </p:cNvPr>
          <p:cNvSpPr>
            <a:spLocks xmlns:a="http://schemas.openxmlformats.org/drawingml/2006/main" noGrp="1"/>
          </p:cNvSpPr>
          <p:nvPr/>
        </p:nvSpPr>
        <p:spPr>
          <a:xfrm xmlns:a="http://schemas.openxmlformats.org/drawingml/2006/main">
            <a:off x="609600" y="1981200"/>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B58C3C"/>
                </a:solidFill>
                <a:latin typeface="Helvetica Neue"/>
                <a:ea typeface="Helvetica Neue"/>
                <a:cs typeface="Helvetica Neue"/>
              </a:defRPr>
            </a:defPPr>
            <a:lvl1pPr algn="l">
              <a:buNone/>
              <a:defRPr sz="1500" b="1">
                <a:solidFill>
                  <a:srgbClr val="B58C3C"/>
                </a:solidFill>
                <a:latin typeface="DejaVu Sans"/>
                <a:ea typeface="DejaVu Sans"/>
                <a:cs typeface="DejaVu Sans"/>
              </a:defRPr>
            </a:lvl1pPr>
            <a:lvl2pPr algn="l">
              <a:buNone/>
              <a:defRPr sz="1500" b="1">
                <a:solidFill>
                  <a:srgbClr val="B58C3C"/>
                </a:solidFill>
                <a:latin typeface="DejaVu Sans"/>
                <a:ea typeface="DejaVu Sans"/>
                <a:cs typeface="DejaVu Sans"/>
              </a:defRPr>
            </a:lvl2pPr>
            <a:lvl3pPr algn="l">
              <a:buNone/>
              <a:defRPr sz="1500" b="1">
                <a:solidFill>
                  <a:srgbClr val="B58C3C"/>
                </a:solidFill>
                <a:latin typeface="DejaVu Sans"/>
                <a:ea typeface="DejaVu Sans"/>
                <a:cs typeface="DejaVu Sans"/>
              </a:defRPr>
            </a:lvl3pPr>
            <a:lvl4pPr algn="l">
              <a:buNone/>
              <a:defRPr sz="1500" b="1">
                <a:solidFill>
                  <a:srgbClr val="B58C3C"/>
                </a:solidFill>
                <a:latin typeface="DejaVu Sans"/>
                <a:ea typeface="DejaVu Sans"/>
                <a:cs typeface="DejaVu Sans"/>
              </a:defRPr>
            </a:lvl4pPr>
            <a:lvl5pPr algn="l">
              <a:buNone/>
              <a:defRPr sz="1500" b="1">
                <a:solidFill>
                  <a:srgbClr val="B58C3C"/>
                </a:solidFill>
                <a:latin typeface="DejaVu Sans"/>
                <a:ea typeface="DejaVu Sans"/>
                <a:cs typeface="DejaVu Sans"/>
              </a:defRPr>
            </a:lvl5pPr>
            <a:lvl6pPr algn="l">
              <a:buNone/>
              <a:defRPr sz="1500" b="1">
                <a:solidFill>
                  <a:srgbClr val="B58C3C"/>
                </a:solidFill>
                <a:latin typeface="DejaVu Sans"/>
                <a:ea typeface="DejaVu Sans"/>
                <a:cs typeface="DejaVu Sans"/>
              </a:defRPr>
            </a:lvl6pPr>
            <a:lvl7pPr algn="l">
              <a:buNone/>
              <a:defRPr sz="1500" b="1">
                <a:solidFill>
                  <a:srgbClr val="B58C3C"/>
                </a:solidFill>
                <a:latin typeface="DejaVu Sans"/>
                <a:ea typeface="DejaVu Sans"/>
                <a:cs typeface="DejaVu Sans"/>
              </a:defRPr>
            </a:lvl7pPr>
            <a:lvl8pPr algn="l">
              <a:buNone/>
              <a:defRPr sz="1500" b="1">
                <a:solidFill>
                  <a:srgbClr val="B58C3C"/>
                </a:solidFill>
                <a:latin typeface="DejaVu Sans"/>
                <a:ea typeface="DejaVu Sans"/>
                <a:cs typeface="DejaVu Sans"/>
              </a:defRPr>
            </a:lvl8pPr>
            <a:lvl9pPr algn="l">
              <a:buNone/>
              <a:defRPr sz="1500" b="1">
                <a:solidFill>
                  <a:srgbClr val="B58C3C"/>
                </a:solidFill>
                <a:latin typeface="DejaVu Sans"/>
                <a:ea typeface="DejaVu Sans"/>
                <a:cs typeface="DejaVu Sans"/>
              </a:defRPr>
            </a:lvl9pPr>
          </a:lstStyle>
          <a:p xmlns:a="http://schemas.openxmlformats.org/drawingml/2006/main">
            <a:pPr algn="l">
              <a:buNone/>
              <a:defRPr sz="1500" b="1">
                <a:solidFill>
                  <a:srgbClr val="B58C3C"/>
                </a:solidFill>
                <a:latin typeface="Helvetica Neue"/>
                <a:ea typeface="Helvetica Neue"/>
                <a:cs typeface="Helvetica Neue"/>
              </a:defRPr>
            </a:pPr>
            <a:r>
              <a:rPr sz="1500" b="1">
                <a:solidFill>
                  <a:srgbClr val="B58C3C"/>
                </a:solidFill>
                <a:latin typeface="Helvetica Neue"/>
                <a:ea typeface="Helvetica Neue"/>
                <a:cs typeface="Helvetica Neue"/>
              </a:rPr>
              <a:t>PARA ASEGURAR EL CIERRE</a:t>
            </a:r>
          </a:p>
        </p:txBody>
      </p:sp>
      <p:sp>
        <p:nvSpPr>
          <p:cNvPr id="6" name="UML y alcance completo del estudiante.">
            <a:extLst xmlns:a="http://schemas.openxmlformats.org/drawingml/2006/main">
              <a:ext uri="{FF2B5EF4-FFF2-40B4-BE49-F238E27FC236}">
                <a16:creationId xmlns:a16="http://schemas.microsoft.com/office/drawing/2014/main" id="{530930B9-5233-49FD-88D0-064B9E449CF5}"/>
              </a:ext>
            </a:extLst>
          </p:cNvPr>
          <p:cNvSpPr>
            <a:spLocks xmlns:a="http://schemas.openxmlformats.org/drawingml/2006/main" noGrp="1"/>
          </p:cNvSpPr>
          <p:nvPr/>
        </p:nvSpPr>
        <p:spPr>
          <a:xfrm xmlns:a="http://schemas.openxmlformats.org/drawingml/2006/main">
            <a:off x="609600" y="258127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UML y alcance completo del estudiante.</a:t>
            </a:r>
          </a:p>
        </p:txBody>
      </p:sp>
      <p:sp>
        <p:nvSpPr>
          <p:cNvPr id="7" name="Docker, aislamiento y HTTPS verificados.">
            <a:extLst xmlns:a="http://schemas.openxmlformats.org/drawingml/2006/main">
              <a:ext uri="{FF2B5EF4-FFF2-40B4-BE49-F238E27FC236}">
                <a16:creationId xmlns:a16="http://schemas.microsoft.com/office/drawing/2014/main" id="{C2C73E22-14E0-4946-9D7D-3F83B6E04CD3}"/>
              </a:ext>
            </a:extLst>
          </p:cNvPr>
          <p:cNvSpPr>
            <a:spLocks xmlns:a="http://schemas.openxmlformats.org/drawingml/2006/main" noGrp="1"/>
          </p:cNvSpPr>
          <p:nvPr/>
        </p:nvSpPr>
        <p:spPr>
          <a:xfrm xmlns:a="http://schemas.openxmlformats.org/drawingml/2006/main">
            <a:off x="609600" y="334327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Docker, aislamiento y HTTPS verificados.</a:t>
            </a:r>
          </a:p>
        </p:txBody>
      </p:sp>
      <p:sp>
        <p:nvSpPr>
          <p:cNvPr id="8" name="Consulta de auditoría de cambios.">
            <a:extLst xmlns:a="http://schemas.openxmlformats.org/drawingml/2006/main">
              <a:ext uri="{FF2B5EF4-FFF2-40B4-BE49-F238E27FC236}">
                <a16:creationId xmlns:a16="http://schemas.microsoft.com/office/drawing/2014/main" id="{EA86996E-FA19-412E-95AD-B7E6A0C51E59}"/>
              </a:ext>
            </a:extLst>
          </p:cNvPr>
          <p:cNvSpPr>
            <a:spLocks xmlns:a="http://schemas.openxmlformats.org/drawingml/2006/main" noGrp="1"/>
          </p:cNvSpPr>
          <p:nvPr/>
        </p:nvSpPr>
        <p:spPr>
          <a:xfrm xmlns:a="http://schemas.openxmlformats.org/drawingml/2006/main">
            <a:off x="609600" y="410527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Consulta de auditoría de cambios.</a:t>
            </a:r>
          </a:p>
        </p:txBody>
      </p:sp>
      <p:sp>
        <p:nvSpPr>
          <p:cNvPr id="9" name="Pruebas, carga y restauración de respaldo.">
            <a:extLst xmlns:a="http://schemas.openxmlformats.org/drawingml/2006/main">
              <a:ext uri="{FF2B5EF4-FFF2-40B4-BE49-F238E27FC236}">
                <a16:creationId xmlns:a16="http://schemas.microsoft.com/office/drawing/2014/main" id="{40664B6D-9123-48E2-ACA7-C30F21B15C7B}"/>
              </a:ext>
            </a:extLst>
          </p:cNvPr>
          <p:cNvSpPr>
            <a:spLocks xmlns:a="http://schemas.openxmlformats.org/drawingml/2006/main" noGrp="1"/>
          </p:cNvSpPr>
          <p:nvPr/>
        </p:nvSpPr>
        <p:spPr>
          <a:xfrm xmlns:a="http://schemas.openxmlformats.org/drawingml/2006/main">
            <a:off x="609600" y="4867275"/>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Pruebas, carga y restauración de respaldo.</a:t>
            </a:r>
          </a:p>
        </p:txBody>
      </p:sp>
      <p:sp>
        <p:nvSpPr>
          <p:cNvPr id="10" name="SUJETOS A DECISIÓN DE ALCANCE">
            <a:extLst xmlns:a="http://schemas.openxmlformats.org/drawingml/2006/main">
              <a:ext uri="{FF2B5EF4-FFF2-40B4-BE49-F238E27FC236}">
                <a16:creationId xmlns:a16="http://schemas.microsoft.com/office/drawing/2014/main" id="{4394BF3C-C2C4-4B29-8BCE-711A76EF1FBF}"/>
              </a:ext>
            </a:extLst>
          </p:cNvPr>
          <p:cNvSpPr>
            <a:spLocks xmlns:a="http://schemas.openxmlformats.org/drawingml/2006/main" noGrp="1"/>
          </p:cNvSpPr>
          <p:nvPr/>
        </p:nvSpPr>
        <p:spPr>
          <a:xfrm xmlns:a="http://schemas.openxmlformats.org/drawingml/2006/main">
            <a:off x="6572250" y="19812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B58C3C"/>
                </a:solidFill>
                <a:latin typeface="Helvetica Neue"/>
                <a:ea typeface="Helvetica Neue"/>
                <a:cs typeface="Helvetica Neue"/>
              </a:defRPr>
            </a:defPPr>
            <a:lvl1pPr algn="l">
              <a:buNone/>
              <a:defRPr sz="1500" b="1">
                <a:solidFill>
                  <a:srgbClr val="B58C3C"/>
                </a:solidFill>
                <a:latin typeface="DejaVu Sans"/>
                <a:ea typeface="DejaVu Sans"/>
                <a:cs typeface="DejaVu Sans"/>
              </a:defRPr>
            </a:lvl1pPr>
            <a:lvl2pPr algn="l">
              <a:buNone/>
              <a:defRPr sz="1500" b="1">
                <a:solidFill>
                  <a:srgbClr val="B58C3C"/>
                </a:solidFill>
                <a:latin typeface="DejaVu Sans"/>
                <a:ea typeface="DejaVu Sans"/>
                <a:cs typeface="DejaVu Sans"/>
              </a:defRPr>
            </a:lvl2pPr>
            <a:lvl3pPr algn="l">
              <a:buNone/>
              <a:defRPr sz="1500" b="1">
                <a:solidFill>
                  <a:srgbClr val="B58C3C"/>
                </a:solidFill>
                <a:latin typeface="DejaVu Sans"/>
                <a:ea typeface="DejaVu Sans"/>
                <a:cs typeface="DejaVu Sans"/>
              </a:defRPr>
            </a:lvl3pPr>
            <a:lvl4pPr algn="l">
              <a:buNone/>
              <a:defRPr sz="1500" b="1">
                <a:solidFill>
                  <a:srgbClr val="B58C3C"/>
                </a:solidFill>
                <a:latin typeface="DejaVu Sans"/>
                <a:ea typeface="DejaVu Sans"/>
                <a:cs typeface="DejaVu Sans"/>
              </a:defRPr>
            </a:lvl4pPr>
            <a:lvl5pPr algn="l">
              <a:buNone/>
              <a:defRPr sz="1500" b="1">
                <a:solidFill>
                  <a:srgbClr val="B58C3C"/>
                </a:solidFill>
                <a:latin typeface="DejaVu Sans"/>
                <a:ea typeface="DejaVu Sans"/>
                <a:cs typeface="DejaVu Sans"/>
              </a:defRPr>
            </a:lvl5pPr>
            <a:lvl6pPr algn="l">
              <a:buNone/>
              <a:defRPr sz="1500" b="1">
                <a:solidFill>
                  <a:srgbClr val="B58C3C"/>
                </a:solidFill>
                <a:latin typeface="DejaVu Sans"/>
                <a:ea typeface="DejaVu Sans"/>
                <a:cs typeface="DejaVu Sans"/>
              </a:defRPr>
            </a:lvl6pPr>
            <a:lvl7pPr algn="l">
              <a:buNone/>
              <a:defRPr sz="1500" b="1">
                <a:solidFill>
                  <a:srgbClr val="B58C3C"/>
                </a:solidFill>
                <a:latin typeface="DejaVu Sans"/>
                <a:ea typeface="DejaVu Sans"/>
                <a:cs typeface="DejaVu Sans"/>
              </a:defRPr>
            </a:lvl7pPr>
            <a:lvl8pPr algn="l">
              <a:buNone/>
              <a:defRPr sz="1500" b="1">
                <a:solidFill>
                  <a:srgbClr val="B58C3C"/>
                </a:solidFill>
                <a:latin typeface="DejaVu Sans"/>
                <a:ea typeface="DejaVu Sans"/>
                <a:cs typeface="DejaVu Sans"/>
              </a:defRPr>
            </a:lvl8pPr>
            <a:lvl9pPr algn="l">
              <a:buNone/>
              <a:defRPr sz="1500" b="1">
                <a:solidFill>
                  <a:srgbClr val="B58C3C"/>
                </a:solidFill>
                <a:latin typeface="DejaVu Sans"/>
                <a:ea typeface="DejaVu Sans"/>
                <a:cs typeface="DejaVu Sans"/>
              </a:defRPr>
            </a:lvl9pPr>
          </a:lstStyle>
          <a:p xmlns:a="http://schemas.openxmlformats.org/drawingml/2006/main">
            <a:pPr algn="l">
              <a:buNone/>
              <a:defRPr sz="1500" b="1">
                <a:solidFill>
                  <a:srgbClr val="B58C3C"/>
                </a:solidFill>
                <a:latin typeface="Helvetica Neue"/>
                <a:ea typeface="Helvetica Neue"/>
                <a:cs typeface="Helvetica Neue"/>
              </a:defRPr>
            </a:pPr>
            <a:r>
              <a:rPr sz="1500" b="1">
                <a:solidFill>
                  <a:srgbClr val="B58C3C"/>
                </a:solidFill>
                <a:latin typeface="Helvetica Neue"/>
                <a:ea typeface="Helvetica Neue"/>
                <a:cs typeface="Helvetica Neue"/>
              </a:rPr>
              <a:t>SUJETOS A DECISIÓN DE ALCANCE</a:t>
            </a:r>
          </a:p>
        </p:txBody>
      </p:sp>
      <p:sp>
        <p:nvSpPr>
          <p:cNvPr id="11" name="Notificaciones internas.">
            <a:extLst xmlns:a="http://schemas.openxmlformats.org/drawingml/2006/main">
              <a:ext uri="{FF2B5EF4-FFF2-40B4-BE49-F238E27FC236}">
                <a16:creationId xmlns:a16="http://schemas.microsoft.com/office/drawing/2014/main" id="{62969C79-5A1C-440C-8FB3-B78B48DD8C80}"/>
              </a:ext>
            </a:extLst>
          </p:cNvPr>
          <p:cNvSpPr>
            <a:spLocks xmlns:a="http://schemas.openxmlformats.org/drawingml/2006/main" noGrp="1"/>
          </p:cNvSpPr>
          <p:nvPr/>
        </p:nvSpPr>
        <p:spPr>
          <a:xfrm xmlns:a="http://schemas.openxmlformats.org/drawingml/2006/main">
            <a:off x="6572250" y="2581275"/>
            <a:ext cx="4953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Notificaciones internas.</a:t>
            </a:r>
          </a:p>
        </p:txBody>
      </p:sp>
      <p:sp>
        <p:nvSpPr>
          <p:cNvPr id="12" name="Indicadores agregados.">
            <a:extLst xmlns:a="http://schemas.openxmlformats.org/drawingml/2006/main">
              <a:ext uri="{FF2B5EF4-FFF2-40B4-BE49-F238E27FC236}">
                <a16:creationId xmlns:a16="http://schemas.microsoft.com/office/drawing/2014/main" id="{93AD54B2-873B-4F6D-B54A-EDA117550103}"/>
              </a:ext>
            </a:extLst>
          </p:cNvPr>
          <p:cNvSpPr>
            <a:spLocks xmlns:a="http://schemas.openxmlformats.org/drawingml/2006/main" noGrp="1"/>
          </p:cNvSpPr>
          <p:nvPr/>
        </p:nvSpPr>
        <p:spPr>
          <a:xfrm xmlns:a="http://schemas.openxmlformats.org/drawingml/2006/main">
            <a:off x="6572250" y="3343275"/>
            <a:ext cx="4953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Indicadores agregados.</a:t>
            </a:r>
          </a:p>
        </p:txBody>
      </p:sp>
      <p:sp>
        <p:nvSpPr>
          <p:cNvPr id="13" name="Importación validada.">
            <a:extLst xmlns:a="http://schemas.openxmlformats.org/drawingml/2006/main">
              <a:ext uri="{FF2B5EF4-FFF2-40B4-BE49-F238E27FC236}">
                <a16:creationId xmlns:a16="http://schemas.microsoft.com/office/drawing/2014/main" id="{56F111C3-9B2F-4266-B9BB-BEFD7D462C81}"/>
              </a:ext>
            </a:extLst>
          </p:cNvPr>
          <p:cNvSpPr>
            <a:spLocks xmlns:a="http://schemas.openxmlformats.org/drawingml/2006/main" noGrp="1"/>
          </p:cNvSpPr>
          <p:nvPr/>
        </p:nvSpPr>
        <p:spPr>
          <a:xfrm xmlns:a="http://schemas.openxmlformats.org/drawingml/2006/main">
            <a:off x="6572250" y="4105275"/>
            <a:ext cx="4953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Importación validada.</a:t>
            </a:r>
          </a:p>
        </p:txBody>
      </p:sp>
      <p:sp>
        <p:nvSpPr>
          <p:cNvPr id="14" name="Exportación de reportes.">
            <a:extLst xmlns:a="http://schemas.openxmlformats.org/drawingml/2006/main">
              <a:ext uri="{FF2B5EF4-FFF2-40B4-BE49-F238E27FC236}">
                <a16:creationId xmlns:a16="http://schemas.microsoft.com/office/drawing/2014/main" id="{277836F6-1214-4FA9-A1DE-09F78E34575F}"/>
              </a:ext>
            </a:extLst>
          </p:cNvPr>
          <p:cNvSpPr>
            <a:spLocks xmlns:a="http://schemas.openxmlformats.org/drawingml/2006/main" noGrp="1"/>
          </p:cNvSpPr>
          <p:nvPr/>
        </p:nvSpPr>
        <p:spPr>
          <a:xfrm xmlns:a="http://schemas.openxmlformats.org/drawingml/2006/main">
            <a:off x="6572250" y="4867275"/>
            <a:ext cx="4953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Exportación de reportes.</a:t>
            </a:r>
          </a:p>
        </p:txBody>
      </p:sp>
      <p:sp>
        <p:nvSpPr>
          <p:cNvPr id="15" name="Joel debe ratificar inclusiones o aplazamientos y conse">
            <a:extLst xmlns:a="http://schemas.openxmlformats.org/drawingml/2006/main">
              <a:ext uri="{FF2B5EF4-FFF2-40B4-BE49-F238E27FC236}">
                <a16:creationId xmlns:a16="http://schemas.microsoft.com/office/drawing/2014/main" id="{0DC84402-70D7-4FEB-8137-1A64CBF74DFC}"/>
              </a:ext>
            </a:extLst>
          </p:cNvPr>
          <p:cNvSpPr>
            <a:spLocks xmlns:a="http://schemas.openxmlformats.org/drawingml/2006/main" noGrp="1"/>
          </p:cNvSpPr>
          <p:nvPr/>
        </p:nvSpPr>
        <p:spPr>
          <a:xfrm xmlns:a="http://schemas.openxmlformats.org/drawingml/2006/main">
            <a:off x="609600" y="59055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84C3B"/>
                </a:solidFill>
                <a:latin typeface="Helvetica Neue"/>
                <a:ea typeface="Helvetica Neue"/>
                <a:cs typeface="Helvetica Neue"/>
              </a:defRPr>
            </a:defPPr>
            <a:lvl1pPr algn="l">
              <a:buNone/>
              <a:defRPr sz="1725" b="1">
                <a:solidFill>
                  <a:srgbClr val="184C3B"/>
                </a:solidFill>
                <a:latin typeface="DejaVu Sans"/>
                <a:ea typeface="DejaVu Sans"/>
                <a:cs typeface="DejaVu Sans"/>
              </a:defRPr>
            </a:lvl1pPr>
            <a:lvl2pPr algn="l">
              <a:buNone/>
              <a:defRPr sz="1725" b="1">
                <a:solidFill>
                  <a:srgbClr val="184C3B"/>
                </a:solidFill>
                <a:latin typeface="DejaVu Sans"/>
                <a:ea typeface="DejaVu Sans"/>
                <a:cs typeface="DejaVu Sans"/>
              </a:defRPr>
            </a:lvl2pPr>
            <a:lvl3pPr algn="l">
              <a:buNone/>
              <a:defRPr sz="1725" b="1">
                <a:solidFill>
                  <a:srgbClr val="184C3B"/>
                </a:solidFill>
                <a:latin typeface="DejaVu Sans"/>
                <a:ea typeface="DejaVu Sans"/>
                <a:cs typeface="DejaVu Sans"/>
              </a:defRPr>
            </a:lvl3pPr>
            <a:lvl4pPr algn="l">
              <a:buNone/>
              <a:defRPr sz="1725" b="1">
                <a:solidFill>
                  <a:srgbClr val="184C3B"/>
                </a:solidFill>
                <a:latin typeface="DejaVu Sans"/>
                <a:ea typeface="DejaVu Sans"/>
                <a:cs typeface="DejaVu Sans"/>
              </a:defRPr>
            </a:lvl4pPr>
            <a:lvl5pPr algn="l">
              <a:buNone/>
              <a:defRPr sz="1725" b="1">
                <a:solidFill>
                  <a:srgbClr val="184C3B"/>
                </a:solidFill>
                <a:latin typeface="DejaVu Sans"/>
                <a:ea typeface="DejaVu Sans"/>
                <a:cs typeface="DejaVu Sans"/>
              </a:defRPr>
            </a:lvl5pPr>
            <a:lvl6pPr algn="l">
              <a:buNone/>
              <a:defRPr sz="1725" b="1">
                <a:solidFill>
                  <a:srgbClr val="184C3B"/>
                </a:solidFill>
                <a:latin typeface="DejaVu Sans"/>
                <a:ea typeface="DejaVu Sans"/>
                <a:cs typeface="DejaVu Sans"/>
              </a:defRPr>
            </a:lvl6pPr>
            <a:lvl7pPr algn="l">
              <a:buNone/>
              <a:defRPr sz="1725" b="1">
                <a:solidFill>
                  <a:srgbClr val="184C3B"/>
                </a:solidFill>
                <a:latin typeface="DejaVu Sans"/>
                <a:ea typeface="DejaVu Sans"/>
                <a:cs typeface="DejaVu Sans"/>
              </a:defRPr>
            </a:lvl7pPr>
            <a:lvl8pPr algn="l">
              <a:buNone/>
              <a:defRPr sz="1725" b="1">
                <a:solidFill>
                  <a:srgbClr val="184C3B"/>
                </a:solidFill>
                <a:latin typeface="DejaVu Sans"/>
                <a:ea typeface="DejaVu Sans"/>
                <a:cs typeface="DejaVu Sans"/>
              </a:defRPr>
            </a:lvl8pPr>
            <a:lvl9pPr algn="l">
              <a:buNone/>
              <a:defRPr sz="1725" b="1">
                <a:solidFill>
                  <a:srgbClr val="184C3B"/>
                </a:solidFill>
                <a:latin typeface="DejaVu Sans"/>
                <a:ea typeface="DejaVu Sans"/>
                <a:cs typeface="DejaVu Sans"/>
              </a:defRPr>
            </a:lvl9pPr>
          </a:lstStyle>
          <a:p xmlns:a="http://schemas.openxmlformats.org/drawingml/2006/main">
            <a:pPr algn="l">
              <a:buNone/>
              <a:defRPr sz="1725" b="1">
                <a:solidFill>
                  <a:srgbClr val="184C3B"/>
                </a:solidFill>
                <a:latin typeface="Helvetica Neue"/>
                <a:ea typeface="Helvetica Neue"/>
                <a:cs typeface="Helvetica Neue"/>
              </a:defRPr>
            </a:pPr>
            <a:r>
              <a:rPr sz="1725" b="1">
                <a:solidFill>
                  <a:srgbClr val="184C3B"/>
                </a:solidFill>
                <a:latin typeface="Helvetica Neue"/>
                <a:ea typeface="Helvetica Neue"/>
                <a:cs typeface="Helvetica Neue"/>
              </a:rPr>
              <a:t>Joel debe ratificar inclusiones o aplazamientos y conservar la decisión en Jira.</a:t>
            </a:r>
          </a:p>
        </p:txBody>
      </p:sp>
    </p:spTree>
    <p:extLst>
      <p:ext uri="{BB962C8B-B14F-4D97-AF65-F5344CB8AC3E}">
        <p14:creationId xmlns:p14="http://schemas.microsoft.com/office/powerpoint/2010/main" val="671131874"/>
      </p:ext>
    </p:extLst>
  </p:cSld>
</p:sld>
</file>

<file path=ppt/slides/slide14.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7" name="AVANCE DEL PROYECTO">
            <a:extLst xmlns:a="http://schemas.openxmlformats.org/drawingml/2006/main">
              <a:ext uri="{FF2B5EF4-FFF2-40B4-BE49-F238E27FC236}">
                <a16:creationId xmlns:a16="http://schemas.microsoft.com/office/drawing/2014/main" id="{30C92E20-787B-434C-8B79-97E171B7E650}"/>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Documentación pendiente para la entrega">
            <a:extLst xmlns:a="http://schemas.openxmlformats.org/drawingml/2006/main">
              <a:ext uri="{FF2B5EF4-FFF2-40B4-BE49-F238E27FC236}">
                <a16:creationId xmlns:a16="http://schemas.microsoft.com/office/drawing/2014/main" id="{1B061673-388D-4816-AC09-D6838FD8DCC5}"/>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Documentación pendiente para la entrega</a:t>
            </a:r>
          </a:p>
        </p:txBody>
      </p:sp>
      <p:sp>
        <p:nvSpPr>
          <p:cNvPr id="3" name="SIGAA  /  Capstone 2026">
            <a:extLst xmlns:a="http://schemas.openxmlformats.org/drawingml/2006/main">
              <a:ext uri="{FF2B5EF4-FFF2-40B4-BE49-F238E27FC236}">
                <a16:creationId xmlns:a16="http://schemas.microsoft.com/office/drawing/2014/main" id="{6E50DF29-523D-454F-8B2D-5979D0483037}"/>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Matías  /  Bloque 3 de 3  /  SIGAA</a:t>
            </a:r>
          </a:p>
        </p:txBody>
      </p:sp>
      <p:sp>
        <p:nvSpPr>
          <p:cNvPr id="4" name="12   /   28 oct 2026">
            <a:extLst xmlns:a="http://schemas.openxmlformats.org/drawingml/2006/main">
              <a:ext uri="{FF2B5EF4-FFF2-40B4-BE49-F238E27FC236}">
                <a16:creationId xmlns:a16="http://schemas.microsoft.com/office/drawing/2014/main" id="{58C8E243-0461-4BFB-A8A7-D8AD1E71C47B}"/>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14 de 18   /   28 oct 2026</a:t>
            </a:r>
          </a:p>
        </p:txBody>
      </p:sp>
      <p:graphicFrame>
        <p:nvGraphicFramePr>
          <p:cNvPr id="5" name="">
            <a:extLst xmlns:a="http://schemas.openxmlformats.org/drawingml/2006/main">
              <a:ext uri="{FF2B5EF4-FFF2-40B4-BE49-F238E27FC236}">
                <a16:creationId xmlns:a16="http://schemas.microsoft.com/office/drawing/2014/main" id="{E22C61EE-D17C-4FB5-B600-0CD86BEA209A}"/>
              </a:ext>
            </a:extLst>
          </p:cNvPr>
          <p:cNvGraphicFramePr/>
          <p:nvPr/>
        </p:nvGraphicFramePr>
        <p:xfrm>
          <a:off xmlns:a="http://schemas.openxmlformats.org/drawingml/2006/main" x="609600" y="1952625"/>
          <a:ext xmlns:a="http://schemas.openxmlformats.org/drawingml/2006/main" cx="10972800" cy="3790950"/>
        </p:xfrm>
        <a:graphic xmlns:a="http://schemas.openxmlformats.org/drawingml/2006/main">
          <a:graphicData uri="http://schemas.openxmlformats.org/drawingml/2006/table">
            <a:tbl>
              <a:tblPr/>
              <a:tblGrid>
                <a:gridCol w="3714750"/>
                <a:gridCol w="7258050"/>
              </a:tblGrid>
              <a:tr h="631825">
                <a:tc>
                  <a:txBody>
                    <a:bodyPr/>
                    <a:lstStyle/>
                    <a:p>
                      <a:r>
                        <a:rPr sz="1800" b="1">
                          <a:solidFill>
                            <a:srgbClr val="FFFFFF"/>
                          </a:solidFill>
                          <a:latin typeface="Helvetica Neue"/>
                          <a:ea typeface="Helvetica Neue"/>
                          <a:cs typeface="Helvetica Neue"/>
                        </a:rPr>
                        <a:t>Documento o evidencia</a:t>
                      </a:r>
                    </a:p>
                  </a:txBody>
                  <a:tcPr marL="152400" marR="152400" marT="114300" marB="114300" anchor="ctr">
                    <a:lnL w="4763">
                      <a:solidFill>
                        <a:srgbClr val="D5DDD1"/>
                      </a:solidFill>
                      <a:prstDash val="solid"/>
                    </a:lnL>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800" b="1">
                          <a:solidFill>
                            <a:srgbClr val="FFFFFF"/>
                          </a:solidFill>
                          <a:latin typeface="Helvetica Neue"/>
                          <a:ea typeface="Helvetica Neue"/>
                          <a:cs typeface="Helvetica Neue"/>
                        </a:rPr>
                        <a:t>Acción necesaria</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r>
              <a:tr h="631825">
                <a:tc>
                  <a:txBody>
                    <a:bodyPr/>
                    <a:lstStyle/>
                    <a:p>
                      <a:r>
                        <a:rPr sz="1875" b="0">
                          <a:solidFill>
                            <a:srgbClr val="263D33"/>
                          </a:solidFill>
                          <a:latin typeface="Helvetica Neue"/>
                          <a:ea typeface="Helvetica Neue"/>
                          <a:cs typeface="Helvetica Neue"/>
                        </a:rPr>
                        <a:t>Modelos y manuales</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Actualizar UML, datos y manuales técnico y de usuario.</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631825">
                <a:tc>
                  <a:txBody>
                    <a:bodyPr/>
                    <a:lstStyle/>
                    <a:p>
                      <a:r>
                        <a:rPr sz="1875" b="0">
                          <a:solidFill>
                            <a:srgbClr val="263D33"/>
                          </a:solidFill>
                          <a:latin typeface="Helvetica Neue"/>
                          <a:ea typeface="Helvetica Neue"/>
                          <a:cs typeface="Helvetica Neue"/>
                        </a:rPr>
                        <a:t>Formularios académicos</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Completar formularios oficiales y validación personal.</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631825">
                <a:tc>
                  <a:txBody>
                    <a:bodyPr/>
                    <a:lstStyle/>
                    <a:p>
                      <a:r>
                        <a:rPr sz="1875" b="0">
                          <a:solidFill>
                            <a:srgbClr val="263D33"/>
                          </a:solidFill>
                          <a:latin typeface="Helvetica Neue"/>
                          <a:ea typeface="Helvetica Neue"/>
                          <a:cs typeface="Helvetica Neue"/>
                        </a:rPr>
                        <a:t>Fase 2</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Informe final, planillas y comprobante de entrega.</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631825">
                <a:tc>
                  <a:txBody>
                    <a:bodyPr/>
                    <a:lstStyle/>
                    <a:p>
                      <a:r>
                        <a:rPr sz="1875" b="0">
                          <a:solidFill>
                            <a:srgbClr val="263D33"/>
                          </a:solidFill>
                          <a:latin typeface="Helvetica Neue"/>
                          <a:ea typeface="Helvetica Neue"/>
                          <a:cs typeface="Helvetica Neue"/>
                        </a:rPr>
                        <a:t>Fase 3</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75" b="0">
                          <a:solidFill>
                            <a:srgbClr val="263D33"/>
                          </a:solidFill>
                          <a:latin typeface="Helvetica Neue"/>
                          <a:ea typeface="Helvetica Neue"/>
                          <a:cs typeface="Helvetica Neue"/>
                        </a:rPr>
                        <a:t>Presentación final, diarios y defensa.</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631825">
                <a:tc>
                  <a:txBody>
                    <a:bodyPr/>
                    <a:lstStyle/>
                    <a:p>
                      <a:r>
                        <a:rPr sz="1875" b="0">
                          <a:solidFill>
                            <a:srgbClr val="263D33"/>
                          </a:solidFill>
                          <a:latin typeface="Helvetica Neue"/>
                          <a:ea typeface="Helvetica Neue"/>
                          <a:cs typeface="Helvetica Neue"/>
                        </a:rPr>
                        <a:t>Reuniones y aceptación</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75" b="0">
                          <a:solidFill>
                            <a:srgbClr val="263D33"/>
                          </a:solidFill>
                          <a:latin typeface="Helvetica Neue"/>
                          <a:ea typeface="Helvetica Neue"/>
                          <a:cs typeface="Helvetica Neue"/>
                        </a:rPr>
                        <a:t>Registrar reuniones y aceptación cuando ocurran.</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bl>
          </a:graphicData>
        </a:graphic>
      </p:graphicFrame>
      <p:sp>
        <p:nvSpPr>
          <p:cNvPr id="6" name="Un PDF en GitHub no acredita recepción ni aprobación en">
            <a:extLst xmlns:a="http://schemas.openxmlformats.org/drawingml/2006/main">
              <a:ext uri="{FF2B5EF4-FFF2-40B4-BE49-F238E27FC236}">
                <a16:creationId xmlns:a16="http://schemas.microsoft.com/office/drawing/2014/main" id="{799544EE-254C-4172-9A7D-68AA11FC4EFA}"/>
              </a:ext>
            </a:extLst>
          </p:cNvPr>
          <p:cNvSpPr>
            <a:spLocks xmlns:a="http://schemas.openxmlformats.org/drawingml/2006/main" noGrp="1"/>
          </p:cNvSpPr>
          <p:nvPr/>
        </p:nvSpPr>
        <p:spPr>
          <a:xfrm xmlns:a="http://schemas.openxmlformats.org/drawingml/2006/main">
            <a:off x="609600" y="59055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84C3B"/>
                </a:solidFill>
                <a:latin typeface="Helvetica Neue"/>
                <a:ea typeface="Helvetica Neue"/>
                <a:cs typeface="Helvetica Neue"/>
              </a:defRPr>
            </a:defPPr>
            <a:lvl1pPr algn="l">
              <a:buNone/>
              <a:defRPr sz="1800" b="1">
                <a:solidFill>
                  <a:srgbClr val="184C3B"/>
                </a:solidFill>
                <a:latin typeface="DejaVu Sans"/>
                <a:ea typeface="DejaVu Sans"/>
                <a:cs typeface="DejaVu Sans"/>
              </a:defRPr>
            </a:lvl1pPr>
            <a:lvl2pPr algn="l">
              <a:buNone/>
              <a:defRPr sz="1800" b="1">
                <a:solidFill>
                  <a:srgbClr val="184C3B"/>
                </a:solidFill>
                <a:latin typeface="DejaVu Sans"/>
                <a:ea typeface="DejaVu Sans"/>
                <a:cs typeface="DejaVu Sans"/>
              </a:defRPr>
            </a:lvl2pPr>
            <a:lvl3pPr algn="l">
              <a:buNone/>
              <a:defRPr sz="1800" b="1">
                <a:solidFill>
                  <a:srgbClr val="184C3B"/>
                </a:solidFill>
                <a:latin typeface="DejaVu Sans"/>
                <a:ea typeface="DejaVu Sans"/>
                <a:cs typeface="DejaVu Sans"/>
              </a:defRPr>
            </a:lvl3pPr>
            <a:lvl4pPr algn="l">
              <a:buNone/>
              <a:defRPr sz="1800" b="1">
                <a:solidFill>
                  <a:srgbClr val="184C3B"/>
                </a:solidFill>
                <a:latin typeface="DejaVu Sans"/>
                <a:ea typeface="DejaVu Sans"/>
                <a:cs typeface="DejaVu Sans"/>
              </a:defRPr>
            </a:lvl4pPr>
            <a:lvl5pPr algn="l">
              <a:buNone/>
              <a:defRPr sz="1800" b="1">
                <a:solidFill>
                  <a:srgbClr val="184C3B"/>
                </a:solidFill>
                <a:latin typeface="DejaVu Sans"/>
                <a:ea typeface="DejaVu Sans"/>
                <a:cs typeface="DejaVu Sans"/>
              </a:defRPr>
            </a:lvl5pPr>
            <a:lvl6pPr algn="l">
              <a:buNone/>
              <a:defRPr sz="1800" b="1">
                <a:solidFill>
                  <a:srgbClr val="184C3B"/>
                </a:solidFill>
                <a:latin typeface="DejaVu Sans"/>
                <a:ea typeface="DejaVu Sans"/>
                <a:cs typeface="DejaVu Sans"/>
              </a:defRPr>
            </a:lvl6pPr>
            <a:lvl7pPr algn="l">
              <a:buNone/>
              <a:defRPr sz="1800" b="1">
                <a:solidFill>
                  <a:srgbClr val="184C3B"/>
                </a:solidFill>
                <a:latin typeface="DejaVu Sans"/>
                <a:ea typeface="DejaVu Sans"/>
                <a:cs typeface="DejaVu Sans"/>
              </a:defRPr>
            </a:lvl7pPr>
            <a:lvl8pPr algn="l">
              <a:buNone/>
              <a:defRPr sz="1800" b="1">
                <a:solidFill>
                  <a:srgbClr val="184C3B"/>
                </a:solidFill>
                <a:latin typeface="DejaVu Sans"/>
                <a:ea typeface="DejaVu Sans"/>
                <a:cs typeface="DejaVu Sans"/>
              </a:defRPr>
            </a:lvl8pPr>
            <a:lvl9pPr algn="l">
              <a:buNone/>
              <a:defRPr sz="1800" b="1">
                <a:solidFill>
                  <a:srgbClr val="184C3B"/>
                </a:solidFill>
                <a:latin typeface="DejaVu Sans"/>
                <a:ea typeface="DejaVu Sans"/>
                <a:cs typeface="DejaVu Sans"/>
              </a:defRPr>
            </a:lvl9pPr>
          </a:lstStyle>
          <a:p xmlns:a="http://schemas.openxmlformats.org/drawingml/2006/main">
            <a:pPr algn="l">
              <a:buNone/>
              <a:defRPr sz="1800" b="1">
                <a:solidFill>
                  <a:srgbClr val="184C3B"/>
                </a:solidFill>
                <a:latin typeface="Helvetica Neue"/>
                <a:ea typeface="Helvetica Neue"/>
                <a:cs typeface="Helvetica Neue"/>
              </a:defRPr>
            </a:pPr>
            <a:r>
              <a:rPr sz="1800" b="1">
                <a:solidFill>
                  <a:srgbClr val="184C3B"/>
                </a:solidFill>
                <a:latin typeface="Helvetica Neue"/>
                <a:ea typeface="Helvetica Neue"/>
                <a:cs typeface="Helvetica Neue"/>
              </a:rPr>
              <a:t>Un PDF en GitHub no acredita recepción ni aprobación en Campus.</a:t>
            </a:r>
          </a:p>
        </p:txBody>
      </p:sp>
    </p:spTree>
    <p:extLst>
      <p:ext uri="{BB962C8B-B14F-4D97-AF65-F5344CB8AC3E}">
        <p14:creationId xmlns:p14="http://schemas.microsoft.com/office/powerpoint/2010/main" val="1119492483"/>
      </p:ext>
    </p:extLst>
  </p:cSld>
</p:sld>
</file>

<file path=ppt/slides/slide15.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7" name="AVANCE DEL PROYECTO">
            <a:extLst xmlns:a="http://schemas.openxmlformats.org/drawingml/2006/main">
              <a:ext uri="{FF2B5EF4-FFF2-40B4-BE49-F238E27FC236}">
                <a16:creationId xmlns:a16="http://schemas.microsoft.com/office/drawing/2014/main" id="{123D41B2-541B-48F6-8B35-655B129228E7}"/>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Ruta de cierre propuesta">
            <a:extLst xmlns:a="http://schemas.openxmlformats.org/drawingml/2006/main">
              <a:ext uri="{FF2B5EF4-FFF2-40B4-BE49-F238E27FC236}">
                <a16:creationId xmlns:a16="http://schemas.microsoft.com/office/drawing/2014/main" id="{7CDEB634-11F1-41A9-B67E-F32841A94A17}"/>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Ruta de cierre propuesta</a:t>
            </a:r>
          </a:p>
        </p:txBody>
      </p:sp>
      <p:sp>
        <p:nvSpPr>
          <p:cNvPr id="3" name="SIGAA  /  Capstone 2026">
            <a:extLst xmlns:a="http://schemas.openxmlformats.org/drawingml/2006/main">
              <a:ext uri="{FF2B5EF4-FFF2-40B4-BE49-F238E27FC236}">
                <a16:creationId xmlns:a16="http://schemas.microsoft.com/office/drawing/2014/main" id="{E259AE9F-6AEB-48A0-B28C-EA21F5DFB5F8}"/>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Matías  /  Bloque 3 de 3  /  SIGAA</a:t>
            </a:r>
          </a:p>
        </p:txBody>
      </p:sp>
      <p:sp>
        <p:nvSpPr>
          <p:cNvPr id="4" name="13   /   28 oct 2026">
            <a:extLst xmlns:a="http://schemas.openxmlformats.org/drawingml/2006/main">
              <a:ext uri="{FF2B5EF4-FFF2-40B4-BE49-F238E27FC236}">
                <a16:creationId xmlns:a16="http://schemas.microsoft.com/office/drawing/2014/main" id="{89EAD721-0E7F-4814-9735-552BD3F21C66}"/>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15 de 18   /   28 oct 2026</a:t>
            </a:r>
          </a:p>
        </p:txBody>
      </p:sp>
      <p:graphicFrame>
        <p:nvGraphicFramePr>
          <p:cNvPr id="5" name="">
            <a:extLst xmlns:a="http://schemas.openxmlformats.org/drawingml/2006/main">
              <a:ext uri="{FF2B5EF4-FFF2-40B4-BE49-F238E27FC236}">
                <a16:creationId xmlns:a16="http://schemas.microsoft.com/office/drawing/2014/main" id="{0610873D-F26C-44FA-AA2C-D995585143FC}"/>
              </a:ext>
            </a:extLst>
          </p:cNvPr>
          <p:cNvGraphicFramePr/>
          <p:nvPr/>
        </p:nvGraphicFramePr>
        <p:xfrm>
          <a:off xmlns:a="http://schemas.openxmlformats.org/drawingml/2006/main" x="609600" y="1952625"/>
          <a:ext xmlns:a="http://schemas.openxmlformats.org/drawingml/2006/main" cx="10972800" cy="3752850"/>
        </p:xfrm>
        <a:graphic xmlns:a="http://schemas.openxmlformats.org/drawingml/2006/main">
          <a:graphicData uri="http://schemas.openxmlformats.org/drawingml/2006/table">
            <a:tbl>
              <a:tblPr/>
              <a:tblGrid>
                <a:gridCol w="3571875"/>
                <a:gridCol w="7400925"/>
              </a:tblGrid>
              <a:tr h="625475">
                <a:tc>
                  <a:txBody>
                    <a:bodyPr/>
                    <a:lstStyle/>
                    <a:p>
                      <a:r>
                        <a:rPr sz="1725" b="1">
                          <a:solidFill>
                            <a:srgbClr val="FFFFFF"/>
                          </a:solidFill>
                          <a:latin typeface="Helvetica Neue"/>
                          <a:ea typeface="Helvetica Neue"/>
                          <a:cs typeface="Helvetica Neue"/>
                        </a:rPr>
                        <a:t>Cuándo</a:t>
                      </a:r>
                    </a:p>
                  </a:txBody>
                  <a:tcPr marL="152400" marR="152400" marT="114300" marB="114300" anchor="ctr">
                    <a:lnL w="4763">
                      <a:solidFill>
                        <a:srgbClr val="D5DDD1"/>
                      </a:solidFill>
                      <a:prstDash val="solid"/>
                    </a:lnL>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c>
                  <a:txBody>
                    <a:bodyPr/>
                    <a:lstStyle/>
                    <a:p>
                      <a:r>
                        <a:rPr sz="1725" b="1">
                          <a:solidFill>
                            <a:srgbClr val="FFFFFF"/>
                          </a:solidFill>
                          <a:latin typeface="Helvetica Neue"/>
                          <a:ea typeface="Helvetica Neue"/>
                          <a:cs typeface="Helvetica Neue"/>
                        </a:rPr>
                        <a:t>Resultado esperado</a:t>
                      </a:r>
                    </a:p>
                  </a:txBody>
                  <a:tcPr marL="152400" marR="152400" marT="114300" marB="114300" anchor="ctr">
                    <a:lnR w="4763">
                      <a:solidFill>
                        <a:srgbClr val="D5DDD1"/>
                      </a:solidFill>
                      <a:prstDash val="solid"/>
                    </a:lnR>
                    <a:lnT w="4763">
                      <a:solidFill>
                        <a:srgbClr val="D5DDD1"/>
                      </a:solidFill>
                      <a:prstDash val="solid"/>
                    </a:lnT>
                    <a:lnB w="4763">
                      <a:solidFill>
                        <a:srgbClr val="D5DDD1"/>
                      </a:solidFill>
                      <a:prstDash val="solid"/>
                    </a:lnB>
                    <a:solidFill>
                      <a:srgbClr val="184C3B"/>
                    </a:solidFill>
                  </a:tcPr>
                </a:tc>
              </a:tr>
              <a:tr h="625475">
                <a:tc>
                  <a:txBody>
                    <a:bodyPr/>
                    <a:lstStyle/>
                    <a:p>
                      <a:r>
                        <a:rPr sz="1800" b="0">
                          <a:solidFill>
                            <a:srgbClr val="263D33"/>
                          </a:solidFill>
                          <a:latin typeface="Helvetica Neue"/>
                          <a:ea typeface="Helvetica Neue"/>
                          <a:cs typeface="Helvetica Neue"/>
                        </a:rPr>
                        <a:t>28–31 oct · Sprint 5</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00" b="0">
                          <a:solidFill>
                            <a:srgbClr val="263D33"/>
                          </a:solidFill>
                          <a:latin typeface="Helvetica Neue"/>
                          <a:ea typeface="Helvetica Neue"/>
                          <a:cs typeface="Helvetica Neue"/>
                        </a:rPr>
                        <a:t>Validación, revisión e integración del incremento.</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625475">
                <a:tc>
                  <a:txBody>
                    <a:bodyPr/>
                    <a:lstStyle/>
                    <a:p>
                      <a:r>
                        <a:rPr sz="1800" b="0">
                          <a:solidFill>
                            <a:srgbClr val="263D33"/>
                          </a:solidFill>
                          <a:latin typeface="Helvetica Neue"/>
                          <a:ea typeface="Helvetica Neue"/>
                          <a:cs typeface="Helvetica Neue"/>
                        </a:rPr>
                        <a:t>2–14 nov · Sprint 6</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00" b="0">
                          <a:solidFill>
                            <a:srgbClr val="263D33"/>
                          </a:solidFill>
                          <a:latin typeface="Helvetica Neue"/>
                          <a:ea typeface="Helvetica Neue"/>
                          <a:cs typeface="Helvetica Neue"/>
                        </a:rPr>
                        <a:t>Pruebas, auditoría, restauración, manuales y valor.</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625475">
                <a:tc>
                  <a:txBody>
                    <a:bodyPr/>
                    <a:lstStyle/>
                    <a:p>
                      <a:r>
                        <a:rPr sz="1800" b="0">
                          <a:solidFill>
                            <a:srgbClr val="263D33"/>
                          </a:solidFill>
                          <a:latin typeface="Helvetica Neue"/>
                          <a:ea typeface="Helvetica Neue"/>
                          <a:cs typeface="Helvetica Neue"/>
                        </a:rPr>
                        <a:t>16–21 nov · Sprint 7</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00" b="0">
                          <a:solidFill>
                            <a:srgbClr val="263D33"/>
                          </a:solidFill>
                          <a:latin typeface="Helvetica Neue"/>
                          <a:ea typeface="Helvetica Neue"/>
                          <a:cs typeface="Helvetica Neue"/>
                        </a:rPr>
                        <a:t>Producto estable y entrega final Fase 2 con comprobante.</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r h="625475">
                <a:tc>
                  <a:txBody>
                    <a:bodyPr/>
                    <a:lstStyle/>
                    <a:p>
                      <a:r>
                        <a:rPr sz="1800" b="0">
                          <a:solidFill>
                            <a:srgbClr val="263D33"/>
                          </a:solidFill>
                          <a:latin typeface="Helvetica Neue"/>
                          <a:ea typeface="Helvetica Neue"/>
                          <a:cs typeface="Helvetica Neue"/>
                        </a:rPr>
                        <a:t>22–28 nov · Sprint 7</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E9EEE5"/>
                    </a:solidFill>
                  </a:tcPr>
                </a:tc>
                <a:tc>
                  <a:txBody>
                    <a:bodyPr/>
                    <a:lstStyle/>
                    <a:p>
                      <a:r>
                        <a:rPr sz="1800" b="0">
                          <a:solidFill>
                            <a:srgbClr val="263D33"/>
                          </a:solidFill>
                          <a:latin typeface="Helvetica Neue"/>
                          <a:ea typeface="Helvetica Neue"/>
                          <a:cs typeface="Helvetica Neue"/>
                        </a:rPr>
                        <a:t>Correcciones y preparación de defensa.</a:t>
                      </a:r>
                    </a:p>
                  </a:txBody>
                  <a:tcPr marL="152400" marR="152400" marT="114300" marB="114300" anchor="ctr">
                    <a:lnR w="4763">
                      <a:solidFill>
                        <a:srgbClr val="D5DDD1"/>
                      </a:solidFill>
                      <a:prstDash val="solid"/>
                    </a:lnR>
                    <a:lnB w="4763">
                      <a:solidFill>
                        <a:srgbClr val="D5DDD1"/>
                      </a:solidFill>
                      <a:prstDash val="solid"/>
                    </a:lnB>
                    <a:solidFill>
                      <a:srgbClr val="E9EEE5"/>
                    </a:solidFill>
                  </a:tcPr>
                </a:tc>
              </a:tr>
              <a:tr h="625475">
                <a:tc>
                  <a:txBody>
                    <a:bodyPr/>
                    <a:lstStyle/>
                    <a:p>
                      <a:r>
                        <a:rPr sz="1800" b="0">
                          <a:solidFill>
                            <a:srgbClr val="263D33"/>
                          </a:solidFill>
                          <a:latin typeface="Helvetica Neue"/>
                          <a:ea typeface="Helvetica Neue"/>
                          <a:cs typeface="Helvetica Neue"/>
                        </a:rPr>
                        <a:t>30 nov–12 dic · Fase 3</a:t>
                      </a:r>
                    </a:p>
                  </a:txBody>
                  <a:tcPr marL="152400" marR="152400" marT="114300" marB="114300" anchor="ctr">
                    <a:lnL w="4763">
                      <a:solidFill>
                        <a:srgbClr val="D5DDD1"/>
                      </a:solidFill>
                      <a:prstDash val="solid"/>
                    </a:lnL>
                    <a:lnR w="4763">
                      <a:solidFill>
                        <a:srgbClr val="D5DDD1"/>
                      </a:solidFill>
                      <a:prstDash val="solid"/>
                    </a:lnR>
                    <a:lnB w="4763">
                      <a:solidFill>
                        <a:srgbClr val="D5DDD1"/>
                      </a:solidFill>
                      <a:prstDash val="solid"/>
                    </a:lnB>
                    <a:solidFill>
                      <a:srgbClr val="FFFFFF"/>
                    </a:solidFill>
                  </a:tcPr>
                </a:tc>
                <a:tc>
                  <a:txBody>
                    <a:bodyPr/>
                    <a:lstStyle/>
                    <a:p>
                      <a:r>
                        <a:rPr sz="1800" b="0">
                          <a:solidFill>
                            <a:srgbClr val="263D33"/>
                          </a:solidFill>
                          <a:latin typeface="Helvetica Neue"/>
                          <a:ea typeface="Helvetica Neue"/>
                          <a:cs typeface="Helvetica Neue"/>
                        </a:rPr>
                        <a:t>Defensa, observaciones y cierre del proyecto.</a:t>
                      </a:r>
                    </a:p>
                  </a:txBody>
                  <a:tcPr marL="152400" marR="152400" marT="114300" marB="114300" anchor="ctr">
                    <a:lnR w="4763">
                      <a:solidFill>
                        <a:srgbClr val="D5DDD1"/>
                      </a:solidFill>
                      <a:prstDash val="solid"/>
                    </a:lnR>
                    <a:lnB w="4763">
                      <a:solidFill>
                        <a:srgbClr val="D5DDD1"/>
                      </a:solidFill>
                      <a:prstDash val="solid"/>
                    </a:lnB>
                    <a:solidFill>
                      <a:srgbClr val="FFFFFF"/>
                    </a:solidFill>
                  </a:tcPr>
                </a:tc>
              </a:tr>
            </a:tbl>
          </a:graphicData>
        </a:graphic>
      </p:graphicFrame>
      <p:sp>
        <p:nvSpPr>
          <p:cNvPr id="6" name="Ventanas planificadas. Confirmar día y hora exactos de ">
            <a:extLst xmlns:a="http://schemas.openxmlformats.org/drawingml/2006/main">
              <a:ext uri="{FF2B5EF4-FFF2-40B4-BE49-F238E27FC236}">
                <a16:creationId xmlns:a16="http://schemas.microsoft.com/office/drawing/2014/main" id="{7BA060F7-F520-4546-9358-606C209D15E5}"/>
              </a:ext>
            </a:extLst>
          </p:cNvPr>
          <p:cNvSpPr>
            <a:spLocks xmlns:a="http://schemas.openxmlformats.org/drawingml/2006/main" noGrp="1"/>
          </p:cNvSpPr>
          <p:nvPr/>
        </p:nvSpPr>
        <p:spPr>
          <a:xfrm xmlns:a="http://schemas.openxmlformats.org/drawingml/2006/main">
            <a:off x="609600" y="59055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85D"/>
                </a:solidFill>
                <a:latin typeface="Helvetica Neue"/>
                <a:ea typeface="Helvetica Neue"/>
                <a:cs typeface="Helvetica Neue"/>
              </a:defRPr>
            </a:defPPr>
            <a:lvl1pPr algn="l">
              <a:buNone/>
              <a:defRPr sz="1650" b="0">
                <a:solidFill>
                  <a:srgbClr val="53685D"/>
                </a:solidFill>
                <a:latin typeface="DejaVu Sans"/>
                <a:ea typeface="DejaVu Sans"/>
                <a:cs typeface="DejaVu Sans"/>
              </a:defRPr>
            </a:lvl1pPr>
            <a:lvl2pPr algn="l">
              <a:buNone/>
              <a:defRPr sz="1650" b="0">
                <a:solidFill>
                  <a:srgbClr val="53685D"/>
                </a:solidFill>
                <a:latin typeface="DejaVu Sans"/>
                <a:ea typeface="DejaVu Sans"/>
                <a:cs typeface="DejaVu Sans"/>
              </a:defRPr>
            </a:lvl2pPr>
            <a:lvl3pPr algn="l">
              <a:buNone/>
              <a:defRPr sz="1650" b="0">
                <a:solidFill>
                  <a:srgbClr val="53685D"/>
                </a:solidFill>
                <a:latin typeface="DejaVu Sans"/>
                <a:ea typeface="DejaVu Sans"/>
                <a:cs typeface="DejaVu Sans"/>
              </a:defRPr>
            </a:lvl3pPr>
            <a:lvl4pPr algn="l">
              <a:buNone/>
              <a:defRPr sz="1650" b="0">
                <a:solidFill>
                  <a:srgbClr val="53685D"/>
                </a:solidFill>
                <a:latin typeface="DejaVu Sans"/>
                <a:ea typeface="DejaVu Sans"/>
                <a:cs typeface="DejaVu Sans"/>
              </a:defRPr>
            </a:lvl4pPr>
            <a:lvl5pPr algn="l">
              <a:buNone/>
              <a:defRPr sz="1650" b="0">
                <a:solidFill>
                  <a:srgbClr val="53685D"/>
                </a:solidFill>
                <a:latin typeface="DejaVu Sans"/>
                <a:ea typeface="DejaVu Sans"/>
                <a:cs typeface="DejaVu Sans"/>
              </a:defRPr>
            </a:lvl5pPr>
            <a:lvl6pPr algn="l">
              <a:buNone/>
              <a:defRPr sz="1650" b="0">
                <a:solidFill>
                  <a:srgbClr val="53685D"/>
                </a:solidFill>
                <a:latin typeface="DejaVu Sans"/>
                <a:ea typeface="DejaVu Sans"/>
                <a:cs typeface="DejaVu Sans"/>
              </a:defRPr>
            </a:lvl6pPr>
            <a:lvl7pPr algn="l">
              <a:buNone/>
              <a:defRPr sz="1650" b="0">
                <a:solidFill>
                  <a:srgbClr val="53685D"/>
                </a:solidFill>
                <a:latin typeface="DejaVu Sans"/>
                <a:ea typeface="DejaVu Sans"/>
                <a:cs typeface="DejaVu Sans"/>
              </a:defRPr>
            </a:lvl7pPr>
            <a:lvl8pPr algn="l">
              <a:buNone/>
              <a:defRPr sz="1650" b="0">
                <a:solidFill>
                  <a:srgbClr val="53685D"/>
                </a:solidFill>
                <a:latin typeface="DejaVu Sans"/>
                <a:ea typeface="DejaVu Sans"/>
                <a:cs typeface="DejaVu Sans"/>
              </a:defRPr>
            </a:lvl8pPr>
            <a:lvl9pPr algn="l">
              <a:buNone/>
              <a:defRPr sz="1650" b="0">
                <a:solidFill>
                  <a:srgbClr val="53685D"/>
                </a:solidFill>
                <a:latin typeface="DejaVu Sans"/>
                <a:ea typeface="DejaVu Sans"/>
                <a:cs typeface="DejaVu Sans"/>
              </a:defRPr>
            </a:lvl9pPr>
          </a:lstStyle>
          <a:p xmlns:a="http://schemas.openxmlformats.org/drawingml/2006/main">
            <a:pPr algn="l">
              <a:buNone/>
              <a:defRPr sz="1650" b="0">
                <a:solidFill>
                  <a:srgbClr val="53685D"/>
                </a:solidFill>
                <a:latin typeface="Helvetica Neue"/>
                <a:ea typeface="Helvetica Neue"/>
                <a:cs typeface="Helvetica Neue"/>
              </a:defRPr>
            </a:pPr>
            <a:r>
              <a:rPr sz="1650" b="0">
                <a:solidFill>
                  <a:srgbClr val="53685D"/>
                </a:solidFill>
                <a:latin typeface="Helvetica Neue"/>
                <a:ea typeface="Helvetica Neue"/>
                <a:cs typeface="Helvetica Neue"/>
              </a:rPr>
              <a:t>Ventanas planificadas. Confirmar día y hora exactos de entrega en Campus.</a:t>
            </a:r>
          </a:p>
        </p:txBody>
      </p:sp>
    </p:spTree>
    <p:extLst>
      <p:ext uri="{BB962C8B-B14F-4D97-AF65-F5344CB8AC3E}">
        <p14:creationId xmlns:p14="http://schemas.microsoft.com/office/powerpoint/2010/main" val="36156369"/>
      </p:ext>
    </p:extLst>
  </p:cSld>
</p:sld>
</file>

<file path=ppt/slides/slide16.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2" name="PROPUESTA POR RATIFICAR CON EL EQUIPO">
            <a:extLst xmlns:a="http://schemas.openxmlformats.org/drawingml/2006/main">
              <a:ext uri="{FF2B5EF4-FFF2-40B4-BE49-F238E27FC236}">
                <a16:creationId xmlns:a16="http://schemas.microsoft.com/office/drawing/2014/main" id="{C63A4CD6-7E0D-4709-8C4B-15D0E42FBED1}"/>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PROPUESTA POR RATIFICAR CON EL EQUIPO</a:t>
            </a:r>
          </a:p>
        </p:txBody>
      </p:sp>
      <p:sp>
        <p:nvSpPr>
          <p:cNvPr id="2" name="Responsabilidades para el tramo final">
            <a:extLst xmlns:a="http://schemas.openxmlformats.org/drawingml/2006/main">
              <a:ext uri="{FF2B5EF4-FFF2-40B4-BE49-F238E27FC236}">
                <a16:creationId xmlns:a16="http://schemas.microsoft.com/office/drawing/2014/main" id="{1447B9A8-634A-4CD0-914A-F9859546619D}"/>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Responsabilidades para el tramo final</a:t>
            </a:r>
          </a:p>
        </p:txBody>
      </p:sp>
      <p:sp>
        <p:nvSpPr>
          <p:cNvPr id="3" name="SIGAA  /  Capstone 2026">
            <a:extLst xmlns:a="http://schemas.openxmlformats.org/drawingml/2006/main">
              <a:ext uri="{FF2B5EF4-FFF2-40B4-BE49-F238E27FC236}">
                <a16:creationId xmlns:a16="http://schemas.microsoft.com/office/drawing/2014/main" id="{C964E232-B971-42AB-868A-E5BD3672841B}"/>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Matías  /  Bloque 3 de 3  /  SIGAA</a:t>
            </a:r>
          </a:p>
        </p:txBody>
      </p:sp>
      <p:sp>
        <p:nvSpPr>
          <p:cNvPr id="4" name="14   /   28 oct 2026">
            <a:extLst xmlns:a="http://schemas.openxmlformats.org/drawingml/2006/main">
              <a:ext uri="{FF2B5EF4-FFF2-40B4-BE49-F238E27FC236}">
                <a16:creationId xmlns:a16="http://schemas.microsoft.com/office/drawing/2014/main" id="{14C72D6B-8398-45AB-91B9-7EA3F0336394}"/>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16 de 18   /   28 oct 2026</a:t>
            </a:r>
          </a:p>
        </p:txBody>
      </p:sp>
      <p:sp>
        <p:nvSpPr>
          <p:cNvPr id="5" name="Joel">
            <a:extLst xmlns:a="http://schemas.openxmlformats.org/drawingml/2006/main">
              <a:ext uri="{FF2B5EF4-FFF2-40B4-BE49-F238E27FC236}">
                <a16:creationId xmlns:a16="http://schemas.microsoft.com/office/drawing/2014/main" id="{E5FB186B-C859-4265-A633-6BD9608CD816}"/>
              </a:ext>
            </a:extLst>
          </p:cNvPr>
          <p:cNvSpPr>
            <a:spLocks xmlns:a="http://schemas.openxmlformats.org/drawingml/2006/main" noGrp="1"/>
          </p:cNvSpPr>
          <p:nvPr/>
        </p:nvSpPr>
        <p:spPr>
          <a:xfrm xmlns:a="http://schemas.openxmlformats.org/drawingml/2006/main">
            <a:off x="609600" y="20383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84C3B"/>
                </a:solidFill>
                <a:latin typeface="Georgia"/>
                <a:ea typeface="Georgia"/>
                <a:cs typeface="Georgia"/>
              </a:defRPr>
            </a:defPPr>
            <a:lvl1pPr algn="l">
              <a:buNone/>
              <a:defRPr sz="2700" b="1">
                <a:solidFill>
                  <a:srgbClr val="184C3B"/>
                </a:solidFill>
                <a:latin typeface="DejaVu Sans"/>
                <a:ea typeface="DejaVu Sans"/>
                <a:cs typeface="DejaVu Sans"/>
              </a:defRPr>
            </a:lvl1pPr>
            <a:lvl2pPr algn="l">
              <a:buNone/>
              <a:defRPr sz="2700" b="1">
                <a:solidFill>
                  <a:srgbClr val="184C3B"/>
                </a:solidFill>
                <a:latin typeface="DejaVu Sans"/>
                <a:ea typeface="DejaVu Sans"/>
                <a:cs typeface="DejaVu Sans"/>
              </a:defRPr>
            </a:lvl2pPr>
            <a:lvl3pPr algn="l">
              <a:buNone/>
              <a:defRPr sz="2700" b="1">
                <a:solidFill>
                  <a:srgbClr val="184C3B"/>
                </a:solidFill>
                <a:latin typeface="DejaVu Sans"/>
                <a:ea typeface="DejaVu Sans"/>
                <a:cs typeface="DejaVu Sans"/>
              </a:defRPr>
            </a:lvl3pPr>
            <a:lvl4pPr algn="l">
              <a:buNone/>
              <a:defRPr sz="2700" b="1">
                <a:solidFill>
                  <a:srgbClr val="184C3B"/>
                </a:solidFill>
                <a:latin typeface="DejaVu Sans"/>
                <a:ea typeface="DejaVu Sans"/>
                <a:cs typeface="DejaVu Sans"/>
              </a:defRPr>
            </a:lvl4pPr>
            <a:lvl5pPr algn="l">
              <a:buNone/>
              <a:defRPr sz="2700" b="1">
                <a:solidFill>
                  <a:srgbClr val="184C3B"/>
                </a:solidFill>
                <a:latin typeface="DejaVu Sans"/>
                <a:ea typeface="DejaVu Sans"/>
                <a:cs typeface="DejaVu Sans"/>
              </a:defRPr>
            </a:lvl5pPr>
            <a:lvl6pPr algn="l">
              <a:buNone/>
              <a:defRPr sz="2700" b="1">
                <a:solidFill>
                  <a:srgbClr val="184C3B"/>
                </a:solidFill>
                <a:latin typeface="DejaVu Sans"/>
                <a:ea typeface="DejaVu Sans"/>
                <a:cs typeface="DejaVu Sans"/>
              </a:defRPr>
            </a:lvl6pPr>
            <a:lvl7pPr algn="l">
              <a:buNone/>
              <a:defRPr sz="2700" b="1">
                <a:solidFill>
                  <a:srgbClr val="184C3B"/>
                </a:solidFill>
                <a:latin typeface="DejaVu Sans"/>
                <a:ea typeface="DejaVu Sans"/>
                <a:cs typeface="DejaVu Sans"/>
              </a:defRPr>
            </a:lvl7pPr>
            <a:lvl8pPr algn="l">
              <a:buNone/>
              <a:defRPr sz="2700" b="1">
                <a:solidFill>
                  <a:srgbClr val="184C3B"/>
                </a:solidFill>
                <a:latin typeface="DejaVu Sans"/>
                <a:ea typeface="DejaVu Sans"/>
                <a:cs typeface="DejaVu Sans"/>
              </a:defRPr>
            </a:lvl8pPr>
            <a:lvl9pPr algn="l">
              <a:buNone/>
              <a:defRPr sz="2700" b="1">
                <a:solidFill>
                  <a:srgbClr val="184C3B"/>
                </a:solidFill>
                <a:latin typeface="DejaVu Sans"/>
                <a:ea typeface="DejaVu Sans"/>
                <a:cs typeface="DejaVu Sans"/>
              </a:defRPr>
            </a:lvl9pPr>
          </a:lstStyle>
          <a:p xmlns:a="http://schemas.openxmlformats.org/drawingml/2006/main">
            <a:pPr algn="l">
              <a:buNone/>
              <a:defRPr sz="2700" b="0">
                <a:solidFill>
                  <a:srgbClr val="184C3B"/>
                </a:solidFill>
                <a:latin typeface="Georgia"/>
                <a:ea typeface="Georgia"/>
                <a:cs typeface="Georgia"/>
              </a:defRPr>
            </a:pPr>
            <a:r>
              <a:rPr sz="2700" b="0">
                <a:solidFill>
                  <a:srgbClr val="184C3B"/>
                </a:solidFill>
                <a:latin typeface="Georgia"/>
                <a:ea typeface="Georgia"/>
                <a:cs typeface="Georgia"/>
              </a:rPr>
              <a:t>Joel</a:t>
            </a:r>
          </a:p>
        </p:txBody>
      </p:sp>
      <p:sp>
        <p:nvSpPr>
          <p:cNvPr id="6" name="Auditoría de cambios.&#10;&#10;Manual técnico e integración.&#10;&#10;V">
            <a:extLst xmlns:a="http://schemas.openxmlformats.org/drawingml/2006/main">
              <a:ext uri="{FF2B5EF4-FFF2-40B4-BE49-F238E27FC236}">
                <a16:creationId xmlns:a16="http://schemas.microsoft.com/office/drawing/2014/main" id="{1ECEE891-06F4-4C6F-98E5-9BEBA252182F}"/>
              </a:ext>
            </a:extLst>
          </p:cNvPr>
          <p:cNvSpPr>
            <a:spLocks xmlns:a="http://schemas.openxmlformats.org/drawingml/2006/main" noGrp="1"/>
          </p:cNvSpPr>
          <p:nvPr/>
        </p:nvSpPr>
        <p:spPr>
          <a:xfrm xmlns:a="http://schemas.openxmlformats.org/drawingml/2006/main">
            <a:off x="609600" y="2809875"/>
            <a:ext cx="32385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Auditoría de cambios.</a:t>
            </a:r>
          </a:p>
          <a:p xmlns:a="http://schemas.openxmlformats.org/drawingml/2006/main">
            <a:r>
              <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Manual técnico e integración.</a:t>
            </a:r>
          </a:p>
          <a:p xmlns:a="http://schemas.openxmlformats.org/drawingml/2006/main">
            <a:r>
              <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Validación del producto</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y decisión de alcance.</a:t>
            </a:r>
          </a:p>
        </p:txBody>
      </p:sp>
      <p:sp>
        <p:nvSpPr>
          <p:cNvPr id="7" name="Matías">
            <a:extLst xmlns:a="http://schemas.openxmlformats.org/drawingml/2006/main">
              <a:ext uri="{FF2B5EF4-FFF2-40B4-BE49-F238E27FC236}">
                <a16:creationId xmlns:a16="http://schemas.microsoft.com/office/drawing/2014/main" id="{73592545-93D5-4AD9-9D23-8DB39409D718}"/>
              </a:ext>
            </a:extLst>
          </p:cNvPr>
          <p:cNvSpPr>
            <a:spLocks xmlns:a="http://schemas.openxmlformats.org/drawingml/2006/main" noGrp="1"/>
          </p:cNvSpPr>
          <p:nvPr/>
        </p:nvSpPr>
        <p:spPr>
          <a:xfrm xmlns:a="http://schemas.openxmlformats.org/drawingml/2006/main">
            <a:off x="4476750" y="20383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84C3B"/>
                </a:solidFill>
                <a:latin typeface="Georgia"/>
                <a:ea typeface="Georgia"/>
                <a:cs typeface="Georgia"/>
              </a:defRPr>
            </a:defPPr>
            <a:lvl1pPr algn="l">
              <a:buNone/>
              <a:defRPr sz="2700" b="1">
                <a:solidFill>
                  <a:srgbClr val="184C3B"/>
                </a:solidFill>
                <a:latin typeface="DejaVu Sans"/>
                <a:ea typeface="DejaVu Sans"/>
                <a:cs typeface="DejaVu Sans"/>
              </a:defRPr>
            </a:lvl1pPr>
            <a:lvl2pPr algn="l">
              <a:buNone/>
              <a:defRPr sz="2700" b="1">
                <a:solidFill>
                  <a:srgbClr val="184C3B"/>
                </a:solidFill>
                <a:latin typeface="DejaVu Sans"/>
                <a:ea typeface="DejaVu Sans"/>
                <a:cs typeface="DejaVu Sans"/>
              </a:defRPr>
            </a:lvl2pPr>
            <a:lvl3pPr algn="l">
              <a:buNone/>
              <a:defRPr sz="2700" b="1">
                <a:solidFill>
                  <a:srgbClr val="184C3B"/>
                </a:solidFill>
                <a:latin typeface="DejaVu Sans"/>
                <a:ea typeface="DejaVu Sans"/>
                <a:cs typeface="DejaVu Sans"/>
              </a:defRPr>
            </a:lvl3pPr>
            <a:lvl4pPr algn="l">
              <a:buNone/>
              <a:defRPr sz="2700" b="1">
                <a:solidFill>
                  <a:srgbClr val="184C3B"/>
                </a:solidFill>
                <a:latin typeface="DejaVu Sans"/>
                <a:ea typeface="DejaVu Sans"/>
                <a:cs typeface="DejaVu Sans"/>
              </a:defRPr>
            </a:lvl4pPr>
            <a:lvl5pPr algn="l">
              <a:buNone/>
              <a:defRPr sz="2700" b="1">
                <a:solidFill>
                  <a:srgbClr val="184C3B"/>
                </a:solidFill>
                <a:latin typeface="DejaVu Sans"/>
                <a:ea typeface="DejaVu Sans"/>
                <a:cs typeface="DejaVu Sans"/>
              </a:defRPr>
            </a:lvl5pPr>
            <a:lvl6pPr algn="l">
              <a:buNone/>
              <a:defRPr sz="2700" b="1">
                <a:solidFill>
                  <a:srgbClr val="184C3B"/>
                </a:solidFill>
                <a:latin typeface="DejaVu Sans"/>
                <a:ea typeface="DejaVu Sans"/>
                <a:cs typeface="DejaVu Sans"/>
              </a:defRPr>
            </a:lvl6pPr>
            <a:lvl7pPr algn="l">
              <a:buNone/>
              <a:defRPr sz="2700" b="1">
                <a:solidFill>
                  <a:srgbClr val="184C3B"/>
                </a:solidFill>
                <a:latin typeface="DejaVu Sans"/>
                <a:ea typeface="DejaVu Sans"/>
                <a:cs typeface="DejaVu Sans"/>
              </a:defRPr>
            </a:lvl7pPr>
            <a:lvl8pPr algn="l">
              <a:buNone/>
              <a:defRPr sz="2700" b="1">
                <a:solidFill>
                  <a:srgbClr val="184C3B"/>
                </a:solidFill>
                <a:latin typeface="DejaVu Sans"/>
                <a:ea typeface="DejaVu Sans"/>
                <a:cs typeface="DejaVu Sans"/>
              </a:defRPr>
            </a:lvl8pPr>
            <a:lvl9pPr algn="l">
              <a:buNone/>
              <a:defRPr sz="2700" b="1">
                <a:solidFill>
                  <a:srgbClr val="184C3B"/>
                </a:solidFill>
                <a:latin typeface="DejaVu Sans"/>
                <a:ea typeface="DejaVu Sans"/>
                <a:cs typeface="DejaVu Sans"/>
              </a:defRPr>
            </a:lvl9pPr>
          </a:lstStyle>
          <a:p xmlns:a="http://schemas.openxmlformats.org/drawingml/2006/main">
            <a:pPr algn="l">
              <a:buNone/>
              <a:defRPr sz="2700" b="0">
                <a:solidFill>
                  <a:srgbClr val="184C3B"/>
                </a:solidFill>
                <a:latin typeface="Georgia"/>
                <a:ea typeface="Georgia"/>
                <a:cs typeface="Georgia"/>
              </a:defRPr>
            </a:pPr>
            <a:r>
              <a:rPr sz="2700" b="0">
                <a:solidFill>
                  <a:srgbClr val="184C3B"/>
                </a:solidFill>
                <a:latin typeface="Georgia"/>
                <a:ea typeface="Georgia"/>
                <a:cs typeface="Georgia"/>
              </a:rPr>
              <a:t>Matías</a:t>
            </a:r>
          </a:p>
        </p:txBody>
      </p:sp>
      <p:sp>
        <p:nvSpPr>
          <p:cNvPr id="8" name="Docker y aislamiento.&#10;&#10;Pruebas y restauración.&#10;&#10;Evidenc">
            <a:extLst xmlns:a="http://schemas.openxmlformats.org/drawingml/2006/main">
              <a:ext uri="{FF2B5EF4-FFF2-40B4-BE49-F238E27FC236}">
                <a16:creationId xmlns:a16="http://schemas.microsoft.com/office/drawing/2014/main" id="{BFC900F2-FDA7-4CAC-9166-CB065AE0B89C}"/>
              </a:ext>
            </a:extLst>
          </p:cNvPr>
          <p:cNvSpPr>
            <a:spLocks xmlns:a="http://schemas.openxmlformats.org/drawingml/2006/main" noGrp="1"/>
          </p:cNvSpPr>
          <p:nvPr/>
        </p:nvSpPr>
        <p:spPr>
          <a:xfrm xmlns:a="http://schemas.openxmlformats.org/drawingml/2006/main">
            <a:off x="4476750" y="2809875"/>
            <a:ext cx="32385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Docker y aislamiento.</a:t>
            </a:r>
          </a:p>
          <a:p xmlns:a="http://schemas.openxmlformats.org/drawingml/2006/main">
            <a:r>
              <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Pruebas y restauración.</a:t>
            </a:r>
          </a:p>
          <a:p xmlns:a="http://schemas.openxmlformats.org/drawingml/2006/main">
            <a:r>
              <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Evidencias técnicas</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y revisión de resultados.</a:t>
            </a:r>
          </a:p>
        </p:txBody>
      </p:sp>
      <p:sp>
        <p:nvSpPr>
          <p:cNvPr id="9" name="Agustín">
            <a:extLst xmlns:a="http://schemas.openxmlformats.org/drawingml/2006/main">
              <a:ext uri="{FF2B5EF4-FFF2-40B4-BE49-F238E27FC236}">
                <a16:creationId xmlns:a16="http://schemas.microsoft.com/office/drawing/2014/main" id="{263840A1-94DC-4E9E-9394-D0C5DD51B932}"/>
              </a:ext>
            </a:extLst>
          </p:cNvPr>
          <p:cNvSpPr>
            <a:spLocks xmlns:a="http://schemas.openxmlformats.org/drawingml/2006/main" noGrp="1"/>
          </p:cNvSpPr>
          <p:nvPr/>
        </p:nvSpPr>
        <p:spPr>
          <a:xfrm xmlns:a="http://schemas.openxmlformats.org/drawingml/2006/main">
            <a:off x="8334375" y="20383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84C3B"/>
                </a:solidFill>
                <a:latin typeface="Georgia"/>
                <a:ea typeface="Georgia"/>
                <a:cs typeface="Georgia"/>
              </a:defRPr>
            </a:defPPr>
            <a:lvl1pPr algn="l">
              <a:buNone/>
              <a:defRPr sz="2700" b="1">
                <a:solidFill>
                  <a:srgbClr val="184C3B"/>
                </a:solidFill>
                <a:latin typeface="DejaVu Sans"/>
                <a:ea typeface="DejaVu Sans"/>
                <a:cs typeface="DejaVu Sans"/>
              </a:defRPr>
            </a:lvl1pPr>
            <a:lvl2pPr algn="l">
              <a:buNone/>
              <a:defRPr sz="2700" b="1">
                <a:solidFill>
                  <a:srgbClr val="184C3B"/>
                </a:solidFill>
                <a:latin typeface="DejaVu Sans"/>
                <a:ea typeface="DejaVu Sans"/>
                <a:cs typeface="DejaVu Sans"/>
              </a:defRPr>
            </a:lvl2pPr>
            <a:lvl3pPr algn="l">
              <a:buNone/>
              <a:defRPr sz="2700" b="1">
                <a:solidFill>
                  <a:srgbClr val="184C3B"/>
                </a:solidFill>
                <a:latin typeface="DejaVu Sans"/>
                <a:ea typeface="DejaVu Sans"/>
                <a:cs typeface="DejaVu Sans"/>
              </a:defRPr>
            </a:lvl3pPr>
            <a:lvl4pPr algn="l">
              <a:buNone/>
              <a:defRPr sz="2700" b="1">
                <a:solidFill>
                  <a:srgbClr val="184C3B"/>
                </a:solidFill>
                <a:latin typeface="DejaVu Sans"/>
                <a:ea typeface="DejaVu Sans"/>
                <a:cs typeface="DejaVu Sans"/>
              </a:defRPr>
            </a:lvl4pPr>
            <a:lvl5pPr algn="l">
              <a:buNone/>
              <a:defRPr sz="2700" b="1">
                <a:solidFill>
                  <a:srgbClr val="184C3B"/>
                </a:solidFill>
                <a:latin typeface="DejaVu Sans"/>
                <a:ea typeface="DejaVu Sans"/>
                <a:cs typeface="DejaVu Sans"/>
              </a:defRPr>
            </a:lvl5pPr>
            <a:lvl6pPr algn="l">
              <a:buNone/>
              <a:defRPr sz="2700" b="1">
                <a:solidFill>
                  <a:srgbClr val="184C3B"/>
                </a:solidFill>
                <a:latin typeface="DejaVu Sans"/>
                <a:ea typeface="DejaVu Sans"/>
                <a:cs typeface="DejaVu Sans"/>
              </a:defRPr>
            </a:lvl6pPr>
            <a:lvl7pPr algn="l">
              <a:buNone/>
              <a:defRPr sz="2700" b="1">
                <a:solidFill>
                  <a:srgbClr val="184C3B"/>
                </a:solidFill>
                <a:latin typeface="DejaVu Sans"/>
                <a:ea typeface="DejaVu Sans"/>
                <a:cs typeface="DejaVu Sans"/>
              </a:defRPr>
            </a:lvl7pPr>
            <a:lvl8pPr algn="l">
              <a:buNone/>
              <a:defRPr sz="2700" b="1">
                <a:solidFill>
                  <a:srgbClr val="184C3B"/>
                </a:solidFill>
                <a:latin typeface="DejaVu Sans"/>
                <a:ea typeface="DejaVu Sans"/>
                <a:cs typeface="DejaVu Sans"/>
              </a:defRPr>
            </a:lvl8pPr>
            <a:lvl9pPr algn="l">
              <a:buNone/>
              <a:defRPr sz="2700" b="1">
                <a:solidFill>
                  <a:srgbClr val="184C3B"/>
                </a:solidFill>
                <a:latin typeface="DejaVu Sans"/>
                <a:ea typeface="DejaVu Sans"/>
                <a:cs typeface="DejaVu Sans"/>
              </a:defRPr>
            </a:lvl9pPr>
          </a:lstStyle>
          <a:p xmlns:a="http://schemas.openxmlformats.org/drawingml/2006/main">
            <a:pPr algn="l">
              <a:buNone/>
              <a:defRPr sz="2700" b="0">
                <a:solidFill>
                  <a:srgbClr val="184C3B"/>
                </a:solidFill>
                <a:latin typeface="Georgia"/>
                <a:ea typeface="Georgia"/>
                <a:cs typeface="Georgia"/>
              </a:defRPr>
            </a:pPr>
            <a:r>
              <a:rPr sz="2700" b="0">
                <a:solidFill>
                  <a:srgbClr val="184C3B"/>
                </a:solidFill>
                <a:latin typeface="Georgia"/>
                <a:ea typeface="Georgia"/>
                <a:cs typeface="Georgia"/>
              </a:rPr>
              <a:t>Agustín</a:t>
            </a:r>
          </a:p>
        </p:txBody>
      </p:sp>
      <p:sp>
        <p:nvSpPr>
          <p:cNvPr id="10" name="Vista del estudiante.&#10;&#10;Indicadores, si se incluyen.&#10;&#10;Ma">
            <a:extLst xmlns:a="http://schemas.openxmlformats.org/drawingml/2006/main">
              <a:ext uri="{FF2B5EF4-FFF2-40B4-BE49-F238E27FC236}">
                <a16:creationId xmlns:a16="http://schemas.microsoft.com/office/drawing/2014/main" id="{48D2D3FE-E263-4C84-8B7E-7F862D9459A2}"/>
              </a:ext>
            </a:extLst>
          </p:cNvPr>
          <p:cNvSpPr>
            <a:spLocks xmlns:a="http://schemas.openxmlformats.org/drawingml/2006/main" noGrp="1"/>
          </p:cNvSpPr>
          <p:nvPr/>
        </p:nvSpPr>
        <p:spPr>
          <a:xfrm xmlns:a="http://schemas.openxmlformats.org/drawingml/2006/main">
            <a:off x="8334375" y="2809875"/>
            <a:ext cx="3238500" cy="2809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D33"/>
                </a:solidFill>
                <a:latin typeface="Helvetica Neue"/>
                <a:ea typeface="Helvetica Neue"/>
                <a:cs typeface="Helvetica Neue"/>
              </a:defRPr>
            </a:defPPr>
            <a:lvl1pPr algn="l">
              <a:buNone/>
              <a:defRPr sz="2025" b="0">
                <a:solidFill>
                  <a:srgbClr val="263D33"/>
                </a:solidFill>
                <a:latin typeface="DejaVu Sans"/>
                <a:ea typeface="DejaVu Sans"/>
                <a:cs typeface="DejaVu Sans"/>
              </a:defRPr>
            </a:lvl1pPr>
            <a:lvl2pPr algn="l">
              <a:buNone/>
              <a:defRPr sz="2025" b="0">
                <a:solidFill>
                  <a:srgbClr val="263D33"/>
                </a:solidFill>
                <a:latin typeface="DejaVu Sans"/>
                <a:ea typeface="DejaVu Sans"/>
                <a:cs typeface="DejaVu Sans"/>
              </a:defRPr>
            </a:lvl2pPr>
            <a:lvl3pPr algn="l">
              <a:buNone/>
              <a:defRPr sz="2025" b="0">
                <a:solidFill>
                  <a:srgbClr val="263D33"/>
                </a:solidFill>
                <a:latin typeface="DejaVu Sans"/>
                <a:ea typeface="DejaVu Sans"/>
                <a:cs typeface="DejaVu Sans"/>
              </a:defRPr>
            </a:lvl3pPr>
            <a:lvl4pPr algn="l">
              <a:buNone/>
              <a:defRPr sz="2025" b="0">
                <a:solidFill>
                  <a:srgbClr val="263D33"/>
                </a:solidFill>
                <a:latin typeface="DejaVu Sans"/>
                <a:ea typeface="DejaVu Sans"/>
                <a:cs typeface="DejaVu Sans"/>
              </a:defRPr>
            </a:lvl4pPr>
            <a:lvl5pPr algn="l">
              <a:buNone/>
              <a:defRPr sz="2025" b="0">
                <a:solidFill>
                  <a:srgbClr val="263D33"/>
                </a:solidFill>
                <a:latin typeface="DejaVu Sans"/>
                <a:ea typeface="DejaVu Sans"/>
                <a:cs typeface="DejaVu Sans"/>
              </a:defRPr>
            </a:lvl5pPr>
            <a:lvl6pPr algn="l">
              <a:buNone/>
              <a:defRPr sz="2025" b="0">
                <a:solidFill>
                  <a:srgbClr val="263D33"/>
                </a:solidFill>
                <a:latin typeface="DejaVu Sans"/>
                <a:ea typeface="DejaVu Sans"/>
                <a:cs typeface="DejaVu Sans"/>
              </a:defRPr>
            </a:lvl6pPr>
            <a:lvl7pPr algn="l">
              <a:buNone/>
              <a:defRPr sz="2025" b="0">
                <a:solidFill>
                  <a:srgbClr val="263D33"/>
                </a:solidFill>
                <a:latin typeface="DejaVu Sans"/>
                <a:ea typeface="DejaVu Sans"/>
                <a:cs typeface="DejaVu Sans"/>
              </a:defRPr>
            </a:lvl7pPr>
            <a:lvl8pPr algn="l">
              <a:buNone/>
              <a:defRPr sz="2025" b="0">
                <a:solidFill>
                  <a:srgbClr val="263D33"/>
                </a:solidFill>
                <a:latin typeface="DejaVu Sans"/>
                <a:ea typeface="DejaVu Sans"/>
                <a:cs typeface="DejaVu Sans"/>
              </a:defRPr>
            </a:lvl8pPr>
            <a:lvl9pPr algn="l">
              <a:buNone/>
              <a:defRPr sz="2025" b="0">
                <a:solidFill>
                  <a:srgbClr val="263D33"/>
                </a:solidFill>
                <a:latin typeface="DejaVu Sans"/>
                <a:ea typeface="DejaVu Sans"/>
                <a:cs typeface="DejaVu Sans"/>
              </a:defRPr>
            </a:lvl9pPr>
          </a:lstStyle>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Vista del estudiante.</a:t>
            </a:r>
          </a:p>
          <a:p xmlns:a="http://schemas.openxmlformats.org/drawingml/2006/main">
            <a:r>
              <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Indicadores, si se incluyen.</a:t>
            </a:r>
          </a:p>
          <a:p xmlns:a="http://schemas.openxmlformats.org/drawingml/2006/main">
            <a:r>
              <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Manual de usuario</a:t>
            </a:r>
          </a:p>
          <a:p xmlns:a="http://schemas.openxmlformats.org/drawingml/2006/main">
            <a:pPr algn="l">
              <a:buNone/>
              <a:defRPr sz="2025" b="0">
                <a:solidFill>
                  <a:srgbClr val="263D33"/>
                </a:solidFill>
                <a:latin typeface="Helvetica Neue"/>
                <a:ea typeface="Helvetica Neue"/>
                <a:cs typeface="Helvetica Neue"/>
              </a:defRPr>
            </a:pPr>
            <a:r>
              <a:rPr sz="2025" b="0">
                <a:solidFill>
                  <a:srgbClr val="263D33"/>
                </a:solidFill>
                <a:latin typeface="Helvetica Neue"/>
                <a:ea typeface="Helvetica Neue"/>
                <a:cs typeface="Helvetica Neue"/>
              </a:rPr>
              <a:t>y recorridos por rol.</a:t>
            </a:r>
          </a:p>
        </p:txBody>
      </p:sp>
      <p:sp>
        <p:nvSpPr>
          <p:cNvPr id="11" name="Los tres: revisión cruzada, informe final, demostración">
            <a:extLst xmlns:a="http://schemas.openxmlformats.org/drawingml/2006/main">
              <a:ext uri="{FF2B5EF4-FFF2-40B4-BE49-F238E27FC236}">
                <a16:creationId xmlns:a16="http://schemas.microsoft.com/office/drawing/2014/main" id="{224835A6-5D30-424A-9878-D80B0B599DD3}"/>
              </a:ext>
            </a:extLst>
          </p:cNvPr>
          <p:cNvSpPr>
            <a:spLocks xmlns:a="http://schemas.openxmlformats.org/drawingml/2006/main" noGrp="1"/>
          </p:cNvSpPr>
          <p:nvPr/>
        </p:nvSpPr>
        <p:spPr>
          <a:xfrm xmlns:a="http://schemas.openxmlformats.org/drawingml/2006/main">
            <a:off x="609600" y="59055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184C3B"/>
                </a:solidFill>
                <a:latin typeface="Helvetica Neue"/>
                <a:ea typeface="Helvetica Neue"/>
                <a:cs typeface="Helvetica Neue"/>
              </a:defRPr>
            </a:defPPr>
            <a:lvl1pPr algn="l">
              <a:buNone/>
              <a:defRPr sz="1875" b="1">
                <a:solidFill>
                  <a:srgbClr val="184C3B"/>
                </a:solidFill>
                <a:latin typeface="DejaVu Sans"/>
                <a:ea typeface="DejaVu Sans"/>
                <a:cs typeface="DejaVu Sans"/>
              </a:defRPr>
            </a:lvl1pPr>
            <a:lvl2pPr algn="l">
              <a:buNone/>
              <a:defRPr sz="1875" b="1">
                <a:solidFill>
                  <a:srgbClr val="184C3B"/>
                </a:solidFill>
                <a:latin typeface="DejaVu Sans"/>
                <a:ea typeface="DejaVu Sans"/>
                <a:cs typeface="DejaVu Sans"/>
              </a:defRPr>
            </a:lvl2pPr>
            <a:lvl3pPr algn="l">
              <a:buNone/>
              <a:defRPr sz="1875" b="1">
                <a:solidFill>
                  <a:srgbClr val="184C3B"/>
                </a:solidFill>
                <a:latin typeface="DejaVu Sans"/>
                <a:ea typeface="DejaVu Sans"/>
                <a:cs typeface="DejaVu Sans"/>
              </a:defRPr>
            </a:lvl3pPr>
            <a:lvl4pPr algn="l">
              <a:buNone/>
              <a:defRPr sz="1875" b="1">
                <a:solidFill>
                  <a:srgbClr val="184C3B"/>
                </a:solidFill>
                <a:latin typeface="DejaVu Sans"/>
                <a:ea typeface="DejaVu Sans"/>
                <a:cs typeface="DejaVu Sans"/>
              </a:defRPr>
            </a:lvl4pPr>
            <a:lvl5pPr algn="l">
              <a:buNone/>
              <a:defRPr sz="1875" b="1">
                <a:solidFill>
                  <a:srgbClr val="184C3B"/>
                </a:solidFill>
                <a:latin typeface="DejaVu Sans"/>
                <a:ea typeface="DejaVu Sans"/>
                <a:cs typeface="DejaVu Sans"/>
              </a:defRPr>
            </a:lvl5pPr>
            <a:lvl6pPr algn="l">
              <a:buNone/>
              <a:defRPr sz="1875" b="1">
                <a:solidFill>
                  <a:srgbClr val="184C3B"/>
                </a:solidFill>
                <a:latin typeface="DejaVu Sans"/>
                <a:ea typeface="DejaVu Sans"/>
                <a:cs typeface="DejaVu Sans"/>
              </a:defRPr>
            </a:lvl6pPr>
            <a:lvl7pPr algn="l">
              <a:buNone/>
              <a:defRPr sz="1875" b="1">
                <a:solidFill>
                  <a:srgbClr val="184C3B"/>
                </a:solidFill>
                <a:latin typeface="DejaVu Sans"/>
                <a:ea typeface="DejaVu Sans"/>
                <a:cs typeface="DejaVu Sans"/>
              </a:defRPr>
            </a:lvl7pPr>
            <a:lvl8pPr algn="l">
              <a:buNone/>
              <a:defRPr sz="1875" b="1">
                <a:solidFill>
                  <a:srgbClr val="184C3B"/>
                </a:solidFill>
                <a:latin typeface="DejaVu Sans"/>
                <a:ea typeface="DejaVu Sans"/>
                <a:cs typeface="DejaVu Sans"/>
              </a:defRPr>
            </a:lvl8pPr>
            <a:lvl9pPr algn="l">
              <a:buNone/>
              <a:defRPr sz="1875" b="1">
                <a:solidFill>
                  <a:srgbClr val="184C3B"/>
                </a:solidFill>
                <a:latin typeface="DejaVu Sans"/>
                <a:ea typeface="DejaVu Sans"/>
                <a:cs typeface="DejaVu Sans"/>
              </a:defRPr>
            </a:lvl9pPr>
          </a:lstStyle>
          <a:p xmlns:a="http://schemas.openxmlformats.org/drawingml/2006/main">
            <a:pPr algn="l">
              <a:buNone/>
              <a:defRPr sz="1875" b="1">
                <a:solidFill>
                  <a:srgbClr val="184C3B"/>
                </a:solidFill>
                <a:latin typeface="Helvetica Neue"/>
                <a:ea typeface="Helvetica Neue"/>
                <a:cs typeface="Helvetica Neue"/>
              </a:defRPr>
            </a:pPr>
            <a:r>
              <a:rPr sz="1875" b="1">
                <a:solidFill>
                  <a:srgbClr val="184C3B"/>
                </a:solidFill>
                <a:latin typeface="Helvetica Neue"/>
                <a:ea typeface="Helvetica Neue"/>
                <a:cs typeface="Helvetica Neue"/>
              </a:rPr>
              <a:t>Los tres: revisión cruzada, informe final, demostración y defensa.</a:t>
            </a:r>
          </a:p>
        </p:txBody>
      </p:sp>
    </p:spTree>
    <p:extLst>
      <p:ext uri="{BB962C8B-B14F-4D97-AF65-F5344CB8AC3E}">
        <p14:creationId xmlns:p14="http://schemas.microsoft.com/office/powerpoint/2010/main" val="1592256572"/>
      </p:ext>
    </p:extLst>
  </p:cSld>
</p:sld>
</file>

<file path=ppt/slides/slide17.xml><?xml version="1.0" encoding="utf-8"?>
<p:sld xmlns:p="http://schemas.openxmlformats.org/presentationml/2006/main">
  <p:cSld>
    <p:bg>
      <p:bgPr>
        <a:solidFill xmlns:a="http://schemas.openxmlformats.org/drawingml/2006/main">
          <a:srgbClr val="F3F5EF"/>
        </a:solidFill>
      </p:bgPr>
    </p:bg>
    <p:spTree>
      <p:nvGrpSpPr>
        <p:cNvPr id="1" name=""/>
        <p:cNvGrpSpPr/>
        <p:nvPr/>
      </p:nvGrpSpPr>
      <p:grpSpPr>
        <a:xfrm xmlns:a="http://schemas.openxmlformats.org/drawingml/2006/main"/>
      </p:grpSpPr>
      <p:sp>
        <p:nvSpPr>
          <p:cNvPr id="10" name="AVANCE DEL PROYECTO">
            <a:extLst xmlns:a="http://schemas.openxmlformats.org/drawingml/2006/main">
              <a:ext uri="{FF2B5EF4-FFF2-40B4-BE49-F238E27FC236}">
                <a16:creationId xmlns:a16="http://schemas.microsoft.com/office/drawing/2014/main" id="{709D81A0-4FDE-4F1C-93E9-5888F56FED34}"/>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B58C3C"/>
                </a:solidFill>
                <a:latin typeface="Helvetica Neue"/>
                <a:ea typeface="Helvetica Neue"/>
                <a:cs typeface="Helvetica Neue"/>
              </a:defRPr>
            </a:defPPr>
            <a:lvl1pPr algn="l">
              <a:buNone/>
              <a:defRPr sz="1200" b="1">
                <a:solidFill>
                  <a:srgbClr val="B58C3C"/>
                </a:solidFill>
                <a:latin typeface="DejaVu Sans"/>
                <a:ea typeface="DejaVu Sans"/>
                <a:cs typeface="DejaVu Sans"/>
              </a:defRPr>
            </a:lvl1pPr>
            <a:lvl2pPr algn="l">
              <a:buNone/>
              <a:defRPr sz="1200" b="1">
                <a:solidFill>
                  <a:srgbClr val="B58C3C"/>
                </a:solidFill>
                <a:latin typeface="DejaVu Sans"/>
                <a:ea typeface="DejaVu Sans"/>
                <a:cs typeface="DejaVu Sans"/>
              </a:defRPr>
            </a:lvl2pPr>
            <a:lvl3pPr algn="l">
              <a:buNone/>
              <a:defRPr sz="1200" b="1">
                <a:solidFill>
                  <a:srgbClr val="B58C3C"/>
                </a:solidFill>
                <a:latin typeface="DejaVu Sans"/>
                <a:ea typeface="DejaVu Sans"/>
                <a:cs typeface="DejaVu Sans"/>
              </a:defRPr>
            </a:lvl3pPr>
            <a:lvl4pPr algn="l">
              <a:buNone/>
              <a:defRPr sz="1200" b="1">
                <a:solidFill>
                  <a:srgbClr val="B58C3C"/>
                </a:solidFill>
                <a:latin typeface="DejaVu Sans"/>
                <a:ea typeface="DejaVu Sans"/>
                <a:cs typeface="DejaVu Sans"/>
              </a:defRPr>
            </a:lvl4pPr>
            <a:lvl5pPr algn="l">
              <a:buNone/>
              <a:defRPr sz="1200" b="1">
                <a:solidFill>
                  <a:srgbClr val="B58C3C"/>
                </a:solidFill>
                <a:latin typeface="DejaVu Sans"/>
                <a:ea typeface="DejaVu Sans"/>
                <a:cs typeface="DejaVu Sans"/>
              </a:defRPr>
            </a:lvl5pPr>
            <a:lvl6pPr algn="l">
              <a:buNone/>
              <a:defRPr sz="1200" b="1">
                <a:solidFill>
                  <a:srgbClr val="B58C3C"/>
                </a:solidFill>
                <a:latin typeface="DejaVu Sans"/>
                <a:ea typeface="DejaVu Sans"/>
                <a:cs typeface="DejaVu Sans"/>
              </a:defRPr>
            </a:lvl6pPr>
            <a:lvl7pPr algn="l">
              <a:buNone/>
              <a:defRPr sz="1200" b="1">
                <a:solidFill>
                  <a:srgbClr val="B58C3C"/>
                </a:solidFill>
                <a:latin typeface="DejaVu Sans"/>
                <a:ea typeface="DejaVu Sans"/>
                <a:cs typeface="DejaVu Sans"/>
              </a:defRPr>
            </a:lvl7pPr>
            <a:lvl8pPr algn="l">
              <a:buNone/>
              <a:defRPr sz="1200" b="1">
                <a:solidFill>
                  <a:srgbClr val="B58C3C"/>
                </a:solidFill>
                <a:latin typeface="DejaVu Sans"/>
                <a:ea typeface="DejaVu Sans"/>
                <a:cs typeface="DejaVu Sans"/>
              </a:defRPr>
            </a:lvl8pPr>
            <a:lvl9pPr algn="l">
              <a:buNone/>
              <a:defRPr sz="1200" b="1">
                <a:solidFill>
                  <a:srgbClr val="B58C3C"/>
                </a:solidFill>
                <a:latin typeface="DejaVu Sans"/>
                <a:ea typeface="DejaVu Sans"/>
                <a:cs typeface="DejaVu Sans"/>
              </a:defRPr>
            </a:lvl9pPr>
          </a:lstStyle>
          <a:p xmlns:a="http://schemas.openxmlformats.org/drawingml/2006/main">
            <a:pPr algn="l">
              <a:buNone/>
              <a:defRPr sz="1200" b="1">
                <a:solidFill>
                  <a:srgbClr val="B58C3C"/>
                </a:solidFill>
                <a:latin typeface="Helvetica Neue"/>
                <a:ea typeface="Helvetica Neue"/>
                <a:cs typeface="Helvetica Neue"/>
              </a:defRPr>
            </a:pPr>
            <a:r>
              <a:rPr sz="1200" b="1">
                <a:solidFill>
                  <a:srgbClr val="B58C3C"/>
                </a:solidFill>
                <a:latin typeface="Helvetica Neue"/>
                <a:ea typeface="Helvetica Neue"/>
                <a:cs typeface="Helvetica Neue"/>
              </a:rPr>
              <a:t>AVANCE DEL PROYECTO</a:t>
            </a:r>
          </a:p>
        </p:txBody>
      </p:sp>
      <p:sp>
        <p:nvSpPr>
          <p:cNvPr id="2" name="Evidencias necesarias para cerrar">
            <a:extLst xmlns:a="http://schemas.openxmlformats.org/drawingml/2006/main">
              <a:ext uri="{FF2B5EF4-FFF2-40B4-BE49-F238E27FC236}">
                <a16:creationId xmlns:a16="http://schemas.microsoft.com/office/drawing/2014/main" id="{405A0559-9239-46F0-8B06-921B33C80FD3}"/>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184C3B"/>
                </a:solidFill>
                <a:latin typeface="Georgia"/>
                <a:ea typeface="Georgia"/>
                <a:cs typeface="Georgia"/>
              </a:defRPr>
            </a:defPPr>
            <a:lvl1pPr algn="l">
              <a:buNone/>
              <a:defRPr sz="3300" b="1">
                <a:solidFill>
                  <a:srgbClr val="184C3B"/>
                </a:solidFill>
                <a:latin typeface="DejaVu Sans"/>
                <a:ea typeface="DejaVu Sans"/>
                <a:cs typeface="DejaVu Sans"/>
              </a:defRPr>
            </a:lvl1pPr>
            <a:lvl2pPr algn="l">
              <a:buNone/>
              <a:defRPr sz="3300" b="1">
                <a:solidFill>
                  <a:srgbClr val="184C3B"/>
                </a:solidFill>
                <a:latin typeface="DejaVu Sans"/>
                <a:ea typeface="DejaVu Sans"/>
                <a:cs typeface="DejaVu Sans"/>
              </a:defRPr>
            </a:lvl2pPr>
            <a:lvl3pPr algn="l">
              <a:buNone/>
              <a:defRPr sz="3300" b="1">
                <a:solidFill>
                  <a:srgbClr val="184C3B"/>
                </a:solidFill>
                <a:latin typeface="DejaVu Sans"/>
                <a:ea typeface="DejaVu Sans"/>
                <a:cs typeface="DejaVu Sans"/>
              </a:defRPr>
            </a:lvl3pPr>
            <a:lvl4pPr algn="l">
              <a:buNone/>
              <a:defRPr sz="3300" b="1">
                <a:solidFill>
                  <a:srgbClr val="184C3B"/>
                </a:solidFill>
                <a:latin typeface="DejaVu Sans"/>
                <a:ea typeface="DejaVu Sans"/>
                <a:cs typeface="DejaVu Sans"/>
              </a:defRPr>
            </a:lvl4pPr>
            <a:lvl5pPr algn="l">
              <a:buNone/>
              <a:defRPr sz="3300" b="1">
                <a:solidFill>
                  <a:srgbClr val="184C3B"/>
                </a:solidFill>
                <a:latin typeface="DejaVu Sans"/>
                <a:ea typeface="DejaVu Sans"/>
                <a:cs typeface="DejaVu Sans"/>
              </a:defRPr>
            </a:lvl5pPr>
            <a:lvl6pPr algn="l">
              <a:buNone/>
              <a:defRPr sz="3300" b="1">
                <a:solidFill>
                  <a:srgbClr val="184C3B"/>
                </a:solidFill>
                <a:latin typeface="DejaVu Sans"/>
                <a:ea typeface="DejaVu Sans"/>
                <a:cs typeface="DejaVu Sans"/>
              </a:defRPr>
            </a:lvl6pPr>
            <a:lvl7pPr algn="l">
              <a:buNone/>
              <a:defRPr sz="3300" b="1">
                <a:solidFill>
                  <a:srgbClr val="184C3B"/>
                </a:solidFill>
                <a:latin typeface="DejaVu Sans"/>
                <a:ea typeface="DejaVu Sans"/>
                <a:cs typeface="DejaVu Sans"/>
              </a:defRPr>
            </a:lvl7pPr>
            <a:lvl8pPr algn="l">
              <a:buNone/>
              <a:defRPr sz="3300" b="1">
                <a:solidFill>
                  <a:srgbClr val="184C3B"/>
                </a:solidFill>
                <a:latin typeface="DejaVu Sans"/>
                <a:ea typeface="DejaVu Sans"/>
                <a:cs typeface="DejaVu Sans"/>
              </a:defRPr>
            </a:lvl8pPr>
            <a:lvl9pPr algn="l">
              <a:buNone/>
              <a:defRPr sz="3300" b="1">
                <a:solidFill>
                  <a:srgbClr val="184C3B"/>
                </a:solidFill>
                <a:latin typeface="DejaVu Sans"/>
                <a:ea typeface="DejaVu Sans"/>
                <a:cs typeface="DejaVu Sans"/>
              </a:defRPr>
            </a:lvl9pPr>
          </a:lstStyle>
          <a:p xmlns:a="http://schemas.openxmlformats.org/drawingml/2006/main">
            <a:pPr algn="l">
              <a:buNone/>
              <a:defRPr sz="3300" b="0">
                <a:solidFill>
                  <a:srgbClr val="184C3B"/>
                </a:solidFill>
                <a:latin typeface="Georgia"/>
                <a:ea typeface="Georgia"/>
                <a:cs typeface="Georgia"/>
              </a:defRPr>
            </a:pPr>
            <a:r>
              <a:rPr sz="3300" b="0">
                <a:solidFill>
                  <a:srgbClr val="184C3B"/>
                </a:solidFill>
                <a:latin typeface="Georgia"/>
                <a:ea typeface="Georgia"/>
                <a:cs typeface="Georgia"/>
              </a:rPr>
              <a:t>Evidencias necesarias para cerrar</a:t>
            </a:r>
          </a:p>
        </p:txBody>
      </p:sp>
      <p:sp>
        <p:nvSpPr>
          <p:cNvPr id="3" name="SIGAA  /  Capstone 2026">
            <a:extLst xmlns:a="http://schemas.openxmlformats.org/drawingml/2006/main">
              <a:ext uri="{FF2B5EF4-FFF2-40B4-BE49-F238E27FC236}">
                <a16:creationId xmlns:a16="http://schemas.microsoft.com/office/drawing/2014/main" id="{4C8AD845-9E9B-4370-82D6-E83C23439040}"/>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Matías  /  Bloque 3 de 3  /  SIGAA</a:t>
            </a:r>
          </a:p>
        </p:txBody>
      </p:sp>
      <p:sp>
        <p:nvSpPr>
          <p:cNvPr id="4" name="15   /   28 oct 2026">
            <a:extLst xmlns:a="http://schemas.openxmlformats.org/drawingml/2006/main">
              <a:ext uri="{FF2B5EF4-FFF2-40B4-BE49-F238E27FC236}">
                <a16:creationId xmlns:a16="http://schemas.microsoft.com/office/drawing/2014/main" id="{AE7F4D62-651E-45AD-B0E1-AFE779129329}"/>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53685D"/>
                </a:solidFill>
                <a:latin typeface="Helvetica Neue"/>
                <a:ea typeface="Helvetica Neue"/>
                <a:cs typeface="Helvetica Neue"/>
              </a:defRPr>
            </a:defPPr>
            <a:lvl1pPr algn="l">
              <a:buNone/>
              <a:defRPr sz="1050" b="0">
                <a:solidFill>
                  <a:srgbClr val="53685D"/>
                </a:solidFill>
                <a:latin typeface="DejaVu Sans"/>
                <a:ea typeface="DejaVu Sans"/>
                <a:cs typeface="DejaVu Sans"/>
              </a:defRPr>
            </a:lvl1pPr>
            <a:lvl2pPr algn="l">
              <a:buNone/>
              <a:defRPr sz="1050" b="0">
                <a:solidFill>
                  <a:srgbClr val="53685D"/>
                </a:solidFill>
                <a:latin typeface="DejaVu Sans"/>
                <a:ea typeface="DejaVu Sans"/>
                <a:cs typeface="DejaVu Sans"/>
              </a:defRPr>
            </a:lvl2pPr>
            <a:lvl3pPr algn="l">
              <a:buNone/>
              <a:defRPr sz="1050" b="0">
                <a:solidFill>
                  <a:srgbClr val="53685D"/>
                </a:solidFill>
                <a:latin typeface="DejaVu Sans"/>
                <a:ea typeface="DejaVu Sans"/>
                <a:cs typeface="DejaVu Sans"/>
              </a:defRPr>
            </a:lvl3pPr>
            <a:lvl4pPr algn="l">
              <a:buNone/>
              <a:defRPr sz="1050" b="0">
                <a:solidFill>
                  <a:srgbClr val="53685D"/>
                </a:solidFill>
                <a:latin typeface="DejaVu Sans"/>
                <a:ea typeface="DejaVu Sans"/>
                <a:cs typeface="DejaVu Sans"/>
              </a:defRPr>
            </a:lvl4pPr>
            <a:lvl5pPr algn="l">
              <a:buNone/>
              <a:defRPr sz="1050" b="0">
                <a:solidFill>
                  <a:srgbClr val="53685D"/>
                </a:solidFill>
                <a:latin typeface="DejaVu Sans"/>
                <a:ea typeface="DejaVu Sans"/>
                <a:cs typeface="DejaVu Sans"/>
              </a:defRPr>
            </a:lvl5pPr>
            <a:lvl6pPr algn="l">
              <a:buNone/>
              <a:defRPr sz="1050" b="0">
                <a:solidFill>
                  <a:srgbClr val="53685D"/>
                </a:solidFill>
                <a:latin typeface="DejaVu Sans"/>
                <a:ea typeface="DejaVu Sans"/>
                <a:cs typeface="DejaVu Sans"/>
              </a:defRPr>
            </a:lvl6pPr>
            <a:lvl7pPr algn="l">
              <a:buNone/>
              <a:defRPr sz="1050" b="0">
                <a:solidFill>
                  <a:srgbClr val="53685D"/>
                </a:solidFill>
                <a:latin typeface="DejaVu Sans"/>
                <a:ea typeface="DejaVu Sans"/>
                <a:cs typeface="DejaVu Sans"/>
              </a:defRPr>
            </a:lvl7pPr>
            <a:lvl8pPr algn="l">
              <a:buNone/>
              <a:defRPr sz="1050" b="0">
                <a:solidFill>
                  <a:srgbClr val="53685D"/>
                </a:solidFill>
                <a:latin typeface="DejaVu Sans"/>
                <a:ea typeface="DejaVu Sans"/>
                <a:cs typeface="DejaVu Sans"/>
              </a:defRPr>
            </a:lvl8pPr>
            <a:lvl9pPr algn="l">
              <a:buNone/>
              <a:defRPr sz="1050" b="0">
                <a:solidFill>
                  <a:srgbClr val="53685D"/>
                </a:solidFill>
                <a:latin typeface="DejaVu Sans"/>
                <a:ea typeface="DejaVu Sans"/>
                <a:cs typeface="DejaVu Sans"/>
              </a:defRPr>
            </a:lvl9pPr>
          </a:lstStyle>
          <a:p xmlns:a="http://schemas.openxmlformats.org/drawingml/2006/main">
            <a:pPr algn="l">
              <a:buNone/>
              <a:defRPr sz="1050" b="0">
                <a:solidFill>
                  <a:srgbClr val="53685D"/>
                </a:solidFill>
                <a:latin typeface="Helvetica Neue"/>
                <a:ea typeface="Helvetica Neue"/>
                <a:cs typeface="Helvetica Neue"/>
              </a:defRPr>
            </a:pPr>
            <a:r>
              <a:rPr sz="1050" b="0">
                <a:solidFill>
                  <a:srgbClr val="53685D"/>
                </a:solidFill>
                <a:latin typeface="Helvetica Neue"/>
                <a:ea typeface="Helvetica Neue"/>
                <a:cs typeface="Helvetica Neue"/>
              </a:rPr>
              <a:t>17 de 18   /   28 oct 2026</a:t>
            </a:r>
          </a:p>
        </p:txBody>
      </p:sp>
      <p:sp>
        <p:nvSpPr>
          <p:cNvPr id="5" name="01   Alcance y aceptación registrados por el responsabl">
            <a:extLst xmlns:a="http://schemas.openxmlformats.org/drawingml/2006/main">
              <a:ext uri="{FF2B5EF4-FFF2-40B4-BE49-F238E27FC236}">
                <a16:creationId xmlns:a16="http://schemas.microsoft.com/office/drawing/2014/main" id="{A28FB4C6-D78F-4ECC-A737-F2172AAAC448}"/>
              </a:ext>
            </a:extLst>
          </p:cNvPr>
          <p:cNvSpPr>
            <a:spLocks xmlns:a="http://schemas.openxmlformats.org/drawingml/2006/main" noGrp="1"/>
          </p:cNvSpPr>
          <p:nvPr/>
        </p:nvSpPr>
        <p:spPr>
          <a:xfrm xmlns:a="http://schemas.openxmlformats.org/drawingml/2006/main">
            <a:off x="609600" y="2038350"/>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01   Alcance y aceptación registrados por el responsable del producto.</a:t>
            </a:r>
          </a:p>
        </p:txBody>
      </p:sp>
      <p:sp>
        <p:nvSpPr>
          <p:cNvPr id="6" name="02   Código integrado y servidor verificado con HTTPS y">
            <a:extLst xmlns:a="http://schemas.openxmlformats.org/drawingml/2006/main">
              <a:ext uri="{FF2B5EF4-FFF2-40B4-BE49-F238E27FC236}">
                <a16:creationId xmlns:a16="http://schemas.microsoft.com/office/drawing/2014/main" id="{067E5EC9-ED0A-4B76-A166-9F982A859833}"/>
              </a:ext>
            </a:extLst>
          </p:cNvPr>
          <p:cNvSpPr>
            <a:spLocks xmlns:a="http://schemas.openxmlformats.org/drawingml/2006/main" noGrp="1"/>
          </p:cNvSpPr>
          <p:nvPr/>
        </p:nvSpPr>
        <p:spPr>
          <a:xfrm xmlns:a="http://schemas.openxmlformats.org/drawingml/2006/main">
            <a:off x="609600" y="280987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02   Código integrado y servidor verificado con HTTPS y datos persistentes.</a:t>
            </a:r>
          </a:p>
        </p:txBody>
      </p:sp>
      <p:sp>
        <p:nvSpPr>
          <p:cNvPr id="7" name="03   Pruebas por rol y restauración de respaldo demostr">
            <a:extLst xmlns:a="http://schemas.openxmlformats.org/drawingml/2006/main">
              <a:ext uri="{FF2B5EF4-FFF2-40B4-BE49-F238E27FC236}">
                <a16:creationId xmlns:a16="http://schemas.microsoft.com/office/drawing/2014/main" id="{D075C169-4DA2-4BDC-AB99-61E05312E0A0}"/>
              </a:ext>
            </a:extLst>
          </p:cNvPr>
          <p:cNvSpPr>
            <a:spLocks xmlns:a="http://schemas.openxmlformats.org/drawingml/2006/main" noGrp="1"/>
          </p:cNvSpPr>
          <p:nvPr/>
        </p:nvSpPr>
        <p:spPr>
          <a:xfrm xmlns:a="http://schemas.openxmlformats.org/drawingml/2006/main">
            <a:off x="609600" y="3581400"/>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03   Pruebas por rol y restauración de respaldo demostradas.</a:t>
            </a:r>
          </a:p>
        </p:txBody>
      </p:sp>
      <p:sp>
        <p:nvSpPr>
          <p:cNvPr id="8" name="04   Manuales, modelos y entregas académicas completos.">
            <a:extLst xmlns:a="http://schemas.openxmlformats.org/drawingml/2006/main">
              <a:ext uri="{FF2B5EF4-FFF2-40B4-BE49-F238E27FC236}">
                <a16:creationId xmlns:a16="http://schemas.microsoft.com/office/drawing/2014/main" id="{36C06A81-79B6-40D8-8055-7FB549A6958C}"/>
              </a:ext>
            </a:extLst>
          </p:cNvPr>
          <p:cNvSpPr>
            <a:spLocks xmlns:a="http://schemas.openxmlformats.org/drawingml/2006/main" noGrp="1"/>
          </p:cNvSpPr>
          <p:nvPr/>
        </p:nvSpPr>
        <p:spPr>
          <a:xfrm xmlns:a="http://schemas.openxmlformats.org/drawingml/2006/main">
            <a:off x="609600" y="43529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04   Manuales, modelos y entregas académicas completos.</a:t>
            </a:r>
          </a:p>
        </p:txBody>
      </p:sp>
      <p:sp>
        <p:nvSpPr>
          <p:cNvPr id="9" name="05   Comprobantes de entrega, defensa y retrospectiva r">
            <a:extLst xmlns:a="http://schemas.openxmlformats.org/drawingml/2006/main">
              <a:ext uri="{FF2B5EF4-FFF2-40B4-BE49-F238E27FC236}">
                <a16:creationId xmlns:a16="http://schemas.microsoft.com/office/drawing/2014/main" id="{33B3EFF0-48DE-41B6-9851-8602A92ED4ED}"/>
              </a:ext>
            </a:extLst>
          </p:cNvPr>
          <p:cNvSpPr>
            <a:spLocks xmlns:a="http://schemas.openxmlformats.org/drawingml/2006/main" noGrp="1"/>
          </p:cNvSpPr>
          <p:nvPr/>
        </p:nvSpPr>
        <p:spPr>
          <a:xfrm xmlns:a="http://schemas.openxmlformats.org/drawingml/2006/main">
            <a:off x="609600" y="5124450"/>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D33"/>
                </a:solidFill>
                <a:latin typeface="Helvetica Neue"/>
                <a:ea typeface="Helvetica Neue"/>
                <a:cs typeface="Helvetica Neue"/>
              </a:defRPr>
            </a:defPPr>
            <a:lvl1pPr algn="l">
              <a:buNone/>
              <a:defRPr sz="2100" b="0">
                <a:solidFill>
                  <a:srgbClr val="263D33"/>
                </a:solidFill>
                <a:latin typeface="DejaVu Sans"/>
                <a:ea typeface="DejaVu Sans"/>
                <a:cs typeface="DejaVu Sans"/>
              </a:defRPr>
            </a:lvl1pPr>
            <a:lvl2pPr algn="l">
              <a:buNone/>
              <a:defRPr sz="2100" b="0">
                <a:solidFill>
                  <a:srgbClr val="263D33"/>
                </a:solidFill>
                <a:latin typeface="DejaVu Sans"/>
                <a:ea typeface="DejaVu Sans"/>
                <a:cs typeface="DejaVu Sans"/>
              </a:defRPr>
            </a:lvl2pPr>
            <a:lvl3pPr algn="l">
              <a:buNone/>
              <a:defRPr sz="2100" b="0">
                <a:solidFill>
                  <a:srgbClr val="263D33"/>
                </a:solidFill>
                <a:latin typeface="DejaVu Sans"/>
                <a:ea typeface="DejaVu Sans"/>
                <a:cs typeface="DejaVu Sans"/>
              </a:defRPr>
            </a:lvl3pPr>
            <a:lvl4pPr algn="l">
              <a:buNone/>
              <a:defRPr sz="2100" b="0">
                <a:solidFill>
                  <a:srgbClr val="263D33"/>
                </a:solidFill>
                <a:latin typeface="DejaVu Sans"/>
                <a:ea typeface="DejaVu Sans"/>
                <a:cs typeface="DejaVu Sans"/>
              </a:defRPr>
            </a:lvl4pPr>
            <a:lvl5pPr algn="l">
              <a:buNone/>
              <a:defRPr sz="2100" b="0">
                <a:solidFill>
                  <a:srgbClr val="263D33"/>
                </a:solidFill>
                <a:latin typeface="DejaVu Sans"/>
                <a:ea typeface="DejaVu Sans"/>
                <a:cs typeface="DejaVu Sans"/>
              </a:defRPr>
            </a:lvl5pPr>
            <a:lvl6pPr algn="l">
              <a:buNone/>
              <a:defRPr sz="2100" b="0">
                <a:solidFill>
                  <a:srgbClr val="263D33"/>
                </a:solidFill>
                <a:latin typeface="DejaVu Sans"/>
                <a:ea typeface="DejaVu Sans"/>
                <a:cs typeface="DejaVu Sans"/>
              </a:defRPr>
            </a:lvl6pPr>
            <a:lvl7pPr algn="l">
              <a:buNone/>
              <a:defRPr sz="2100" b="0">
                <a:solidFill>
                  <a:srgbClr val="263D33"/>
                </a:solidFill>
                <a:latin typeface="DejaVu Sans"/>
                <a:ea typeface="DejaVu Sans"/>
                <a:cs typeface="DejaVu Sans"/>
              </a:defRPr>
            </a:lvl7pPr>
            <a:lvl8pPr algn="l">
              <a:buNone/>
              <a:defRPr sz="2100" b="0">
                <a:solidFill>
                  <a:srgbClr val="263D33"/>
                </a:solidFill>
                <a:latin typeface="DejaVu Sans"/>
                <a:ea typeface="DejaVu Sans"/>
                <a:cs typeface="DejaVu Sans"/>
              </a:defRPr>
            </a:lvl8pPr>
            <a:lvl9pPr algn="l">
              <a:buNone/>
              <a:defRPr sz="2100" b="0">
                <a:solidFill>
                  <a:srgbClr val="263D33"/>
                </a:solidFill>
                <a:latin typeface="DejaVu Sans"/>
                <a:ea typeface="DejaVu Sans"/>
                <a:cs typeface="DejaVu Sans"/>
              </a:defRPr>
            </a:lvl9pPr>
          </a:lstStyle>
          <a:p xmlns:a="http://schemas.openxmlformats.org/drawingml/2006/main">
            <a:pPr algn="l">
              <a:buNone/>
              <a:defRPr sz="2100" b="0">
                <a:solidFill>
                  <a:srgbClr val="263D33"/>
                </a:solidFill>
                <a:latin typeface="Helvetica Neue"/>
                <a:ea typeface="Helvetica Neue"/>
                <a:cs typeface="Helvetica Neue"/>
              </a:defRPr>
            </a:pPr>
            <a:r>
              <a:rPr sz="2100" b="0">
                <a:solidFill>
                  <a:srgbClr val="263D33"/>
                </a:solidFill>
                <a:latin typeface="Helvetica Neue"/>
                <a:ea typeface="Helvetica Neue"/>
                <a:cs typeface="Helvetica Neue"/>
              </a:rPr>
              <a:t>05   Comprobantes de entrega, defensa y retrospectiva real.</a:t>
            </a:r>
          </a:p>
        </p:txBody>
      </p:sp>
    </p:spTree>
    <p:extLst>
      <p:ext uri="{BB962C8B-B14F-4D97-AF65-F5344CB8AC3E}">
        <p14:creationId xmlns:p14="http://schemas.microsoft.com/office/powerpoint/2010/main" val="893615058"/>
      </p:ext>
    </p:extLst>
  </p:cSld>
</p:sld>
</file>

<file path=ppt/slides/slide18.xml><?xml version="1.0" encoding="utf-8"?>
<p:sld xmlns:p="http://schemas.openxmlformats.org/presentationml/2006/main">
  <p:cSld>
    <p:bg>
      <p:bgPr>
        <a:solidFill xmlns:a="http://schemas.openxmlformats.org/drawingml/2006/main">
          <a:srgbClr val="184C3B"/>
        </a:solidFill>
      </p:bgPr>
    </p:bg>
    <p:spTree>
      <p:nvGrpSpPr>
        <p:cNvPr id="1" name=""/>
        <p:cNvGrpSpPr/>
        <p:nvPr/>
      </p:nvGrpSpPr>
      <p:grpSpPr>
        <a:xfrm xmlns:a="http://schemas.openxmlformats.org/drawingml/2006/main"/>
      </p:grpSpPr>
      <p:sp>
        <p:nvSpPr>
          <p:cNvPr id="10" name="CIERRE DEL SPRINT 5 Y PREPARACIÓN DEL SPRINT 6">
            <a:extLst xmlns:a="http://schemas.openxmlformats.org/drawingml/2006/main">
              <a:ext uri="{FF2B5EF4-FFF2-40B4-BE49-F238E27FC236}">
                <a16:creationId xmlns:a16="http://schemas.microsoft.com/office/drawing/2014/main" id="{0313AB0A-D3E0-4443-8D7B-D3057F5C40A3}"/>
              </a:ext>
            </a:extLst>
          </p:cNvPr>
          <p:cNvSpPr>
            <a:spLocks xmlns:a="http://schemas.openxmlformats.org/drawingml/2006/main" noGrp="1"/>
          </p:cNvSpPr>
          <p:nvPr/>
        </p:nvSpPr>
        <p:spPr>
          <a:xfrm xmlns:a="http://schemas.openxmlformats.org/drawingml/2006/main">
            <a:off x="609600" y="3619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1">
                <a:solidFill>
                  <a:srgbClr val="D9BC7A"/>
                </a:solidFill>
                <a:latin typeface="Helvetica Neue"/>
                <a:ea typeface="Helvetica Neue"/>
                <a:cs typeface="Helvetica Neue"/>
              </a:defRPr>
            </a:defPPr>
            <a:lvl1pPr algn="l">
              <a:buNone/>
              <a:defRPr sz="1200" b="1">
                <a:solidFill>
                  <a:srgbClr val="D9BC7A"/>
                </a:solidFill>
                <a:latin typeface="DejaVu Sans"/>
                <a:ea typeface="DejaVu Sans"/>
                <a:cs typeface="DejaVu Sans"/>
              </a:defRPr>
            </a:lvl1pPr>
            <a:lvl2pPr algn="l">
              <a:buNone/>
              <a:defRPr sz="1200" b="1">
                <a:solidFill>
                  <a:srgbClr val="D9BC7A"/>
                </a:solidFill>
                <a:latin typeface="DejaVu Sans"/>
                <a:ea typeface="DejaVu Sans"/>
                <a:cs typeface="DejaVu Sans"/>
              </a:defRPr>
            </a:lvl2pPr>
            <a:lvl3pPr algn="l">
              <a:buNone/>
              <a:defRPr sz="1200" b="1">
                <a:solidFill>
                  <a:srgbClr val="D9BC7A"/>
                </a:solidFill>
                <a:latin typeface="DejaVu Sans"/>
                <a:ea typeface="DejaVu Sans"/>
                <a:cs typeface="DejaVu Sans"/>
              </a:defRPr>
            </a:lvl3pPr>
            <a:lvl4pPr algn="l">
              <a:buNone/>
              <a:defRPr sz="1200" b="1">
                <a:solidFill>
                  <a:srgbClr val="D9BC7A"/>
                </a:solidFill>
                <a:latin typeface="DejaVu Sans"/>
                <a:ea typeface="DejaVu Sans"/>
                <a:cs typeface="DejaVu Sans"/>
              </a:defRPr>
            </a:lvl4pPr>
            <a:lvl5pPr algn="l">
              <a:buNone/>
              <a:defRPr sz="1200" b="1">
                <a:solidFill>
                  <a:srgbClr val="D9BC7A"/>
                </a:solidFill>
                <a:latin typeface="DejaVu Sans"/>
                <a:ea typeface="DejaVu Sans"/>
                <a:cs typeface="DejaVu Sans"/>
              </a:defRPr>
            </a:lvl5pPr>
            <a:lvl6pPr algn="l">
              <a:buNone/>
              <a:defRPr sz="1200" b="1">
                <a:solidFill>
                  <a:srgbClr val="D9BC7A"/>
                </a:solidFill>
                <a:latin typeface="DejaVu Sans"/>
                <a:ea typeface="DejaVu Sans"/>
                <a:cs typeface="DejaVu Sans"/>
              </a:defRPr>
            </a:lvl6pPr>
            <a:lvl7pPr algn="l">
              <a:buNone/>
              <a:defRPr sz="1200" b="1">
                <a:solidFill>
                  <a:srgbClr val="D9BC7A"/>
                </a:solidFill>
                <a:latin typeface="DejaVu Sans"/>
                <a:ea typeface="DejaVu Sans"/>
                <a:cs typeface="DejaVu Sans"/>
              </a:defRPr>
            </a:lvl7pPr>
            <a:lvl8pPr algn="l">
              <a:buNone/>
              <a:defRPr sz="1200" b="1">
                <a:solidFill>
                  <a:srgbClr val="D9BC7A"/>
                </a:solidFill>
                <a:latin typeface="DejaVu Sans"/>
                <a:ea typeface="DejaVu Sans"/>
                <a:cs typeface="DejaVu Sans"/>
              </a:defRPr>
            </a:lvl8pPr>
            <a:lvl9pPr algn="l">
              <a:buNone/>
              <a:defRPr sz="1200" b="1">
                <a:solidFill>
                  <a:srgbClr val="D9BC7A"/>
                </a:solidFill>
                <a:latin typeface="DejaVu Sans"/>
                <a:ea typeface="DejaVu Sans"/>
                <a:cs typeface="DejaVu Sans"/>
              </a:defRPr>
            </a:lvl9pPr>
          </a:lstStyle>
          <a:p xmlns:a="http://schemas.openxmlformats.org/drawingml/2006/main">
            <a:pPr algn="l">
              <a:buNone/>
              <a:defRPr sz="1200" b="1">
                <a:solidFill>
                  <a:srgbClr val="D9BC7A"/>
                </a:solidFill>
                <a:latin typeface="Helvetica Neue"/>
                <a:ea typeface="Helvetica Neue"/>
                <a:cs typeface="Helvetica Neue"/>
              </a:defRPr>
            </a:pPr>
            <a:r>
              <a:rPr sz="1200" b="1">
                <a:solidFill>
                  <a:srgbClr val="D9BC7A"/>
                </a:solidFill>
                <a:latin typeface="Helvetica Neue"/>
                <a:ea typeface="Helvetica Neue"/>
                <a:cs typeface="Helvetica Neue"/>
              </a:rPr>
              <a:t>CIERRE DEL SPRINT 5 Y PREPARACIÓN DEL SPRINT 6</a:t>
            </a:r>
          </a:p>
        </p:txBody>
      </p:sp>
      <p:sp>
        <p:nvSpPr>
          <p:cNvPr id="2" name="Siguientes pasos">
            <a:extLst xmlns:a="http://schemas.openxmlformats.org/drawingml/2006/main">
              <a:ext uri="{FF2B5EF4-FFF2-40B4-BE49-F238E27FC236}">
                <a16:creationId xmlns:a16="http://schemas.microsoft.com/office/drawing/2014/main" id="{88927A84-D698-4447-BEE2-D52291F62D50}"/>
              </a:ext>
            </a:extLst>
          </p:cNvPr>
          <p:cNvSpPr>
            <a:spLocks xmlns:a="http://schemas.openxmlformats.org/drawingml/2006/main" noGrp="1"/>
          </p:cNvSpPr>
          <p:nvPr/>
        </p:nvSpPr>
        <p:spPr>
          <a:xfrm xmlns:a="http://schemas.openxmlformats.org/drawingml/2006/main">
            <a:off x="609600" y="838200"/>
            <a:ext cx="109728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FFFFFF"/>
                </a:solidFill>
                <a:latin typeface="Georgia"/>
                <a:ea typeface="Georgia"/>
                <a:cs typeface="Georgia"/>
              </a:defRPr>
            </a:defPPr>
            <a:lvl1pPr algn="l">
              <a:buNone/>
              <a:defRPr sz="3300" b="1">
                <a:solidFill>
                  <a:srgbClr val="FFFFFF"/>
                </a:solidFill>
                <a:latin typeface="DejaVu Sans"/>
                <a:ea typeface="DejaVu Sans"/>
                <a:cs typeface="DejaVu Sans"/>
              </a:defRPr>
            </a:lvl1pPr>
            <a:lvl2pPr algn="l">
              <a:buNone/>
              <a:defRPr sz="3300" b="1">
                <a:solidFill>
                  <a:srgbClr val="FFFFFF"/>
                </a:solidFill>
                <a:latin typeface="DejaVu Sans"/>
                <a:ea typeface="DejaVu Sans"/>
                <a:cs typeface="DejaVu Sans"/>
              </a:defRPr>
            </a:lvl2pPr>
            <a:lvl3pPr algn="l">
              <a:buNone/>
              <a:defRPr sz="3300" b="1">
                <a:solidFill>
                  <a:srgbClr val="FFFFFF"/>
                </a:solidFill>
                <a:latin typeface="DejaVu Sans"/>
                <a:ea typeface="DejaVu Sans"/>
                <a:cs typeface="DejaVu Sans"/>
              </a:defRPr>
            </a:lvl3pPr>
            <a:lvl4pPr algn="l">
              <a:buNone/>
              <a:defRPr sz="3300" b="1">
                <a:solidFill>
                  <a:srgbClr val="FFFFFF"/>
                </a:solidFill>
                <a:latin typeface="DejaVu Sans"/>
                <a:ea typeface="DejaVu Sans"/>
                <a:cs typeface="DejaVu Sans"/>
              </a:defRPr>
            </a:lvl4pPr>
            <a:lvl5pPr algn="l">
              <a:buNone/>
              <a:defRPr sz="3300" b="1">
                <a:solidFill>
                  <a:srgbClr val="FFFFFF"/>
                </a:solidFill>
                <a:latin typeface="DejaVu Sans"/>
                <a:ea typeface="DejaVu Sans"/>
                <a:cs typeface="DejaVu Sans"/>
              </a:defRPr>
            </a:lvl5pPr>
            <a:lvl6pPr algn="l">
              <a:buNone/>
              <a:defRPr sz="3300" b="1">
                <a:solidFill>
                  <a:srgbClr val="FFFFFF"/>
                </a:solidFill>
                <a:latin typeface="DejaVu Sans"/>
                <a:ea typeface="DejaVu Sans"/>
                <a:cs typeface="DejaVu Sans"/>
              </a:defRPr>
            </a:lvl6pPr>
            <a:lvl7pPr algn="l">
              <a:buNone/>
              <a:defRPr sz="3300" b="1">
                <a:solidFill>
                  <a:srgbClr val="FFFFFF"/>
                </a:solidFill>
                <a:latin typeface="DejaVu Sans"/>
                <a:ea typeface="DejaVu Sans"/>
                <a:cs typeface="DejaVu Sans"/>
              </a:defRPr>
            </a:lvl7pPr>
            <a:lvl8pPr algn="l">
              <a:buNone/>
              <a:defRPr sz="3300" b="1">
                <a:solidFill>
                  <a:srgbClr val="FFFFFF"/>
                </a:solidFill>
                <a:latin typeface="DejaVu Sans"/>
                <a:ea typeface="DejaVu Sans"/>
                <a:cs typeface="DejaVu Sans"/>
              </a:defRPr>
            </a:lvl8pPr>
            <a:lvl9pPr algn="l">
              <a:buNone/>
              <a:defRPr sz="3300" b="1">
                <a:solidFill>
                  <a:srgbClr val="FFFFFF"/>
                </a:solidFill>
                <a:latin typeface="DejaVu Sans"/>
                <a:ea typeface="DejaVu Sans"/>
                <a:cs typeface="DejaVu Sans"/>
              </a:defRPr>
            </a:lvl9pPr>
          </a:lstStyle>
          <a:p xmlns:a="http://schemas.openxmlformats.org/drawingml/2006/main">
            <a:pPr algn="l">
              <a:buNone/>
              <a:defRPr sz="3300" b="0">
                <a:solidFill>
                  <a:srgbClr val="FFFFFF"/>
                </a:solidFill>
                <a:latin typeface="Georgia"/>
                <a:ea typeface="Georgia"/>
                <a:cs typeface="Georgia"/>
              </a:defRPr>
            </a:pPr>
            <a:r>
              <a:rPr sz="3300" b="0">
                <a:solidFill>
                  <a:srgbClr val="FFFFFF"/>
                </a:solidFill>
                <a:latin typeface="Georgia"/>
                <a:ea typeface="Georgia"/>
                <a:cs typeface="Georgia"/>
              </a:rPr>
              <a:t>Siguientes pasos</a:t>
            </a:r>
          </a:p>
        </p:txBody>
      </p:sp>
      <p:sp>
        <p:nvSpPr>
          <p:cNvPr id="3" name="SIGAA  /  Capstone 2026">
            <a:extLst xmlns:a="http://schemas.openxmlformats.org/drawingml/2006/main">
              <a:ext uri="{FF2B5EF4-FFF2-40B4-BE49-F238E27FC236}">
                <a16:creationId xmlns:a16="http://schemas.microsoft.com/office/drawing/2014/main" id="{B0A425A6-41A8-418A-9EC9-9BABECE3901D}"/>
              </a:ext>
            </a:extLst>
          </p:cNvPr>
          <p:cNvSpPr>
            <a:spLocks xmlns:a="http://schemas.openxmlformats.org/drawingml/2006/main" noGrp="1"/>
          </p:cNvSpPr>
          <p:nvPr/>
        </p:nvSpPr>
        <p:spPr>
          <a:xfrm xmlns:a="http://schemas.openxmlformats.org/drawingml/2006/main">
            <a:off x="609600" y="6419850"/>
            <a:ext cx="628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D3E0D7"/>
                </a:solidFill>
                <a:latin typeface="Helvetica Neue"/>
                <a:ea typeface="Helvetica Neue"/>
                <a:cs typeface="Helvetica Neue"/>
              </a:defRPr>
            </a:defPPr>
            <a:lvl1pPr algn="l">
              <a:buNone/>
              <a:defRPr sz="1050" b="0">
                <a:solidFill>
                  <a:srgbClr val="D3E0D7"/>
                </a:solidFill>
                <a:latin typeface="DejaVu Sans"/>
                <a:ea typeface="DejaVu Sans"/>
                <a:cs typeface="DejaVu Sans"/>
              </a:defRPr>
            </a:lvl1pPr>
            <a:lvl2pPr algn="l">
              <a:buNone/>
              <a:defRPr sz="1050" b="0">
                <a:solidFill>
                  <a:srgbClr val="D3E0D7"/>
                </a:solidFill>
                <a:latin typeface="DejaVu Sans"/>
                <a:ea typeface="DejaVu Sans"/>
                <a:cs typeface="DejaVu Sans"/>
              </a:defRPr>
            </a:lvl2pPr>
            <a:lvl3pPr algn="l">
              <a:buNone/>
              <a:defRPr sz="1050" b="0">
                <a:solidFill>
                  <a:srgbClr val="D3E0D7"/>
                </a:solidFill>
                <a:latin typeface="DejaVu Sans"/>
                <a:ea typeface="DejaVu Sans"/>
                <a:cs typeface="DejaVu Sans"/>
              </a:defRPr>
            </a:lvl3pPr>
            <a:lvl4pPr algn="l">
              <a:buNone/>
              <a:defRPr sz="1050" b="0">
                <a:solidFill>
                  <a:srgbClr val="D3E0D7"/>
                </a:solidFill>
                <a:latin typeface="DejaVu Sans"/>
                <a:ea typeface="DejaVu Sans"/>
                <a:cs typeface="DejaVu Sans"/>
              </a:defRPr>
            </a:lvl4pPr>
            <a:lvl5pPr algn="l">
              <a:buNone/>
              <a:defRPr sz="1050" b="0">
                <a:solidFill>
                  <a:srgbClr val="D3E0D7"/>
                </a:solidFill>
                <a:latin typeface="DejaVu Sans"/>
                <a:ea typeface="DejaVu Sans"/>
                <a:cs typeface="DejaVu Sans"/>
              </a:defRPr>
            </a:lvl5pPr>
            <a:lvl6pPr algn="l">
              <a:buNone/>
              <a:defRPr sz="1050" b="0">
                <a:solidFill>
                  <a:srgbClr val="D3E0D7"/>
                </a:solidFill>
                <a:latin typeface="DejaVu Sans"/>
                <a:ea typeface="DejaVu Sans"/>
                <a:cs typeface="DejaVu Sans"/>
              </a:defRPr>
            </a:lvl6pPr>
            <a:lvl7pPr algn="l">
              <a:buNone/>
              <a:defRPr sz="1050" b="0">
                <a:solidFill>
                  <a:srgbClr val="D3E0D7"/>
                </a:solidFill>
                <a:latin typeface="DejaVu Sans"/>
                <a:ea typeface="DejaVu Sans"/>
                <a:cs typeface="DejaVu Sans"/>
              </a:defRPr>
            </a:lvl7pPr>
            <a:lvl8pPr algn="l">
              <a:buNone/>
              <a:defRPr sz="1050" b="0">
                <a:solidFill>
                  <a:srgbClr val="D3E0D7"/>
                </a:solidFill>
                <a:latin typeface="DejaVu Sans"/>
                <a:ea typeface="DejaVu Sans"/>
                <a:cs typeface="DejaVu Sans"/>
              </a:defRPr>
            </a:lvl8pPr>
            <a:lvl9pPr algn="l">
              <a:buNone/>
              <a:defRPr sz="1050" b="0">
                <a:solidFill>
                  <a:srgbClr val="D3E0D7"/>
                </a:solidFill>
                <a:latin typeface="DejaVu Sans"/>
                <a:ea typeface="DejaVu Sans"/>
                <a:cs typeface="DejaVu Sans"/>
              </a:defRPr>
            </a:lvl9pPr>
          </a:lstStyle>
          <a:p xmlns:a="http://schemas.openxmlformats.org/drawingml/2006/main">
            <a:pPr algn="l">
              <a:buNone/>
              <a:defRPr sz="1050" b="0">
                <a:solidFill>
                  <a:srgbClr val="D3E0D7"/>
                </a:solidFill>
                <a:latin typeface="Helvetica Neue"/>
                <a:ea typeface="Helvetica Neue"/>
                <a:cs typeface="Helvetica Neue"/>
              </a:defRPr>
            </a:pPr>
            <a:r>
              <a:rPr sz="1050" b="0">
                <a:solidFill>
                  <a:srgbClr val="D3E0D7"/>
                </a:solidFill>
                <a:latin typeface="Helvetica Neue"/>
                <a:ea typeface="Helvetica Neue"/>
                <a:cs typeface="Helvetica Neue"/>
              </a:rPr>
              <a:t>Matías  /  Bloque 3 de 3  /  SIGAA</a:t>
            </a:r>
          </a:p>
        </p:txBody>
      </p:sp>
      <p:sp>
        <p:nvSpPr>
          <p:cNvPr id="4" name="16   /   28 oct 2026">
            <a:extLst xmlns:a="http://schemas.openxmlformats.org/drawingml/2006/main">
              <a:ext uri="{FF2B5EF4-FFF2-40B4-BE49-F238E27FC236}">
                <a16:creationId xmlns:a16="http://schemas.microsoft.com/office/drawing/2014/main" id="{B0112790-CDE0-4EB9-9F00-0684ECB79137}"/>
              </a:ext>
            </a:extLst>
          </p:cNvPr>
          <p:cNvSpPr>
            <a:spLocks xmlns:a="http://schemas.openxmlformats.org/drawingml/2006/main" noGrp="1"/>
          </p:cNvSpPr>
          <p:nvPr/>
        </p:nvSpPr>
        <p:spPr>
          <a:xfrm xmlns:a="http://schemas.openxmlformats.org/drawingml/2006/main">
            <a:off x="9620250" y="6419850"/>
            <a:ext cx="2047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050" b="0">
                <a:solidFill>
                  <a:srgbClr val="D3E0D7"/>
                </a:solidFill>
                <a:latin typeface="Helvetica Neue"/>
                <a:ea typeface="Helvetica Neue"/>
                <a:cs typeface="Helvetica Neue"/>
              </a:defRPr>
            </a:defPPr>
            <a:lvl1pPr algn="l">
              <a:buNone/>
              <a:defRPr sz="1050" b="0">
                <a:solidFill>
                  <a:srgbClr val="D3E0D7"/>
                </a:solidFill>
                <a:latin typeface="DejaVu Sans"/>
                <a:ea typeface="DejaVu Sans"/>
                <a:cs typeface="DejaVu Sans"/>
              </a:defRPr>
            </a:lvl1pPr>
            <a:lvl2pPr algn="l">
              <a:buNone/>
              <a:defRPr sz="1050" b="0">
                <a:solidFill>
                  <a:srgbClr val="D3E0D7"/>
                </a:solidFill>
                <a:latin typeface="DejaVu Sans"/>
                <a:ea typeface="DejaVu Sans"/>
                <a:cs typeface="DejaVu Sans"/>
              </a:defRPr>
            </a:lvl2pPr>
            <a:lvl3pPr algn="l">
              <a:buNone/>
              <a:defRPr sz="1050" b="0">
                <a:solidFill>
                  <a:srgbClr val="D3E0D7"/>
                </a:solidFill>
                <a:latin typeface="DejaVu Sans"/>
                <a:ea typeface="DejaVu Sans"/>
                <a:cs typeface="DejaVu Sans"/>
              </a:defRPr>
            </a:lvl3pPr>
            <a:lvl4pPr algn="l">
              <a:buNone/>
              <a:defRPr sz="1050" b="0">
                <a:solidFill>
                  <a:srgbClr val="D3E0D7"/>
                </a:solidFill>
                <a:latin typeface="DejaVu Sans"/>
                <a:ea typeface="DejaVu Sans"/>
                <a:cs typeface="DejaVu Sans"/>
              </a:defRPr>
            </a:lvl4pPr>
            <a:lvl5pPr algn="l">
              <a:buNone/>
              <a:defRPr sz="1050" b="0">
                <a:solidFill>
                  <a:srgbClr val="D3E0D7"/>
                </a:solidFill>
                <a:latin typeface="DejaVu Sans"/>
                <a:ea typeface="DejaVu Sans"/>
                <a:cs typeface="DejaVu Sans"/>
              </a:defRPr>
            </a:lvl5pPr>
            <a:lvl6pPr algn="l">
              <a:buNone/>
              <a:defRPr sz="1050" b="0">
                <a:solidFill>
                  <a:srgbClr val="D3E0D7"/>
                </a:solidFill>
                <a:latin typeface="DejaVu Sans"/>
                <a:ea typeface="DejaVu Sans"/>
                <a:cs typeface="DejaVu Sans"/>
              </a:defRPr>
            </a:lvl6pPr>
            <a:lvl7pPr algn="l">
              <a:buNone/>
              <a:defRPr sz="1050" b="0">
                <a:solidFill>
                  <a:srgbClr val="D3E0D7"/>
                </a:solidFill>
                <a:latin typeface="DejaVu Sans"/>
                <a:ea typeface="DejaVu Sans"/>
                <a:cs typeface="DejaVu Sans"/>
              </a:defRPr>
            </a:lvl7pPr>
            <a:lvl8pPr algn="l">
              <a:buNone/>
              <a:defRPr sz="1050" b="0">
                <a:solidFill>
                  <a:srgbClr val="D3E0D7"/>
                </a:solidFill>
                <a:latin typeface="DejaVu Sans"/>
                <a:ea typeface="DejaVu Sans"/>
                <a:cs typeface="DejaVu Sans"/>
              </a:defRPr>
            </a:lvl8pPr>
            <a:lvl9pPr algn="l">
              <a:buNone/>
              <a:defRPr sz="1050" b="0">
                <a:solidFill>
                  <a:srgbClr val="D3E0D7"/>
                </a:solidFill>
                <a:latin typeface="DejaVu Sans"/>
                <a:ea typeface="DejaVu Sans"/>
                <a:cs typeface="DejaVu Sans"/>
              </a:defRPr>
            </a:lvl9pPr>
          </a:lstStyle>
          <a:p xmlns:a="http://schemas.openxmlformats.org/drawingml/2006/main">
            <a:pPr algn="l">
              <a:buNone/>
              <a:defRPr sz="1050" b="0">
                <a:solidFill>
                  <a:srgbClr val="D3E0D7"/>
                </a:solidFill>
                <a:latin typeface="Helvetica Neue"/>
                <a:ea typeface="Helvetica Neue"/>
                <a:cs typeface="Helvetica Neue"/>
              </a:defRPr>
            </a:pPr>
            <a:r>
              <a:rPr sz="1050" b="0">
                <a:solidFill>
                  <a:srgbClr val="D3E0D7"/>
                </a:solidFill>
                <a:latin typeface="Helvetica Neue"/>
                <a:ea typeface="Helvetica Neue"/>
                <a:cs typeface="Helvetica Neue"/>
              </a:rPr>
              <a:t>18 de 18   /   28 oct 2026</a:t>
            </a:r>
          </a:p>
        </p:txBody>
      </p:sp>
      <p:sp>
        <p:nvSpPr>
          <p:cNvPr id="5" name="1. Verificar Docker/PostgreSQL 16 y revisar los tres mó">
            <a:extLst xmlns:a="http://schemas.openxmlformats.org/drawingml/2006/main">
              <a:ext uri="{FF2B5EF4-FFF2-40B4-BE49-F238E27FC236}">
                <a16:creationId xmlns:a16="http://schemas.microsoft.com/office/drawing/2014/main" id="{76BD7A9B-9B31-41D4-B088-82DEAE07A93E}"/>
              </a:ext>
            </a:extLst>
          </p:cNvPr>
          <p:cNvSpPr>
            <a:spLocks xmlns:a="http://schemas.openxmlformats.org/drawingml/2006/main" noGrp="1"/>
          </p:cNvSpPr>
          <p:nvPr/>
        </p:nvSpPr>
        <p:spPr>
          <a:xfrm xmlns:a="http://schemas.openxmlformats.org/drawingml/2006/main">
            <a:off x="609600" y="204787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FFFFF"/>
                </a:solidFill>
                <a:latin typeface="Helvetica Neue"/>
                <a:ea typeface="Helvetica Neue"/>
                <a:cs typeface="Helvetica Neue"/>
              </a:defRPr>
            </a:defPPr>
            <a:lvl1pPr algn="l">
              <a:buNone/>
              <a:defRPr sz="2325" b="0">
                <a:solidFill>
                  <a:srgbClr val="FFFFFF"/>
                </a:solidFill>
                <a:latin typeface="DejaVu Sans"/>
                <a:ea typeface="DejaVu Sans"/>
                <a:cs typeface="DejaVu Sans"/>
              </a:defRPr>
            </a:lvl1pPr>
            <a:lvl2pPr algn="l">
              <a:buNone/>
              <a:defRPr sz="2325" b="0">
                <a:solidFill>
                  <a:srgbClr val="FFFFFF"/>
                </a:solidFill>
                <a:latin typeface="DejaVu Sans"/>
                <a:ea typeface="DejaVu Sans"/>
                <a:cs typeface="DejaVu Sans"/>
              </a:defRPr>
            </a:lvl2pPr>
            <a:lvl3pPr algn="l">
              <a:buNone/>
              <a:defRPr sz="2325" b="0">
                <a:solidFill>
                  <a:srgbClr val="FFFFFF"/>
                </a:solidFill>
                <a:latin typeface="DejaVu Sans"/>
                <a:ea typeface="DejaVu Sans"/>
                <a:cs typeface="DejaVu Sans"/>
              </a:defRPr>
            </a:lvl3pPr>
            <a:lvl4pPr algn="l">
              <a:buNone/>
              <a:defRPr sz="2325" b="0">
                <a:solidFill>
                  <a:srgbClr val="FFFFFF"/>
                </a:solidFill>
                <a:latin typeface="DejaVu Sans"/>
                <a:ea typeface="DejaVu Sans"/>
                <a:cs typeface="DejaVu Sans"/>
              </a:defRPr>
            </a:lvl4pPr>
            <a:lvl5pPr algn="l">
              <a:buNone/>
              <a:defRPr sz="2325" b="0">
                <a:solidFill>
                  <a:srgbClr val="FFFFFF"/>
                </a:solidFill>
                <a:latin typeface="DejaVu Sans"/>
                <a:ea typeface="DejaVu Sans"/>
                <a:cs typeface="DejaVu Sans"/>
              </a:defRPr>
            </a:lvl5pPr>
            <a:lvl6pPr algn="l">
              <a:buNone/>
              <a:defRPr sz="2325" b="0">
                <a:solidFill>
                  <a:srgbClr val="FFFFFF"/>
                </a:solidFill>
                <a:latin typeface="DejaVu Sans"/>
                <a:ea typeface="DejaVu Sans"/>
                <a:cs typeface="DejaVu Sans"/>
              </a:defRPr>
            </a:lvl6pPr>
            <a:lvl7pPr algn="l">
              <a:buNone/>
              <a:defRPr sz="2325" b="0">
                <a:solidFill>
                  <a:srgbClr val="FFFFFF"/>
                </a:solidFill>
                <a:latin typeface="DejaVu Sans"/>
                <a:ea typeface="DejaVu Sans"/>
                <a:cs typeface="DejaVu Sans"/>
              </a:defRPr>
            </a:lvl7pPr>
            <a:lvl8pPr algn="l">
              <a:buNone/>
              <a:defRPr sz="2325" b="0">
                <a:solidFill>
                  <a:srgbClr val="FFFFFF"/>
                </a:solidFill>
                <a:latin typeface="DejaVu Sans"/>
                <a:ea typeface="DejaVu Sans"/>
                <a:cs typeface="DejaVu Sans"/>
              </a:defRPr>
            </a:lvl8pPr>
            <a:lvl9pPr algn="l">
              <a:buNone/>
              <a:defRPr sz="2325" b="0">
                <a:solidFill>
                  <a:srgbClr val="FFFFFF"/>
                </a:solidFill>
                <a:latin typeface="DejaVu Sans"/>
                <a:ea typeface="DejaVu Sans"/>
                <a:cs typeface="DejaVu Sans"/>
              </a:defRPr>
            </a:lvl9pPr>
          </a:lstStyle>
          <a:p xmlns:a="http://schemas.openxmlformats.org/drawingml/2006/main">
            <a:pPr algn="l">
              <a:buNone/>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1. Verificar Docker/PostgreSQL 16 y revisar los tres módulos.</a:t>
            </a:r>
          </a:p>
        </p:txBody>
      </p:sp>
      <p:sp>
        <p:nvSpPr>
          <p:cNvPr id="6" name="2. Resolver observaciones, aceptar e integrar el increm">
            <a:extLst xmlns:a="http://schemas.openxmlformats.org/drawingml/2006/main">
              <a:ext uri="{FF2B5EF4-FFF2-40B4-BE49-F238E27FC236}">
                <a16:creationId xmlns:a16="http://schemas.microsoft.com/office/drawing/2014/main" id="{CF64466E-CFD2-4800-8F98-64168E84A9F4}"/>
              </a:ext>
            </a:extLst>
          </p:cNvPr>
          <p:cNvSpPr>
            <a:spLocks xmlns:a="http://schemas.openxmlformats.org/drawingml/2006/main" noGrp="1"/>
          </p:cNvSpPr>
          <p:nvPr/>
        </p:nvSpPr>
        <p:spPr>
          <a:xfrm xmlns:a="http://schemas.openxmlformats.org/drawingml/2006/main">
            <a:off x="609600" y="291465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FFFFF"/>
                </a:solidFill>
                <a:latin typeface="Helvetica Neue"/>
                <a:ea typeface="Helvetica Neue"/>
                <a:cs typeface="Helvetica Neue"/>
              </a:defRPr>
            </a:defPPr>
            <a:lvl1pPr algn="l">
              <a:buNone/>
              <a:defRPr sz="2325" b="0">
                <a:solidFill>
                  <a:srgbClr val="FFFFFF"/>
                </a:solidFill>
                <a:latin typeface="DejaVu Sans"/>
                <a:ea typeface="DejaVu Sans"/>
                <a:cs typeface="DejaVu Sans"/>
              </a:defRPr>
            </a:lvl1pPr>
            <a:lvl2pPr algn="l">
              <a:buNone/>
              <a:defRPr sz="2325" b="0">
                <a:solidFill>
                  <a:srgbClr val="FFFFFF"/>
                </a:solidFill>
                <a:latin typeface="DejaVu Sans"/>
                <a:ea typeface="DejaVu Sans"/>
                <a:cs typeface="DejaVu Sans"/>
              </a:defRPr>
            </a:lvl2pPr>
            <a:lvl3pPr algn="l">
              <a:buNone/>
              <a:defRPr sz="2325" b="0">
                <a:solidFill>
                  <a:srgbClr val="FFFFFF"/>
                </a:solidFill>
                <a:latin typeface="DejaVu Sans"/>
                <a:ea typeface="DejaVu Sans"/>
                <a:cs typeface="DejaVu Sans"/>
              </a:defRPr>
            </a:lvl3pPr>
            <a:lvl4pPr algn="l">
              <a:buNone/>
              <a:defRPr sz="2325" b="0">
                <a:solidFill>
                  <a:srgbClr val="FFFFFF"/>
                </a:solidFill>
                <a:latin typeface="DejaVu Sans"/>
                <a:ea typeface="DejaVu Sans"/>
                <a:cs typeface="DejaVu Sans"/>
              </a:defRPr>
            </a:lvl4pPr>
            <a:lvl5pPr algn="l">
              <a:buNone/>
              <a:defRPr sz="2325" b="0">
                <a:solidFill>
                  <a:srgbClr val="FFFFFF"/>
                </a:solidFill>
                <a:latin typeface="DejaVu Sans"/>
                <a:ea typeface="DejaVu Sans"/>
                <a:cs typeface="DejaVu Sans"/>
              </a:defRPr>
            </a:lvl5pPr>
            <a:lvl6pPr algn="l">
              <a:buNone/>
              <a:defRPr sz="2325" b="0">
                <a:solidFill>
                  <a:srgbClr val="FFFFFF"/>
                </a:solidFill>
                <a:latin typeface="DejaVu Sans"/>
                <a:ea typeface="DejaVu Sans"/>
                <a:cs typeface="DejaVu Sans"/>
              </a:defRPr>
            </a:lvl6pPr>
            <a:lvl7pPr algn="l">
              <a:buNone/>
              <a:defRPr sz="2325" b="0">
                <a:solidFill>
                  <a:srgbClr val="FFFFFF"/>
                </a:solidFill>
                <a:latin typeface="DejaVu Sans"/>
                <a:ea typeface="DejaVu Sans"/>
                <a:cs typeface="DejaVu Sans"/>
              </a:defRPr>
            </a:lvl7pPr>
            <a:lvl8pPr algn="l">
              <a:buNone/>
              <a:defRPr sz="2325" b="0">
                <a:solidFill>
                  <a:srgbClr val="FFFFFF"/>
                </a:solidFill>
                <a:latin typeface="DejaVu Sans"/>
                <a:ea typeface="DejaVu Sans"/>
                <a:cs typeface="DejaVu Sans"/>
              </a:defRPr>
            </a:lvl8pPr>
            <a:lvl9pPr algn="l">
              <a:buNone/>
              <a:defRPr sz="2325" b="0">
                <a:solidFill>
                  <a:srgbClr val="FFFFFF"/>
                </a:solidFill>
                <a:latin typeface="DejaVu Sans"/>
                <a:ea typeface="DejaVu Sans"/>
                <a:cs typeface="DejaVu Sans"/>
              </a:defRPr>
            </a:lvl9pPr>
          </a:lstStyle>
          <a:p xmlns:a="http://schemas.openxmlformats.org/drawingml/2006/main">
            <a:pPr algn="l">
              <a:buNone/>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2. Resolver observaciones, aceptar e integrar el incremento.</a:t>
            </a:r>
          </a:p>
        </p:txBody>
      </p:sp>
      <p:sp>
        <p:nvSpPr>
          <p:cNvPr id="7" name="3. Desplegar con respaldo y comprobar los flujos por ro">
            <a:extLst xmlns:a="http://schemas.openxmlformats.org/drawingml/2006/main">
              <a:ext uri="{FF2B5EF4-FFF2-40B4-BE49-F238E27FC236}">
                <a16:creationId xmlns:a16="http://schemas.microsoft.com/office/drawing/2014/main" id="{0D6C44EF-46C2-42F6-9B56-EF3303B5DAFF}"/>
              </a:ext>
            </a:extLst>
          </p:cNvPr>
          <p:cNvSpPr>
            <a:spLocks xmlns:a="http://schemas.openxmlformats.org/drawingml/2006/main" noGrp="1"/>
          </p:cNvSpPr>
          <p:nvPr/>
        </p:nvSpPr>
        <p:spPr>
          <a:xfrm xmlns:a="http://schemas.openxmlformats.org/drawingml/2006/main">
            <a:off x="609600" y="37814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FFFFF"/>
                </a:solidFill>
                <a:latin typeface="Helvetica Neue"/>
                <a:ea typeface="Helvetica Neue"/>
                <a:cs typeface="Helvetica Neue"/>
              </a:defRPr>
            </a:defPPr>
            <a:lvl1pPr algn="l">
              <a:buNone/>
              <a:defRPr sz="2325" b="0">
                <a:solidFill>
                  <a:srgbClr val="FFFFFF"/>
                </a:solidFill>
                <a:latin typeface="DejaVu Sans"/>
                <a:ea typeface="DejaVu Sans"/>
                <a:cs typeface="DejaVu Sans"/>
              </a:defRPr>
            </a:lvl1pPr>
            <a:lvl2pPr algn="l">
              <a:buNone/>
              <a:defRPr sz="2325" b="0">
                <a:solidFill>
                  <a:srgbClr val="FFFFFF"/>
                </a:solidFill>
                <a:latin typeface="DejaVu Sans"/>
                <a:ea typeface="DejaVu Sans"/>
                <a:cs typeface="DejaVu Sans"/>
              </a:defRPr>
            </a:lvl2pPr>
            <a:lvl3pPr algn="l">
              <a:buNone/>
              <a:defRPr sz="2325" b="0">
                <a:solidFill>
                  <a:srgbClr val="FFFFFF"/>
                </a:solidFill>
                <a:latin typeface="DejaVu Sans"/>
                <a:ea typeface="DejaVu Sans"/>
                <a:cs typeface="DejaVu Sans"/>
              </a:defRPr>
            </a:lvl3pPr>
            <a:lvl4pPr algn="l">
              <a:buNone/>
              <a:defRPr sz="2325" b="0">
                <a:solidFill>
                  <a:srgbClr val="FFFFFF"/>
                </a:solidFill>
                <a:latin typeface="DejaVu Sans"/>
                <a:ea typeface="DejaVu Sans"/>
                <a:cs typeface="DejaVu Sans"/>
              </a:defRPr>
            </a:lvl4pPr>
            <a:lvl5pPr algn="l">
              <a:buNone/>
              <a:defRPr sz="2325" b="0">
                <a:solidFill>
                  <a:srgbClr val="FFFFFF"/>
                </a:solidFill>
                <a:latin typeface="DejaVu Sans"/>
                <a:ea typeface="DejaVu Sans"/>
                <a:cs typeface="DejaVu Sans"/>
              </a:defRPr>
            </a:lvl5pPr>
            <a:lvl6pPr algn="l">
              <a:buNone/>
              <a:defRPr sz="2325" b="0">
                <a:solidFill>
                  <a:srgbClr val="FFFFFF"/>
                </a:solidFill>
                <a:latin typeface="DejaVu Sans"/>
                <a:ea typeface="DejaVu Sans"/>
                <a:cs typeface="DejaVu Sans"/>
              </a:defRPr>
            </a:lvl6pPr>
            <a:lvl7pPr algn="l">
              <a:buNone/>
              <a:defRPr sz="2325" b="0">
                <a:solidFill>
                  <a:srgbClr val="FFFFFF"/>
                </a:solidFill>
                <a:latin typeface="DejaVu Sans"/>
                <a:ea typeface="DejaVu Sans"/>
                <a:cs typeface="DejaVu Sans"/>
              </a:defRPr>
            </a:lvl7pPr>
            <a:lvl8pPr algn="l">
              <a:buNone/>
              <a:defRPr sz="2325" b="0">
                <a:solidFill>
                  <a:srgbClr val="FFFFFF"/>
                </a:solidFill>
                <a:latin typeface="DejaVu Sans"/>
                <a:ea typeface="DejaVu Sans"/>
                <a:cs typeface="DejaVu Sans"/>
              </a:defRPr>
            </a:lvl8pPr>
            <a:lvl9pPr algn="l">
              <a:buNone/>
              <a:defRPr sz="2325" b="0">
                <a:solidFill>
                  <a:srgbClr val="FFFFFF"/>
                </a:solidFill>
                <a:latin typeface="DejaVu Sans"/>
                <a:ea typeface="DejaVu Sans"/>
                <a:cs typeface="DejaVu Sans"/>
              </a:defRPr>
            </a:lvl9pPr>
          </a:lstStyle>
          <a:p xmlns:a="http://schemas.openxmlformats.org/drawingml/2006/main">
            <a:pPr algn="l">
              <a:buNone/>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3. Desplegar con respaldo y comprobar los flujos por rol.</a:t>
            </a:r>
          </a:p>
        </p:txBody>
      </p:sp>
      <p:sp>
        <p:nvSpPr>
          <p:cNvPr id="8" name="4. Completar pendientes históricos y formularios indivi">
            <a:extLst xmlns:a="http://schemas.openxmlformats.org/drawingml/2006/main">
              <a:ext uri="{FF2B5EF4-FFF2-40B4-BE49-F238E27FC236}">
                <a16:creationId xmlns:a16="http://schemas.microsoft.com/office/drawing/2014/main" id="{B3D90523-0C2B-4655-A920-95C184CDF42C}"/>
              </a:ext>
            </a:extLst>
          </p:cNvPr>
          <p:cNvSpPr>
            <a:spLocks xmlns:a="http://schemas.openxmlformats.org/drawingml/2006/main" noGrp="1"/>
          </p:cNvSpPr>
          <p:nvPr/>
        </p:nvSpPr>
        <p:spPr>
          <a:xfrm xmlns:a="http://schemas.openxmlformats.org/drawingml/2006/main">
            <a:off x="609600" y="4648200"/>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FFFFF"/>
                </a:solidFill>
                <a:latin typeface="Helvetica Neue"/>
                <a:ea typeface="Helvetica Neue"/>
                <a:cs typeface="Helvetica Neue"/>
              </a:defRPr>
            </a:defPPr>
            <a:lvl1pPr algn="l">
              <a:buNone/>
              <a:defRPr sz="2325" b="0">
                <a:solidFill>
                  <a:srgbClr val="FFFFFF"/>
                </a:solidFill>
                <a:latin typeface="DejaVu Sans"/>
                <a:ea typeface="DejaVu Sans"/>
                <a:cs typeface="DejaVu Sans"/>
              </a:defRPr>
            </a:lvl1pPr>
            <a:lvl2pPr algn="l">
              <a:buNone/>
              <a:defRPr sz="2325" b="0">
                <a:solidFill>
                  <a:srgbClr val="FFFFFF"/>
                </a:solidFill>
                <a:latin typeface="DejaVu Sans"/>
                <a:ea typeface="DejaVu Sans"/>
                <a:cs typeface="DejaVu Sans"/>
              </a:defRPr>
            </a:lvl2pPr>
            <a:lvl3pPr algn="l">
              <a:buNone/>
              <a:defRPr sz="2325" b="0">
                <a:solidFill>
                  <a:srgbClr val="FFFFFF"/>
                </a:solidFill>
                <a:latin typeface="DejaVu Sans"/>
                <a:ea typeface="DejaVu Sans"/>
                <a:cs typeface="DejaVu Sans"/>
              </a:defRPr>
            </a:lvl3pPr>
            <a:lvl4pPr algn="l">
              <a:buNone/>
              <a:defRPr sz="2325" b="0">
                <a:solidFill>
                  <a:srgbClr val="FFFFFF"/>
                </a:solidFill>
                <a:latin typeface="DejaVu Sans"/>
                <a:ea typeface="DejaVu Sans"/>
                <a:cs typeface="DejaVu Sans"/>
              </a:defRPr>
            </a:lvl4pPr>
            <a:lvl5pPr algn="l">
              <a:buNone/>
              <a:defRPr sz="2325" b="0">
                <a:solidFill>
                  <a:srgbClr val="FFFFFF"/>
                </a:solidFill>
                <a:latin typeface="DejaVu Sans"/>
                <a:ea typeface="DejaVu Sans"/>
                <a:cs typeface="DejaVu Sans"/>
              </a:defRPr>
            </a:lvl5pPr>
            <a:lvl6pPr algn="l">
              <a:buNone/>
              <a:defRPr sz="2325" b="0">
                <a:solidFill>
                  <a:srgbClr val="FFFFFF"/>
                </a:solidFill>
                <a:latin typeface="DejaVu Sans"/>
                <a:ea typeface="DejaVu Sans"/>
                <a:cs typeface="DejaVu Sans"/>
              </a:defRPr>
            </a:lvl6pPr>
            <a:lvl7pPr algn="l">
              <a:buNone/>
              <a:defRPr sz="2325" b="0">
                <a:solidFill>
                  <a:srgbClr val="FFFFFF"/>
                </a:solidFill>
                <a:latin typeface="DejaVu Sans"/>
                <a:ea typeface="DejaVu Sans"/>
                <a:cs typeface="DejaVu Sans"/>
              </a:defRPr>
            </a:lvl7pPr>
            <a:lvl8pPr algn="l">
              <a:buNone/>
              <a:defRPr sz="2325" b="0">
                <a:solidFill>
                  <a:srgbClr val="FFFFFF"/>
                </a:solidFill>
                <a:latin typeface="DejaVu Sans"/>
                <a:ea typeface="DejaVu Sans"/>
                <a:cs typeface="DejaVu Sans"/>
              </a:defRPr>
            </a:lvl8pPr>
            <a:lvl9pPr algn="l">
              <a:buNone/>
              <a:defRPr sz="2325" b="0">
                <a:solidFill>
                  <a:srgbClr val="FFFFFF"/>
                </a:solidFill>
                <a:latin typeface="DejaVu Sans"/>
                <a:ea typeface="DejaVu Sans"/>
                <a:cs typeface="DejaVu Sans"/>
              </a:defRPr>
            </a:lvl9pPr>
          </a:lstStyle>
          <a:p xmlns:a="http://schemas.openxmlformats.org/drawingml/2006/main">
            <a:pPr algn="l">
              <a:buNone/>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4. Completar pendientes históricos y formularios individuales.</a:t>
            </a:r>
          </a:p>
        </p:txBody>
      </p:sp>
      <p:sp>
        <p:nvSpPr>
          <p:cNvPr id="9" name="Repositorio: github.com/joellopez775/SIGAA-Capstone-202">
            <a:extLst xmlns:a="http://schemas.openxmlformats.org/drawingml/2006/main">
              <a:ext uri="{FF2B5EF4-FFF2-40B4-BE49-F238E27FC236}">
                <a16:creationId xmlns:a16="http://schemas.microsoft.com/office/drawing/2014/main" id="{06A6DCB0-29BF-4DA6-BFB2-3B6504B2F2DD}"/>
              </a:ext>
            </a:extLst>
          </p:cNvPr>
          <p:cNvSpPr>
            <a:spLocks xmlns:a="http://schemas.openxmlformats.org/drawingml/2006/main" noGrp="1"/>
          </p:cNvSpPr>
          <p:nvPr/>
        </p:nvSpPr>
        <p:spPr>
          <a:xfrm xmlns:a="http://schemas.openxmlformats.org/drawingml/2006/main">
            <a:off x="609600" y="58293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D9BC7A"/>
                </a:solidFill>
                <a:latin typeface="Helvetica Neue"/>
                <a:ea typeface="Helvetica Neue"/>
                <a:cs typeface="Helvetica Neue"/>
              </a:defRPr>
            </a:defPPr>
            <a:lvl1pPr algn="l">
              <a:buNone/>
              <a:defRPr sz="1575" b="0">
                <a:solidFill>
                  <a:srgbClr val="D9BC7A"/>
                </a:solidFill>
                <a:latin typeface="DejaVu Sans"/>
                <a:ea typeface="DejaVu Sans"/>
                <a:cs typeface="DejaVu Sans"/>
              </a:defRPr>
            </a:lvl1pPr>
            <a:lvl2pPr algn="l">
              <a:buNone/>
              <a:defRPr sz="1575" b="0">
                <a:solidFill>
                  <a:srgbClr val="D9BC7A"/>
                </a:solidFill>
                <a:latin typeface="DejaVu Sans"/>
                <a:ea typeface="DejaVu Sans"/>
                <a:cs typeface="DejaVu Sans"/>
              </a:defRPr>
            </a:lvl2pPr>
            <a:lvl3pPr algn="l">
              <a:buNone/>
              <a:defRPr sz="1575" b="0">
                <a:solidFill>
                  <a:srgbClr val="D9BC7A"/>
                </a:solidFill>
                <a:latin typeface="DejaVu Sans"/>
                <a:ea typeface="DejaVu Sans"/>
                <a:cs typeface="DejaVu Sans"/>
              </a:defRPr>
            </a:lvl3pPr>
            <a:lvl4pPr algn="l">
              <a:buNone/>
              <a:defRPr sz="1575" b="0">
                <a:solidFill>
                  <a:srgbClr val="D9BC7A"/>
                </a:solidFill>
                <a:latin typeface="DejaVu Sans"/>
                <a:ea typeface="DejaVu Sans"/>
                <a:cs typeface="DejaVu Sans"/>
              </a:defRPr>
            </a:lvl4pPr>
            <a:lvl5pPr algn="l">
              <a:buNone/>
              <a:defRPr sz="1575" b="0">
                <a:solidFill>
                  <a:srgbClr val="D9BC7A"/>
                </a:solidFill>
                <a:latin typeface="DejaVu Sans"/>
                <a:ea typeface="DejaVu Sans"/>
                <a:cs typeface="DejaVu Sans"/>
              </a:defRPr>
            </a:lvl5pPr>
            <a:lvl6pPr algn="l">
              <a:buNone/>
              <a:defRPr sz="1575" b="0">
                <a:solidFill>
                  <a:srgbClr val="D9BC7A"/>
                </a:solidFill>
                <a:latin typeface="DejaVu Sans"/>
                <a:ea typeface="DejaVu Sans"/>
                <a:cs typeface="DejaVu Sans"/>
              </a:defRPr>
            </a:lvl6pPr>
            <a:lvl7pPr algn="l">
              <a:buNone/>
              <a:defRPr sz="1575" b="0">
                <a:solidFill>
                  <a:srgbClr val="D9BC7A"/>
                </a:solidFill>
                <a:latin typeface="DejaVu Sans"/>
                <a:ea typeface="DejaVu Sans"/>
                <a:cs typeface="DejaVu Sans"/>
              </a:defRPr>
            </a:lvl7pPr>
            <a:lvl8pPr algn="l">
              <a:buNone/>
              <a:defRPr sz="1575" b="0">
                <a:solidFill>
                  <a:srgbClr val="D9BC7A"/>
                </a:solidFill>
                <a:latin typeface="DejaVu Sans"/>
                <a:ea typeface="DejaVu Sans"/>
                <a:cs typeface="DejaVu Sans"/>
              </a:defRPr>
            </a:lvl8pPr>
            <a:lvl9pPr algn="l">
              <a:buNone/>
              <a:defRPr sz="1575" b="0">
                <a:solidFill>
                  <a:srgbClr val="D9BC7A"/>
                </a:solidFill>
                <a:latin typeface="DejaVu Sans"/>
                <a:ea typeface="DejaVu Sans"/>
                <a:cs typeface="DejaVu Sans"/>
              </a:defRPr>
            </a:lvl9pPr>
          </a:lstStyle>
          <a:p xmlns:a="http://schemas.openxmlformats.org/drawingml/2006/main">
            <a:pPr algn="l">
              <a:buNone/>
              <a:defRPr sz="1575" b="0">
                <a:solidFill>
                  <a:srgbClr val="D9BC7A"/>
                </a:solidFill>
                <a:latin typeface="Helvetica Neue"/>
                <a:ea typeface="Helvetica Neue"/>
                <a:cs typeface="Helvetica Neue"/>
              </a:defRPr>
            </a:pPr>
            <a:r>
              <a:rPr sz="1575" b="0">
                <a:solidFill>
                  <a:srgbClr val="D9BC7A"/>
                </a:solidFill>
                <a:latin typeface="Helvetica Neue"/>
                <a:ea typeface="Helvetica Neue"/>
                <a:cs typeface="Helvetica Neue"/>
              </a:rPr>
              <a:t>Repositorio: github.com/joellopez775/SIGAA-Capstone-2026</a:t>
            </a:r>
          </a:p>
        </p:txBody>
      </p:sp>
    </p:spTree>
    <p:extLst>
      <p:ext uri="{BB962C8B-B14F-4D97-AF65-F5344CB8AC3E}">
        <p14:creationId xmlns:p14="http://schemas.microsoft.com/office/powerpoint/2010/main" val="221891420"/>
      </p:ext>
    </p:extLst>
  </p:cSld>
</p:sld>
</file>

<file path=ppt/theme/theme1.xml><?xml version="1.0" encoding="utf-8"?>
<a:theme xmlns:a="http://schemas.openxmlformats.org/drawingml/2006/main" name="SIGAA">
  <a:themeElements>
    <a:clrScheme name="SIGAA">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SIGAA">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Application>SIGAA</ns0:Application>
  <ns0:PresentationFormat>Presentación de avance</ns0:PresentationFormat>
  <ns0:Slides>18</ns0:Slides>
  <ns0:Notes>18</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creator>SIGAA</dc:creator>
  <ns0:lastModifiedBy>SIGAA</ns0:lastModifiedBy>
  <dc:title>Avance del proyecto SIGAA</dc:title>
  <ns2:created xsi:type="dcterms:W3CDTF">2026-10-29T00:11:49.3400000Z</ns2:created>
  <ns2:modified xsi:type="dcterms:W3CDTF">2026-10-29T00:11:49.3400000Z</ns2:modified>
</ns0:coreProperties>
</file>