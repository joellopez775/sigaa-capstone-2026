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fc5e0831d4f60" /><Relationship Type="http://schemas.openxmlformats.org/officeDocument/2006/relationships/extended-properties" Target="/docProps/app.xml" Id="R5ad054fe5ba44ccd" /><Relationship Type="http://schemas.openxmlformats.org/officeDocument/2006/relationships/officeDocument" Target="/ppt/presentation.xml" Id="R10cf558aed7e44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e304e23dc14ead"/>
  </p:sldMasterIdLst>
  <p:notesMasterIdLst>
    <p:notesMasterId xmlns:r="http://schemas.openxmlformats.org/officeDocument/2006/relationships" r:id="Re4a2a50378474533"/>
  </p:notesMasterIdLst>
  <p:sldIdLst>
    <p:sldId xmlns:r="http://schemas.openxmlformats.org/officeDocument/2006/relationships" id="256" r:id="Rd8dce7ba17214585"/>
    <p:sldId xmlns:r="http://schemas.openxmlformats.org/officeDocument/2006/relationships" id="257" r:id="Raf52d169b096485a"/>
    <p:sldId xmlns:r="http://schemas.openxmlformats.org/officeDocument/2006/relationships" id="258" r:id="Rd0fbea3d123e4db9"/>
    <p:sldId xmlns:r="http://schemas.openxmlformats.org/officeDocument/2006/relationships" id="259" r:id="Raed63d82eac849bb"/>
    <p:sldId xmlns:r="http://schemas.openxmlformats.org/officeDocument/2006/relationships" id="260" r:id="R6f5f2df231574877"/>
    <p:sldId xmlns:r="http://schemas.openxmlformats.org/officeDocument/2006/relationships" id="261" r:id="R2265e7f041504fcb"/>
    <p:sldId xmlns:r="http://schemas.openxmlformats.org/officeDocument/2006/relationships" id="262" r:id="R7bd8b4479eb04f86"/>
    <p:sldId xmlns:r="http://schemas.openxmlformats.org/officeDocument/2006/relationships" id="263" r:id="Rbf66ed3594534945"/>
    <p:sldId xmlns:r="http://schemas.openxmlformats.org/officeDocument/2006/relationships" id="264" r:id="R07918129ad804fbe"/>
    <p:sldId xmlns:r="http://schemas.openxmlformats.org/officeDocument/2006/relationships" id="265" r:id="R617db3609e5f4d4a"/>
    <p:sldId xmlns:r="http://schemas.openxmlformats.org/officeDocument/2006/relationships" id="266" r:id="R30d31d35ac034a56"/>
    <p:sldId xmlns:r="http://schemas.openxmlformats.org/officeDocument/2006/relationships" id="267" r:id="R946ca0356ed44788"/>
    <p:sldId xmlns:r="http://schemas.openxmlformats.org/officeDocument/2006/relationships" id="268" r:id="Rfd2e708cd95a4190"/>
    <p:sldId xmlns:r="http://schemas.openxmlformats.org/officeDocument/2006/relationships" id="269" r:id="R861232bcdfb24934"/>
    <p:sldId xmlns:r="http://schemas.openxmlformats.org/officeDocument/2006/relationships" id="270" r:id="Rdf01ad3ccca64dbc"/>
    <p:sldId xmlns:r="http://schemas.openxmlformats.org/officeDocument/2006/relationships" id="271" r:id="R2ffc130881f3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b3498c66343e4" /><Relationship Type="http://schemas.openxmlformats.org/officeDocument/2006/relationships/slideMaster" Target="/ppt/slideMasters/slideMaster1.xml" Id="R1be304e23dc14ead" /><Relationship Type="http://schemas.openxmlformats.org/officeDocument/2006/relationships/notesMaster" Target="/ppt/notesMasters/notesMaster1.xml" Id="Re4a2a50378474533" /><Relationship Type="http://schemas.openxmlformats.org/officeDocument/2006/relationships/presProps" Target="/ppt/presProps.xml" Id="R7870e0d2c35448e8" /><Relationship Type="http://schemas.openxmlformats.org/officeDocument/2006/relationships/tableStyles" Target="/ppt/tableStyles.xml" Id="R4f1297c2fd664451" /><Relationship Type="http://schemas.openxmlformats.org/officeDocument/2006/relationships/slide" Target="/ppt/slides/slide1.xml" Id="Rd8dce7ba17214585" /><Relationship Type="http://schemas.openxmlformats.org/officeDocument/2006/relationships/slide" Target="/ppt/slides/slide2.xml" Id="Raf52d169b096485a" /><Relationship Type="http://schemas.openxmlformats.org/officeDocument/2006/relationships/slide" Target="/ppt/slides/slide3.xml" Id="Rd0fbea3d123e4db9" /><Relationship Type="http://schemas.openxmlformats.org/officeDocument/2006/relationships/slide" Target="/ppt/slides/slide4.xml" Id="Raed63d82eac849bb" /><Relationship Type="http://schemas.openxmlformats.org/officeDocument/2006/relationships/slide" Target="/ppt/slides/slide5.xml" Id="R6f5f2df231574877" /><Relationship Type="http://schemas.openxmlformats.org/officeDocument/2006/relationships/slide" Target="/ppt/slides/slide6.xml" Id="R2265e7f041504fcb" /><Relationship Type="http://schemas.openxmlformats.org/officeDocument/2006/relationships/slide" Target="/ppt/slides/slide7.xml" Id="R7bd8b4479eb04f86" /><Relationship Type="http://schemas.openxmlformats.org/officeDocument/2006/relationships/slide" Target="/ppt/slides/slide8.xml" Id="Rbf66ed3594534945" /><Relationship Type="http://schemas.openxmlformats.org/officeDocument/2006/relationships/slide" Target="/ppt/slides/slide9.xml" Id="R07918129ad804fbe" /><Relationship Type="http://schemas.openxmlformats.org/officeDocument/2006/relationships/slide" Target="/ppt/slides/slide10.xml" Id="R617db3609e5f4d4a" /><Relationship Type="http://schemas.openxmlformats.org/officeDocument/2006/relationships/slide" Target="/ppt/slides/slide11.xml" Id="R30d31d35ac034a56" /><Relationship Type="http://schemas.openxmlformats.org/officeDocument/2006/relationships/slide" Target="/ppt/slides/slide12.xml" Id="R946ca0356ed44788" /><Relationship Type="http://schemas.openxmlformats.org/officeDocument/2006/relationships/slide" Target="/ppt/slides/slide13.xml" Id="Rfd2e708cd95a4190" /><Relationship Type="http://schemas.openxmlformats.org/officeDocument/2006/relationships/slide" Target="/ppt/slides/slide14.xml" Id="R861232bcdfb24934" /><Relationship Type="http://schemas.openxmlformats.org/officeDocument/2006/relationships/slide" Target="/ppt/slides/slide15.xml" Id="Rdf01ad3ccca64dbc" /><Relationship Type="http://schemas.openxmlformats.org/officeDocument/2006/relationships/slide" Target="/ppt/slides/slide16.xml" Id="R2ffc130881f3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0cbde9c15443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140a4198b4775" /><Relationship Type="http://schemas.openxmlformats.org/officeDocument/2006/relationships/notesMaster" Target="/ppt/notesMasters/notesMaster1.xml" Id="R9167dca567d541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c6a8d424d54691" /><Relationship Type="http://schemas.openxmlformats.org/officeDocument/2006/relationships/notesMaster" Target="/ppt/notesMasters/notesMaster1.xml" Id="R8612bf9a9ff047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244b2256a4e51" /><Relationship Type="http://schemas.openxmlformats.org/officeDocument/2006/relationships/notesMaster" Target="/ppt/notesMasters/notesMaster1.xml" Id="Rdde4ff1f3ed24d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09876513be4c20" /><Relationship Type="http://schemas.openxmlformats.org/officeDocument/2006/relationships/notesMaster" Target="/ppt/notesMasters/notesMaster1.xml" Id="Rb70b6c55c865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234a20f00b41fe" /><Relationship Type="http://schemas.openxmlformats.org/officeDocument/2006/relationships/notesMaster" Target="/ppt/notesMasters/notesMaster1.xml" Id="R350882b29665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a697eee95a499c" /><Relationship Type="http://schemas.openxmlformats.org/officeDocument/2006/relationships/notesMaster" Target="/ppt/notesMasters/notesMaster1.xml" Id="Rfc9c64f65a6843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f7b5374e64e9e" /><Relationship Type="http://schemas.openxmlformats.org/officeDocument/2006/relationships/notesMaster" Target="/ppt/notesMasters/notesMaster1.xml" Id="R179e08b3662e49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9dfd9251ec47e7" /><Relationship Type="http://schemas.openxmlformats.org/officeDocument/2006/relationships/notesMaster" Target="/ppt/notesMasters/notesMaster1.xml" Id="Ree5a9bde6e4c47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e912df244f495f" /><Relationship Type="http://schemas.openxmlformats.org/officeDocument/2006/relationships/notesMaster" Target="/ppt/notesMasters/notesMaster1.xml" Id="R7282f764501f44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c1661f9bff4c8b" /><Relationship Type="http://schemas.openxmlformats.org/officeDocument/2006/relationships/notesMaster" Target="/ppt/notesMasters/notesMaster1.xml" Id="R0287c7156a404a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b5390d35a44e91" /><Relationship Type="http://schemas.openxmlformats.org/officeDocument/2006/relationships/notesMaster" Target="/ppt/notesMasters/notesMaster1.xml" Id="R14041f87961940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c1f485f1c246dd" /><Relationship Type="http://schemas.openxmlformats.org/officeDocument/2006/relationships/notesMaster" Target="/ppt/notesMasters/notesMaster1.xml" Id="R7a3a9744f56d44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6d865b763d4132" /><Relationship Type="http://schemas.openxmlformats.org/officeDocument/2006/relationships/notesMaster" Target="/ppt/notesMasters/notesMaster1.xml" Id="R46e3df1d24734d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aaa753fe434744" /><Relationship Type="http://schemas.openxmlformats.org/officeDocument/2006/relationships/notesMaster" Target="/ppt/notesMasters/notesMaster1.xml" Id="Rbd23e8b953ac4e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d089a45c594c44" /><Relationship Type="http://schemas.openxmlformats.org/officeDocument/2006/relationships/notesMaster" Target="/ppt/notesMasters/notesMaster1.xml" Id="R4b431b6c54fb48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060b93439ee4bf3" /><Relationship Type="http://schemas.openxmlformats.org/officeDocument/2006/relationships/notesMaster" Target="/ppt/notesMasters/notesMaster1.xml" Id="Rd88594a80835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general de avance del proyecto SIGAA para colegios y liceos. Equipo: Joel, Matías y Agustín. Joel ejerce la responsabilidad del producto. No distribuye autorías individuales de implementaciones.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último despliegue documentado corresponde al incremento 0.8.0. No se verificó el servidor público en este corte. La solicitud de integración #1 está abierta y la rama principal no incluye aún el incremento.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https://github.com/joellopez775/SIGAA-Capstone-2026/pull/1</a:t>
            </a:r>
          </a:p>
          <a:p xmlns:a="http://schemas.openxmlformats.org/drawingml/2006/main">
            <a:r>
              <a:t>https://sigaa-duoc-2026.atlassian.net/browse/SCRUM-35</a:t>
            </a:r>
          </a:p>
          <a:p xmlns:a="http://schemas.openxmlformats.org/drawingml/2006/main">
            <a:r>
              <a:t>https://sigaa-duoc-2026.atlassian.net/browse/SCRUM-36</a:t>
            </a:r>
          </a:p>
          <a:p xmlns:a="http://schemas.openxmlformats.org/drawingml/2006/main">
            <a:r>
              <a:t>https://sigaa-duoc-2026.atlassian.net/browse/SCRUM-48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Resumen funcional acumulado según pruebas del servidor y evidencia de navegador. La ficha no expone datos de otros estudiantes. Las funciones del docente requieren asignación vigente a cursos.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https://github.com/joellopez775/SIGAA-Capstone-2026/tree/feature/sprint-5-seguimiento/Fase%202/Evidencias%20Proyecto/SIGAA/apps</a:t>
            </a:r>
          </a:p>
          <a:p xmlns:a="http://schemas.openxmlformats.org/drawingml/2006/main">
            <a:r>
              <a:t>https://sigaa-duoc-2026.atlassian.net/browse/SCRUM-24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Versiones fijadas en el repositorio: React 19.2.8, Vite 8.2.4 y Express 5.2.1. Docker/PostgreSQL 16 sigue pendiente de validación para este incremento. Cloudflare describe la arquitectura documentada, no una nueva prueba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https://github.com/joellopez775/SIGAA-Capstone-2026/tree/feature/sprint-5-seguimiento/Fase%202/Evidencias%20Proyecto/SIGAA</a:t>
            </a:r>
          </a:p>
          <a:p xmlns:a="http://schemas.openxmlformats.org/drawingml/2006/main">
            <a:r>
              <a:t>https://sigaa-duoc-2026.atlassian.net/browse/SCRUM-26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fechas administrativas de sprints históricos en Jira no son fechas reales de ejecución. Permanecen historias abiertas que deben conciliarse con evidencia y aprobación. Las anotaciones también forman parte de la operación académica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https://sigaa-duoc-2026.atlassian.net/browse/SCRUM-18</a:t>
            </a:r>
          </a:p>
          <a:p xmlns:a="http://schemas.openxmlformats.org/drawingml/2006/main">
            <a:r>
              <a:t>https://sigaa-duoc-2026.atlassian.net/browse/SCRUM-21</a:t>
            </a:r>
          </a:p>
          <a:p xmlns:a="http://schemas.openxmlformats.org/drawingml/2006/main">
            <a:r>
              <a:t>https://sigaa-duoc-2026.atlassian.net/browse/SCRUM-23</a:t>
            </a:r>
          </a:p>
          <a:p xmlns:a="http://schemas.openxmlformats.org/drawingml/2006/main">
            <a:r>
              <a:t>https://sigaa-duoc-2026.atlassian.net/browse/SCRUM-29</a:t>
            </a:r>
          </a:p>
          <a:p xmlns:a="http://schemas.openxmlformats.org/drawingml/2006/main">
            <a:r>
              <a:t>https://sigaa-duoc-2026.atlassian.net/browse/SCRUM-49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implementado con validación de alcance, resultado obligatorio para cerrar y control de modificaciones concurrentes. Historia en revisión, sin aceptación ni despliegue. Imagen original de pruebas locales del 28 de octubre.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https://sigaa-duoc-2026.atlassian.net/browse/SCRUM-35</a:t>
            </a:r>
          </a:p>
          <a:p xmlns:a="http://schemas.openxmlformats.org/drawingml/2006/main">
            <a:r>
              <a:t>https://github.com/joellopez775/SIGAA-Capstone-2026/blob/feature/sprint-5-seguimiento/Fase%202/Evidencias%20Proyecto/SIGAA/output/evidence/sprint-5/validation.json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 e Inspectoría pueden gestionar registros. Dirección tiene consulta. Los docentes no acceden al registro de contactos completo. La captura usa datos sintéticos. No incluye notificaciones.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https://sigaa-duoc-2026.atlassian.net/browse/SCRUM-48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ficha conserva controles de privacidad de anotaciones y alcance de cursos. La imagen es evidencia sintética de Inspectoría en móvil. La integración y el despliegue están pendientes.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https://sigaa-duoc-2026.atlassian.net/browse/SCRUM-36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validation.json. Las 13 pruebas específicas de seguimiento son parte de las 57 pruebas de integración, no adicionales. Entorno Node 22.22, PostgreSQL 14 aislado y Chromium con datos sintéticos. No representa auditoría de seguridad completa ni aprobación del 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https://github.com/joellopez775/SIGAA-Capstone-2026/blob/feature/sprint-5-seguimiento/Fase%202/Evidencias%20Proyecto/SIGAA/output/evidence/sprint-5/validation.json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Consulta de 40 historias PB, SCRUM-13 a SCRUM-52. Dos terminadas: arquitectura y adaptación al dominio escolar. No hay duplicación de puntos de subtareas. Las 25 historias en revisión requieren aceptación. Sprint 5 incluye casos (8 puntos), apoderados (5), ficha (8) y notificaciones (5).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https://github.com/joellopez775/SIGAA-Capstone-2026/blob/feature/sprint-5-seguimiento/Fase%202/Evidencias%20Proyecto/SIGAA/output/evidence/actualizacion-2026-10-28.json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Obligatorios: SCRUM-21, SCRUM-51, SCRUM-52, SCRUM-40 y SCRUM-41. Según capacidad: SCRUM-37 (notificaciones) y SCRUM-38 (indicadores). Importación (SCRUM-30) y exportación (SCRUM-39) sin fecha comprometida. Las funcionalidades opcionales no se consideran eliminadas del alcance automáticamente.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https://sigaa-duoc-2026.atlassian.net/browse/SCRUM-40</a:t>
            </a:r>
          </a:p>
          <a:p xmlns:a="http://schemas.openxmlformats.org/drawingml/2006/main">
            <a:r>
              <a:t>https://sigaa-duoc-2026.atlassian.net/browse/SCRUM-41</a:t>
            </a:r>
          </a:p>
          <a:p xmlns:a="http://schemas.openxmlformats.org/drawingml/2006/main">
            <a:r>
              <a:t>https://sigaa-duoc-2026.atlassian.net/browse/SCRUM-37</a:t>
            </a:r>
          </a:p>
          <a:p xmlns:a="http://schemas.openxmlformats.org/drawingml/2006/main">
            <a:r>
              <a:t>https://sigaa-duoc-2026.atlassian.net/browse/SCRUM-38</a:t>
            </a:r>
          </a:p>
          <a:p xmlns:a="http://schemas.openxmlformats.org/drawingml/2006/main">
            <a:r>
              <a:t>https://sigaa-duoc-2026.atlassian.net/browse/SCRUM-30</a:t>
            </a:r>
          </a:p>
          <a:p xmlns:a="http://schemas.openxmlformats.org/drawingml/2006/main">
            <a:r>
              <a:t>https://sigaa-duoc-2026.atlassian.net/browse/SCRUM-39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 DE ENTREGAS.md: faltan diarios auténticos de SIGAA, adaptación de autoevaluación de Matías, revisión de otras autoevaluaciones, guía 2.4 y formularios oficiales, planillas evaluadas e informe 2.6 cuando corresponda. Sprint 5 tiene tres PDF técnicos. Ninguno sustituye evidencia individual ni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https://github.com/joellopez775/SIGAA-Capstone-2026/blob/feature/sprint-5-seguimiento/ESTADO%20DE%20ENTREGAS.md</a:t>
            </a:r>
          </a:p>
          <a:p xmlns:a="http://schemas.openxmlformats.org/drawingml/2006/main">
            <a:r>
              <a:t>https://sigaa-duoc-2026.atlassian.net/browse/SCRUM-43</a:t>
            </a:r>
          </a:p>
          <a:p xmlns:a="http://schemas.openxmlformats.org/drawingml/2006/main">
            <a:r>
              <a:t>https://sigaa-duoc-2026.atlassian.net/browse/SCRUM-44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Sprint 5 planificado del 19 al 31 de octubre y activado el 28. Sprint 6 (id 40): 2–14 de noviembre. Sprint 7 (id 39): 16–28 de noviembre. SCRUM-45: entrega del 16 al 21 de noviembre. SCRUM-46: preparación desde el 23 de noviembre y defensa entre el 30 de noviembre y el 12 de diciembre. Estas fechas no prueban actividades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https://sigaa-duoc-2026.atlassian.net/browse/SCRUM-45</a:t>
            </a:r>
          </a:p>
          <a:p xmlns:a="http://schemas.openxmlformats.org/drawingml/2006/main">
            <a:r>
              <a:t>https://sigaa-duoc-2026.atlassian.net/browse/SCRUM-46</a:t>
            </a:r>
          </a:p>
          <a:p xmlns:a="http://schemas.openxmlformats.org/drawingml/2006/main">
            <a:r>
              <a:t>https://sigaa-duoc-2026.atlassian.net/browse/SCRUM-41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Reparto propuesto para equilibrar programación, pruebas y documentación. No atribuye trabajo pasado ni modifica responsables en Jira. Cada integrante debe completar y validar sus propias reflexiones y autoevaluaciones. Se debe ratificar capacidad y reparto con 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https://sigaa-duoc-2026.atlassian.net/browse/SCRUM-40</a:t>
            </a:r>
          </a:p>
          <a:p xmlns:a="http://schemas.openxmlformats.org/drawingml/2006/main">
            <a:r>
              <a:t>https://sigaa-duoc-2026.atlassian.net/browse/SCRUM-41</a:t>
            </a:r>
          </a:p>
          <a:p xmlns:a="http://schemas.openxmlformats.org/drawingml/2006/main">
            <a:r>
              <a:t>https://sigaa-duoc-2026.atlassian.net/browse/SCRUM-43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Criterios de cierre propuestos a partir de pendientes del repositorio y Jira. El estado final debe reflejar evidencias, no inferencias de aceptación. Cerrar cada historia existente sin crear duplicados.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https://sigaa-duoc-2026.atlassian.net/browse/SCRUM-16</a:t>
            </a:r>
          </a:p>
          <a:p xmlns:a="http://schemas.openxmlformats.org/drawingml/2006/main">
            <a:r>
              <a:t>https://sigaa-duoc-2026.atlassian.net/browse/SCRUM-41</a:t>
            </a:r>
          </a:p>
          <a:p xmlns:a="http://schemas.openxmlformats.org/drawingml/2006/main">
            <a:r>
              <a:t>https://sigaa-duoc-2026.atlassian.net/browse/SCRUM-45</a:t>
            </a:r>
          </a:p>
          <a:p xmlns:a="http://schemas.openxmlformats.org/drawingml/2006/main">
            <a:r>
              <a:t>https://sigaa-duoc-2026.atlassian.net/browse/SCRUM-46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secuencia conserva la aceptación del usuario y no afirma despliegue ni reuniones realizadas. Consultar el informe PDF para desglose de historias, fuentes y limitaciones. El incremento 0.9.0 está en la solicitud de integración #1.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Fuentes: https://github.com/joellopez775/SIGAA-Capstone-2026</a:t>
            </a:r>
          </a:p>
          <a:p xmlns:a="http://schemas.openxmlformats.org/drawingml/2006/main">
            <a:r>
              <a:t>https://github.com/joellopez775/SIGAA-Capstone-2026/pull/1</a:t>
            </a:r>
          </a:p>
          <a:p xmlns:a="http://schemas.openxmlformats.org/drawingml/2006/main">
            <a:r>
              <a:t>https://sigaa-duoc-2026.atlassian.net/jira/software/projects/SCRUM/boards/1/backlog</a:t>
            </a:r>
          </a:p>
          <a:p xmlns:a="http://schemas.openxmlformats.org/drawingml/2006/main">
            <a:r>
              <a:t>Corte: 28 de octubre de 2026. No se atribuyen reuniones, aprobaciones o despliegues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50f1f652548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c3cb0e6d442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82d7bc97a45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8b5c08c7644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5dcbf605a4a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10697a10742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AC8649-0A27-4DC1-96C9-FD11CCA3A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FB8658-B5BC-4F7E-85CF-89385BB4A2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DA2F7D-2DEF-4C8F-A918-52F6A951D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373EF2-B6A8-42B0-8EBD-69E22A989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63C26E-128B-4CC0-AA32-B139AA8A3E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BD7CB7C-822A-4294-9C97-E47C7372D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1DEF5-3850-465A-9035-B95CD85C1E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6FF228-1AFF-4EF4-929E-38E7FB7D3E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C0B9E6-124F-4BC2-8C1D-C695ABA9B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2C30A7-E3EE-475C-9CCD-9FCD65665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dae7897f747be" /><Relationship Type="http://schemas.openxmlformats.org/officeDocument/2006/relationships/slideLayout" Target="/ppt/slideLayouts/slideLayout1.xml" Id="Rf030fc46b3e549c7" /><Relationship Type="http://schemas.openxmlformats.org/officeDocument/2006/relationships/slideLayout" Target="/ppt/slideLayouts/slideLayout2.xml" Id="R0574622a0e464cfa" /><Relationship Type="http://schemas.openxmlformats.org/officeDocument/2006/relationships/slideLayout" Target="/ppt/slideLayouts/slideLayout3.xml" Id="R9e58687a31274e52" /><Relationship Type="http://schemas.openxmlformats.org/officeDocument/2006/relationships/slideLayout" Target="/ppt/slideLayouts/slideLayout4.xml" Id="R31638fb76b3c43ce" /><Relationship Type="http://schemas.openxmlformats.org/officeDocument/2006/relationships/slideLayout" Target="/ppt/slideLayouts/slideLayout5.xml" Id="Refcb23c8fce6487a" /><Relationship Type="http://schemas.openxmlformats.org/officeDocument/2006/relationships/slideLayout" Target="/ppt/slideLayouts/slideLayout6.xml" Id="R85e24081bf36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30fc46b3e549c7"/>
    <p:sldLayoutId xmlns:r="http://schemas.openxmlformats.org/officeDocument/2006/relationships" id="2147483650" r:id="R0574622a0e464cfa"/>
    <p:sldLayoutId xmlns:r="http://schemas.openxmlformats.org/officeDocument/2006/relationships" id="2147483651" r:id="R9e58687a31274e52"/>
    <p:sldLayoutId xmlns:r="http://schemas.openxmlformats.org/officeDocument/2006/relationships" id="2147483652" r:id="R31638fb76b3c43ce"/>
    <p:sldLayoutId xmlns:r="http://schemas.openxmlformats.org/officeDocument/2006/relationships" id="2147483653" r:id="Refcb23c8fce6487a"/>
    <p:sldLayoutId xmlns:r="http://schemas.openxmlformats.org/officeDocument/2006/relationships" id="2147483654" r:id="R85e24081bf36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94824cdc9472c" /><Relationship Type="http://schemas.openxmlformats.org/officeDocument/2006/relationships/image" Target="/ppt/media/image.png" Id="Rfb8ba624c7f9491b" /><Relationship Type="http://schemas.openxmlformats.org/officeDocument/2006/relationships/notesSlide" Target="/ppt/notesSlides/notesSlide1.xml" Id="R3d3d4b3f0834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2ad0c1ad84ef7" /><Relationship Type="http://schemas.openxmlformats.org/officeDocument/2006/relationships/notesSlide" Target="/ppt/notesSlides/notesSlide2.xml" Id="Rb47f2bb06d5340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f85a1d8874280" /><Relationship Type="http://schemas.openxmlformats.org/officeDocument/2006/relationships/notesSlide" Target="/ppt/notesSlides/notesSlide3.xml" Id="Rd74b31275b2e44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21ed600e84778" /><Relationship Type="http://schemas.openxmlformats.org/officeDocument/2006/relationships/notesSlide" Target="/ppt/notesSlides/notesSlide4.xml" Id="R46b8b3a96a31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88fc7f4b44a3f" /><Relationship Type="http://schemas.openxmlformats.org/officeDocument/2006/relationships/notesSlide" Target="/ppt/notesSlides/notesSlide5.xml" Id="R35473eb28b66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86f4be7f04422" /><Relationship Type="http://schemas.openxmlformats.org/officeDocument/2006/relationships/image" Target="/ppt/media/image2.png" Id="R700a864dc6604454" /><Relationship Type="http://schemas.openxmlformats.org/officeDocument/2006/relationships/notesSlide" Target="/ppt/notesSlides/notesSlide6.xml" Id="Rfa63f744e2464d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284811a0d74efa" /><Relationship Type="http://schemas.openxmlformats.org/officeDocument/2006/relationships/image" Target="/ppt/media/image3.png" Id="R2a214769df824788" /><Relationship Type="http://schemas.openxmlformats.org/officeDocument/2006/relationships/notesSlide" Target="/ppt/notesSlides/notesSlide7.xml" Id="R43f00440329b49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2560c1c1c42c0" /><Relationship Type="http://schemas.openxmlformats.org/officeDocument/2006/relationships/image" Target="/ppt/media/image4.png" Id="R2dba113f73a04575" /><Relationship Type="http://schemas.openxmlformats.org/officeDocument/2006/relationships/notesSlide" Target="/ppt/notesSlides/notesSlide8.xml" Id="R1d76d6442f7f40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ea1ffc9cd4cda" /><Relationship Type="http://schemas.openxmlformats.org/officeDocument/2006/relationships/notesSlide" Target="/ppt/notesSlides/notesSlide9.xml" Id="Rabb86be77ab84c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134845c66403d" /><Relationship Type="http://schemas.openxmlformats.org/officeDocument/2006/relationships/notesSlide" Target="/ppt/notesSlides/notesSlide10.xml" Id="R0312786d5c6f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b901fb86d4e53" /><Relationship Type="http://schemas.openxmlformats.org/officeDocument/2006/relationships/notesSlide" Target="/ppt/notesSlides/notesSlide11.xml" Id="R1b097e4d45944d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7fa923fbb43cd" /><Relationship Type="http://schemas.openxmlformats.org/officeDocument/2006/relationships/notesSlide" Target="/ppt/notesSlides/notesSlide12.xml" Id="Rfd98bf75f65e49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3ad6e7b7246cd" /><Relationship Type="http://schemas.openxmlformats.org/officeDocument/2006/relationships/notesSlide" Target="/ppt/notesSlides/notesSlide13.xml" Id="Rfd9cf7020a3d46e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ee5e478d4468e" /><Relationship Type="http://schemas.openxmlformats.org/officeDocument/2006/relationships/notesSlide" Target="/ppt/notesSlides/notesSlide14.xml" Id="R6c9b877a86474d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199f1d20f44f8b" /><Relationship Type="http://schemas.openxmlformats.org/officeDocument/2006/relationships/notesSlide" Target="/ppt/notesSlides/notesSlide15.xml" Id="R7de1c06a27c94d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53f2e1eeb43ab" /><Relationship Type="http://schemas.openxmlformats.org/officeDocument/2006/relationships/notesSlide" Target="/ppt/notesSlides/notesSlide16.xml" Id="R39c18ab47d30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PSTONE 2026">
            <a:extLst xmlns:a="http://schemas.openxmlformats.org/drawingml/2006/main">
              <a:ext uri="{FF2B5EF4-FFF2-40B4-BE49-F238E27FC236}">
                <a16:creationId xmlns:a16="http://schemas.microsoft.com/office/drawing/2014/main" id="{61E6BE95-E992-401A-858E-1993FBFF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4B16A"/>
                </a:solidFill>
                <a:latin typeface="DejaVu Sans"/>
                <a:ea typeface="DejaVu Sans"/>
                <a:cs typeface="DejaVu Sans"/>
              </a:rPr>
              <a:t>CAPSTONE 2026</a:t>
            </a:r>
          </a:p>
        </p:txBody>
      </p:sp>
      <p:sp>
        <p:nvSpPr>
          <p:cNvPr id="2" name="Avance del&#10;proyecto">
            <a:extLst xmlns:a="http://schemas.openxmlformats.org/drawingml/2006/main">
              <a:ext uri="{FF2B5EF4-FFF2-40B4-BE49-F238E27FC236}">
                <a16:creationId xmlns:a16="http://schemas.microsoft.com/office/drawing/2014/main" id="{841F3798-A849-4718-A28E-F4D8664B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Avance del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proyecto</a:t>
            </a:r>
          </a:p>
        </p:txBody>
      </p:sp>
      <p:sp>
        <p:nvSpPr>
          <p:cNvPr id="3" name="SIGAA">
            <a:extLst xmlns:a="http://schemas.openxmlformats.org/drawingml/2006/main">
              <a:ext uri="{FF2B5EF4-FFF2-40B4-BE49-F238E27FC236}">
                <a16:creationId xmlns:a16="http://schemas.microsoft.com/office/drawing/2014/main" id="{FC9B304F-3655-4AB2-ADBC-234CE05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D4B16A"/>
                </a:solidFill>
                <a:latin typeface="DejaVu Sans"/>
                <a:ea typeface="DejaVu Sans"/>
                <a:cs typeface="DejaVu Sans"/>
              </a:rPr>
              <a:t>SIGAA</a:t>
            </a:r>
          </a:p>
        </p:txBody>
      </p:sp>
      <p:sp>
        <p:nvSpPr>
          <p:cNvPr id="4" name="Estado al 28 de octubre de 2026&#10;Desarrollo, evidencias ">
            <a:extLst xmlns:a="http://schemas.openxmlformats.org/drawingml/2006/main">
              <a:ext uri="{FF2B5EF4-FFF2-40B4-BE49-F238E27FC236}">
                <a16:creationId xmlns:a16="http://schemas.microsoft.com/office/drawing/2014/main" id="{71519243-29BC-4195-A9A8-D5702D4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rPr>
              <a:t>Estado al 28 de octubre de 2026</a:t>
            </a:r>
          </a:p>
          <a:p xmlns:a="http://schemas.openxmlformats.org/drawingml/2006/main">
            <a:pPr>
              <a:def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E6EEE8"/>
                </a:solidFill>
                <a:latin typeface="DejaVu Sans"/>
                <a:ea typeface="DejaVu Sans"/>
                <a:cs typeface="DejaVu Sans"/>
              </a:rPr>
              <a:t>Desarrollo, evidencias y pasos de cierre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8F9F2-FCA1-4331-9158-6C095B29D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ba624c7f9491b"/>
          <a:stretch xmlns:a="http://schemas.openxmlformats.org/drawingml/2006/main"/>
        </p:blipFill>
        <p:spPr>
          <a:xfrm xmlns:a="http://schemas.openxmlformats.org/drawingml/2006/main">
            <a:off x="6829425" y="1746250"/>
            <a:ext cx="4905375" cy="327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84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7B66F352-13BC-4459-A907-137209BD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Sprint 5: seguimiento implementado">
            <a:extLst xmlns:a="http://schemas.openxmlformats.org/drawingml/2006/main">
              <a:ext uri="{FF2B5EF4-FFF2-40B4-BE49-F238E27FC236}">
                <a16:creationId xmlns:a16="http://schemas.microsoft.com/office/drawing/2014/main" id="{9A668924-4B4A-4058-B015-83B49457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Sprint 5: seguimiento implementado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DED0A92D-CBE7-40F5-A0D6-856210D0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2   /   28 oct 2026">
            <a:extLst xmlns:a="http://schemas.openxmlformats.org/drawingml/2006/main">
              <a:ext uri="{FF2B5EF4-FFF2-40B4-BE49-F238E27FC236}">
                <a16:creationId xmlns:a16="http://schemas.microsoft.com/office/drawing/2014/main" id="{02DFB1B3-4676-470E-8783-3A78722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02   /   28 oct 2026</a:t>
            </a:r>
          </a:p>
        </p:txBody>
      </p:sp>
      <p:sp>
        <p:nvSpPr>
          <p:cNvPr id="5" name="0.9.0">
            <a:extLst xmlns:a="http://schemas.openxmlformats.org/drawingml/2006/main">
              <a:ext uri="{FF2B5EF4-FFF2-40B4-BE49-F238E27FC236}">
                <a16:creationId xmlns:a16="http://schemas.microsoft.com/office/drawing/2014/main" id="{2EF7F069-D6FE-4D25-99C5-C3C9FC01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0.9.0</a:t>
            </a:r>
          </a:p>
        </p:txBody>
      </p:sp>
      <p:sp>
        <p:nvSpPr>
          <p:cNvPr id="6" name="Incremento para revisión">
            <a:extLst xmlns:a="http://schemas.openxmlformats.org/drawingml/2006/main">
              <a:ext uri="{FF2B5EF4-FFF2-40B4-BE49-F238E27FC236}">
                <a16:creationId xmlns:a16="http://schemas.microsoft.com/office/drawing/2014/main" id="{20D3DCEB-3A3E-4C61-ABC4-4F67150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Incremento para revisión</a:t>
            </a:r>
          </a:p>
        </p:txBody>
      </p:sp>
      <p:sp>
        <p:nvSpPr>
          <p:cNvPr id="7" name="Casos, apoderados y ficha integral&#10;con datos persistent">
            <a:extLst xmlns:a="http://schemas.openxmlformats.org/drawingml/2006/main">
              <a:ext uri="{FF2B5EF4-FFF2-40B4-BE49-F238E27FC236}">
                <a16:creationId xmlns:a16="http://schemas.microsoft.com/office/drawing/2014/main" id="{D21B997F-E187-4BCE-9FEC-ECBB55C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Casos, apoderados y ficha integral</a:t>
            </a:r>
          </a:p>
          <a:p xmlns:a="http://schemas.openxmlformats.org/drawingml/2006/main">
            <a:pPr>
              <a:def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con datos persistentes y permisos.</a:t>
            </a:r>
          </a:p>
        </p:txBody>
      </p:sp>
      <p:sp>
        <p:nvSpPr>
          <p:cNvPr id="8" name="Código y pruebas locales disponibles.">
            <a:extLst xmlns:a="http://schemas.openxmlformats.org/drawingml/2006/main">
              <a:ext uri="{FF2B5EF4-FFF2-40B4-BE49-F238E27FC236}">
                <a16:creationId xmlns:a16="http://schemas.microsoft.com/office/drawing/2014/main" id="{8560579F-9521-4502-8847-829B56F5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143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Código y pruebas locales disponibles.</a:t>
            </a:r>
          </a:p>
        </p:txBody>
      </p:sp>
      <p:sp>
        <p:nvSpPr>
          <p:cNvPr id="9" name="Tres historias en revisión del producto.">
            <a:extLst xmlns:a="http://schemas.openxmlformats.org/drawingml/2006/main">
              <a:ext uri="{FF2B5EF4-FFF2-40B4-BE49-F238E27FC236}">
                <a16:creationId xmlns:a16="http://schemas.microsoft.com/office/drawing/2014/main" id="{BD607009-B8AD-4126-A875-4C3BFC8F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5143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Tres historias en revisión del producto.</a:t>
            </a:r>
          </a:p>
        </p:txBody>
      </p:sp>
      <p:sp>
        <p:nvSpPr>
          <p:cNvPr id="10" name="Integración y despliegue pendientes.">
            <a:extLst xmlns:a="http://schemas.openxmlformats.org/drawingml/2006/main">
              <a:ext uri="{FF2B5EF4-FFF2-40B4-BE49-F238E27FC236}">
                <a16:creationId xmlns:a16="http://schemas.microsoft.com/office/drawing/2014/main" id="{3D9DDA5D-A023-4B37-BCA4-9A5F87F5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5143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Integración y despliegue pendientes.</a:t>
            </a:r>
          </a:p>
        </p:txBody>
      </p:sp>
      <p:sp>
        <p:nvSpPr>
          <p:cNvPr id="11" name="Ventana planificada: 19–31 oct. Activación real en Jira">
            <a:extLst xmlns:a="http://schemas.openxmlformats.org/drawingml/2006/main">
              <a:ext uri="{FF2B5EF4-FFF2-40B4-BE49-F238E27FC236}">
                <a16:creationId xmlns:a16="http://schemas.microsoft.com/office/drawing/2014/main" id="{74A77841-AA54-431E-9B8B-334B1120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Ventana planificada: 19–31 oct. Activación real en Jira: 28 oct.</a:t>
            </a:r>
          </a:p>
        </p:txBody>
      </p:sp>
    </p:spTree>
    <p:extLst>
      <p:ext uri="{BB962C8B-B14F-4D97-AF65-F5344CB8AC3E}">
        <p14:creationId xmlns:p14="http://schemas.microsoft.com/office/powerpoint/2010/main" val="1578482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05F5BDC3-7097-46A2-9A3D-4823DD92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Una operación escolar con acceso por rol">
            <a:extLst xmlns:a="http://schemas.openxmlformats.org/drawingml/2006/main">
              <a:ext uri="{FF2B5EF4-FFF2-40B4-BE49-F238E27FC236}">
                <a16:creationId xmlns:a16="http://schemas.microsoft.com/office/drawing/2014/main" id="{FB74C557-0F2D-4B6A-9160-1ED35EC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Una operación escolar con acceso por rol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75E54B0D-E92B-42A1-9608-EE812D3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3   /   28 oct 2026">
            <a:extLst xmlns:a="http://schemas.openxmlformats.org/drawingml/2006/main">
              <a:ext uri="{FF2B5EF4-FFF2-40B4-BE49-F238E27FC236}">
                <a16:creationId xmlns:a16="http://schemas.microsoft.com/office/drawing/2014/main" id="{36593F82-000B-4E46-97DB-6EE21B3D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03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FBC60-ED83-4D65-BCBF-9A800600CAB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7581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Operaciones disponibles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Docente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Cursos asignados, clases, asistencia, notas y anotaciones.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Estudiante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de registros propios publicados.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Administración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Estructura escolar, estudiantes, matrículas y datos autorizados.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819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Inspectoría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Alertas, justificaciones y seguimiento de casos.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6" name="La API comprueba los permisos y el alcance de los datos">
            <a:extLst xmlns:a="http://schemas.openxmlformats.org/drawingml/2006/main">
              <a:ext uri="{FF2B5EF4-FFF2-40B4-BE49-F238E27FC236}">
                <a16:creationId xmlns:a16="http://schemas.microsoft.com/office/drawing/2014/main" id="{B6CD8C37-6DC4-4BA8-BCB8-B79D997E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La API comprueba los permisos y el alcance de los datos.</a:t>
            </a:r>
          </a:p>
        </p:txBody>
      </p:sp>
    </p:spTree>
    <p:extLst>
      <p:ext uri="{BB962C8B-B14F-4D97-AF65-F5344CB8AC3E}">
        <p14:creationId xmlns:p14="http://schemas.microsoft.com/office/powerpoint/2010/main" val="1476922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71201A3B-5F6E-4FB0-8C0F-AEA7323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Arquitectura que soporta el avance">
            <a:extLst xmlns:a="http://schemas.openxmlformats.org/drawingml/2006/main">
              <a:ext uri="{FF2B5EF4-FFF2-40B4-BE49-F238E27FC236}">
                <a16:creationId xmlns:a16="http://schemas.microsoft.com/office/drawing/2014/main" id="{21D1CBA8-900A-4A39-A5FD-102D1D52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Arquitectura que soporta el avance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32B1D708-FB94-42D7-9505-A1B4FFC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4   /   28 oct 2026">
            <a:extLst xmlns:a="http://schemas.openxmlformats.org/drawingml/2006/main">
              <a:ext uri="{FF2B5EF4-FFF2-40B4-BE49-F238E27FC236}">
                <a16:creationId xmlns:a16="http://schemas.microsoft.com/office/drawing/2014/main" id="{F8A39D9A-E1F0-47B2-B2B1-297D08F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04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74BCC-122A-4114-9114-D0C214280EB3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476625"/>
                <a:gridCol w="5400675"/>
              </a:tblGrid>
              <a:tr h="733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Tecnologías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Interfaz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React + Vite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Vistas por rol y navegación adaptable.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API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Node.js 22 + Express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Sesiones, permisos, reglas y validaciones.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Datos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PostgreSQL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Persistencia y migraciones 001–009.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Despliegue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Docker, Nginx, Cloudflare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Entorno reproducible y acceso HTTPS.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6" name="PostgreSQL 16 es el objetivo. El último conjunto de pru">
            <a:extLst xmlns:a="http://schemas.openxmlformats.org/drawingml/2006/main">
              <a:ext uri="{FF2B5EF4-FFF2-40B4-BE49-F238E27FC236}">
                <a16:creationId xmlns:a16="http://schemas.microsoft.com/office/drawing/2014/main" id="{AD949B42-4AFF-49F0-BB9C-CAFFA66B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PostgreSQL 16 es el objetivo. El último conjunto de pruebas usó PostgreSQL 14 aislado.</a:t>
            </a:r>
          </a:p>
        </p:txBody>
      </p:sp>
    </p:spTree>
    <p:extLst>
      <p:ext uri="{BB962C8B-B14F-4D97-AF65-F5344CB8AC3E}">
        <p14:creationId xmlns:p14="http://schemas.microsoft.com/office/powerpoint/2010/main" val="25040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EB90E694-A0B4-44F3-B4A3-81F2773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El avance acumulado de los sprints 1 a 4">
            <a:extLst xmlns:a="http://schemas.openxmlformats.org/drawingml/2006/main">
              <a:ext uri="{FF2B5EF4-FFF2-40B4-BE49-F238E27FC236}">
                <a16:creationId xmlns:a16="http://schemas.microsoft.com/office/drawing/2014/main" id="{EC0BAF4A-E673-4261-8067-40FDB72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El avance acumulado de los sprints 1 a 4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339AF909-689C-47CE-9BD9-A58F4288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5   /   28 oct 2026">
            <a:extLst xmlns:a="http://schemas.openxmlformats.org/drawingml/2006/main">
              <a:ext uri="{FF2B5EF4-FFF2-40B4-BE49-F238E27FC236}">
                <a16:creationId xmlns:a16="http://schemas.microsoft.com/office/drawing/2014/main" id="{1AA7C469-D8C7-4064-9525-15534AB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05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354E-E872-4DD9-B1EE-A51EEE3A845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714875"/>
                <a:gridCol w="449580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Sprint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disponible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Cierre pendiente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· Diseño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Arquitectura, modelo de datos y prototipo.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UML, alcance estudiante y validación.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· Plataforma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Estructura escolar y configuración Docker.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Instalación reproducible y aceptación.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· Seguridad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Login, permisos, estudiantes y matrículas.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Revisión por rol y aceptación.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· Operación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Notas, asistencia, alertas y justificaciones.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 funcional y entrega de avance.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</a:tbl>
          </a:graphicData>
        </a:graphic>
      </p:graphicFrame>
      <p:sp>
        <p:nvSpPr>
          <p:cNvPr id="6" name="La existencia del código no sustituye la aceptación de ">
            <a:extLst xmlns:a="http://schemas.openxmlformats.org/drawingml/2006/main">
              <a:ext uri="{FF2B5EF4-FFF2-40B4-BE49-F238E27FC236}">
                <a16:creationId xmlns:a16="http://schemas.microsoft.com/office/drawing/2014/main" id="{BCD481B3-12CA-4AF1-AB62-47E05C8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La existencia del código no sustituye la aceptación de cada historia.</a:t>
            </a:r>
          </a:p>
        </p:txBody>
      </p:sp>
    </p:spTree>
    <p:extLst>
      <p:ext uri="{BB962C8B-B14F-4D97-AF65-F5344CB8AC3E}">
        <p14:creationId xmlns:p14="http://schemas.microsoft.com/office/powerpoint/2010/main" val="298267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PRINT 5 / SCRUM-35">
            <a:extLst xmlns:a="http://schemas.openxmlformats.org/drawingml/2006/main">
              <a:ext uri="{FF2B5EF4-FFF2-40B4-BE49-F238E27FC236}">
                <a16:creationId xmlns:a16="http://schemas.microsoft.com/office/drawing/2014/main" id="{F15F5BE0-90DD-4BB6-862A-3A2578F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SPRINT 5 / SCRUM-35</a:t>
            </a:r>
          </a:p>
        </p:txBody>
      </p:sp>
      <p:sp>
        <p:nvSpPr>
          <p:cNvPr id="2" name="Casos de seguimiento">
            <a:extLst xmlns:a="http://schemas.openxmlformats.org/drawingml/2006/main">
              <a:ext uri="{FF2B5EF4-FFF2-40B4-BE49-F238E27FC236}">
                <a16:creationId xmlns:a16="http://schemas.microsoft.com/office/drawing/2014/main" id="{7ED73F07-2C7E-4A59-90B9-86B81A84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Casos de seguimiento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6A0C3D67-5FA8-4768-8193-19FB2F2D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6   /   28 oct 2026">
            <a:extLst xmlns:a="http://schemas.openxmlformats.org/drawingml/2006/main">
              <a:ext uri="{FF2B5EF4-FFF2-40B4-BE49-F238E27FC236}">
                <a16:creationId xmlns:a16="http://schemas.microsoft.com/office/drawing/2014/main" id="{D6A58CF9-6C9B-41A7-86DD-1F9C7639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06   /   28 oct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E6A70-16D7-44A5-8D16-543765EED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a864dc6604454"/>
          <a:stretch xmlns:a="http://schemas.openxmlformats.org/drawingml/2006/main"/>
        </p:blipFill>
        <p:spPr>
          <a:xfrm xmlns:a="http://schemas.openxmlformats.org/drawingml/2006/main">
            <a:off x="5066538" y="1838325"/>
            <a:ext cx="6364224" cy="4419600"/>
          </a:xfrm>
          <a:prstGeom xmlns:a="http://schemas.openxmlformats.org/drawingml/2006/main" prst="rect">
            <a:avLst/>
          </a:prstGeom>
        </p:spPr>
      </p:pic>
      <p:sp>
        <p:nvSpPr>
          <p:cNvPr id="6" name="Un caso activo por alerta.">
            <a:extLst xmlns:a="http://schemas.openxmlformats.org/drawingml/2006/main">
              <a:ext uri="{FF2B5EF4-FFF2-40B4-BE49-F238E27FC236}">
                <a16:creationId xmlns:a16="http://schemas.microsoft.com/office/drawing/2014/main" id="{7C9B256F-60F3-461B-95B4-E8D30E78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000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Un caso activo por alerta.</a:t>
            </a:r>
          </a:p>
        </p:txBody>
      </p:sp>
      <p:sp>
        <p:nvSpPr>
          <p:cNvPr id="7" name="Responsable, próxima acción&#10;y fecha de seguimiento.">
            <a:extLst xmlns:a="http://schemas.openxmlformats.org/drawingml/2006/main">
              <a:ext uri="{FF2B5EF4-FFF2-40B4-BE49-F238E27FC236}">
                <a16:creationId xmlns:a16="http://schemas.microsoft.com/office/drawing/2014/main" id="{4A7DC081-3E1A-4CA1-8C89-8BA9CF3B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4000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Responsable, próxima acción</a:t>
            </a:r>
          </a:p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fecha de seguimiento.</a:t>
            </a:r>
          </a:p>
        </p:txBody>
      </p:sp>
      <p:sp>
        <p:nvSpPr>
          <p:cNvPr id="8" name="Intervenciones, cierre&#10;y reapertura con historial.">
            <a:extLst xmlns:a="http://schemas.openxmlformats.org/drawingml/2006/main">
              <a:ext uri="{FF2B5EF4-FFF2-40B4-BE49-F238E27FC236}">
                <a16:creationId xmlns:a16="http://schemas.microsoft.com/office/drawing/2014/main" id="{86CBFB59-9E1B-4C9E-8CD4-3289413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000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Intervenciones, cierre</a:t>
            </a:r>
          </a:p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reapertura con historial.</a:t>
            </a:r>
          </a:p>
        </p:txBody>
      </p:sp>
      <p:sp>
        <p:nvSpPr>
          <p:cNvPr id="9" name="Captura local con datos sintéticos">
            <a:extLst xmlns:a="http://schemas.openxmlformats.org/drawingml/2006/main">
              <a:ext uri="{FF2B5EF4-FFF2-40B4-BE49-F238E27FC236}">
                <a16:creationId xmlns:a16="http://schemas.microsoft.com/office/drawing/2014/main" id="{D304C428-D524-4A9F-9BEB-C853D44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143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Captura local con 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468863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PRINT 5 / SCRUM-48">
            <a:extLst xmlns:a="http://schemas.openxmlformats.org/drawingml/2006/main">
              <a:ext uri="{FF2B5EF4-FFF2-40B4-BE49-F238E27FC236}">
                <a16:creationId xmlns:a16="http://schemas.microsoft.com/office/drawing/2014/main" id="{9B5C888B-3EF5-4385-AE05-537281B2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SPRINT 5 / SCRUM-48</a:t>
            </a:r>
          </a:p>
        </p:txBody>
      </p:sp>
      <p:sp>
        <p:nvSpPr>
          <p:cNvPr id="2" name="Apoderados vinculados a estudiantes">
            <a:extLst xmlns:a="http://schemas.openxmlformats.org/drawingml/2006/main">
              <a:ext uri="{FF2B5EF4-FFF2-40B4-BE49-F238E27FC236}">
                <a16:creationId xmlns:a16="http://schemas.microsoft.com/office/drawing/2014/main" id="{955E89FA-16CA-4AA1-8C48-07935988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Apoderados vinculados a estudiantes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1DFF5C82-00DB-415A-ACE3-2677D8F5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7   /   28 oct 2026">
            <a:extLst xmlns:a="http://schemas.openxmlformats.org/drawingml/2006/main">
              <a:ext uri="{FF2B5EF4-FFF2-40B4-BE49-F238E27FC236}">
                <a16:creationId xmlns:a16="http://schemas.microsoft.com/office/drawing/2014/main" id="{DB2404FB-6349-44B3-B673-7C27552A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07   /   28 oct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8C2B7-B28A-4FC3-830C-D36AF32736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14769df824788"/>
          <a:stretch xmlns:a="http://schemas.openxmlformats.org/drawingml/2006/main"/>
        </p:blipFill>
        <p:spPr>
          <a:xfrm xmlns:a="http://schemas.openxmlformats.org/drawingml/2006/main">
            <a:off x="5257124" y="1866900"/>
            <a:ext cx="5754453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Contactos y estado&#10;del apoderado.">
            <a:extLst xmlns:a="http://schemas.openxmlformats.org/drawingml/2006/main">
              <a:ext uri="{FF2B5EF4-FFF2-40B4-BE49-F238E27FC236}">
                <a16:creationId xmlns:a16="http://schemas.microsoft.com/office/drawing/2014/main" id="{69030934-F057-4A66-BF99-DFA7AD6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Contactos y estado</a:t>
            </a:r>
          </a:p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del apoderado.</a:t>
            </a:r>
          </a:p>
        </p:txBody>
      </p:sp>
      <p:sp>
        <p:nvSpPr>
          <p:cNvPr id="7" name="Vínculos e historial&#10;por estudiante.">
            <a:extLst xmlns:a="http://schemas.openxmlformats.org/drawingml/2006/main">
              <a:ext uri="{FF2B5EF4-FFF2-40B4-BE49-F238E27FC236}">
                <a16:creationId xmlns:a16="http://schemas.microsoft.com/office/drawing/2014/main" id="{D7D5D569-DAF3-41B6-A7A3-7D6D904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Vínculos e historial</a:t>
            </a:r>
          </a:p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por estudiante.</a:t>
            </a:r>
          </a:p>
        </p:txBody>
      </p:sp>
      <p:sp>
        <p:nvSpPr>
          <p:cNvPr id="8" name="Un principal activo&#10;por estudiante.">
            <a:extLst xmlns:a="http://schemas.openxmlformats.org/drawingml/2006/main">
              <a:ext uri="{FF2B5EF4-FFF2-40B4-BE49-F238E27FC236}">
                <a16:creationId xmlns:a16="http://schemas.microsoft.com/office/drawing/2014/main" id="{7CC6F883-B8BF-4B37-8D3C-2CABAECF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Un principal activo</a:t>
            </a:r>
          </a:p>
          <a:p xmlns:a="http://schemas.openxmlformats.org/drawingml/2006/main">
            <a:pPr>
              <a:def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por estudiante.</a:t>
            </a:r>
          </a:p>
        </p:txBody>
      </p:sp>
      <p:sp>
        <p:nvSpPr>
          <p:cNvPr id="9" name="El alcance actual no incluye un login de apoderados.">
            <a:extLst xmlns:a="http://schemas.openxmlformats.org/drawingml/2006/main">
              <a:ext uri="{FF2B5EF4-FFF2-40B4-BE49-F238E27FC236}">
                <a16:creationId xmlns:a16="http://schemas.microsoft.com/office/drawing/2014/main" id="{B1157778-89C9-4EC9-8DDB-F212E05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El alcance actual no incluye un login de apoderados.</a:t>
            </a:r>
          </a:p>
        </p:txBody>
      </p:sp>
    </p:spTree>
    <p:extLst>
      <p:ext uri="{BB962C8B-B14F-4D97-AF65-F5344CB8AC3E}">
        <p14:creationId xmlns:p14="http://schemas.microsoft.com/office/powerpoint/2010/main" val="958763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PRINT 5 / SCRUM-36">
            <a:extLst xmlns:a="http://schemas.openxmlformats.org/drawingml/2006/main">
              <a:ext uri="{FF2B5EF4-FFF2-40B4-BE49-F238E27FC236}">
                <a16:creationId xmlns:a16="http://schemas.microsoft.com/office/drawing/2014/main" id="{F9F33AC0-82FA-4F1E-969E-7FB8556B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SPRINT 5 / SCRUM-36</a:t>
            </a:r>
          </a:p>
        </p:txBody>
      </p:sp>
      <p:sp>
        <p:nvSpPr>
          <p:cNvPr id="2" name="Ficha integral según los permisos">
            <a:extLst xmlns:a="http://schemas.openxmlformats.org/drawingml/2006/main">
              <a:ext uri="{FF2B5EF4-FFF2-40B4-BE49-F238E27FC236}">
                <a16:creationId xmlns:a16="http://schemas.microsoft.com/office/drawing/2014/main" id="{A917A6A8-B2D9-4DD2-A152-75A49A45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Ficha integral según los permisos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3A981E21-44C1-444B-9A3F-BF34AC79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8   /   28 oct 2026">
            <a:extLst xmlns:a="http://schemas.openxmlformats.org/drawingml/2006/main">
              <a:ext uri="{FF2B5EF4-FFF2-40B4-BE49-F238E27FC236}">
                <a16:creationId xmlns:a16="http://schemas.microsoft.com/office/drawing/2014/main" id="{6B6D7D40-EB8E-4D6A-B5A8-A8A4A36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08   /   28 oct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25337-1E6B-4182-8CB9-5D5274E882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a113f73a04575"/>
          <a:stretch xmlns:a="http://schemas.openxmlformats.org/drawingml/2006/main"/>
        </p:blipFill>
        <p:spPr>
          <a:xfrm xmlns:a="http://schemas.openxmlformats.org/drawingml/2006/main">
            <a:off x="8334375" y="1619616"/>
            <a:ext cx="2143125" cy="4637942"/>
          </a:xfrm>
          <a:prstGeom xmlns:a="http://schemas.openxmlformats.org/drawingml/2006/main" prst="rect">
            <a:avLst/>
          </a:prstGeom>
        </p:spPr>
      </p:pic>
      <p:sp>
        <p:nvSpPr>
          <p:cNvPr id="6" name="Reúne matrícula, notas publicadas y asistencia.">
            <a:extLst xmlns:a="http://schemas.openxmlformats.org/drawingml/2006/main">
              <a:ext uri="{FF2B5EF4-FFF2-40B4-BE49-F238E27FC236}">
                <a16:creationId xmlns:a16="http://schemas.microsoft.com/office/drawing/2014/main" id="{2CA563D2-7A02-44F0-BF77-15040F6C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19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Reúne matrícula, notas publicadas y asistencia.</a:t>
            </a:r>
          </a:p>
        </p:txBody>
      </p:sp>
      <p:sp>
        <p:nvSpPr>
          <p:cNvPr id="7" name="El personal autorizado consulta alertas, casos&#10;y víncul">
            <a:extLst xmlns:a="http://schemas.openxmlformats.org/drawingml/2006/main">
              <a:ext uri="{FF2B5EF4-FFF2-40B4-BE49-F238E27FC236}">
                <a16:creationId xmlns:a16="http://schemas.microsoft.com/office/drawing/2014/main" id="{7D6FF343-E11D-4CFF-AADD-119749C2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19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El personal autorizado consulta alertas, casos</a:t>
            </a:r>
          </a:p>
          <a:p xmlns:a="http://schemas.openxmlformats.org/drawingml/2006/main">
            <a: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vínculos con apoderados.</a:t>
            </a:r>
          </a:p>
        </p:txBody>
      </p:sp>
      <p:sp>
        <p:nvSpPr>
          <p:cNvPr id="8" name="El estudiante consulta solo sus datos propios&#10;y publica">
            <a:extLst xmlns:a="http://schemas.openxmlformats.org/drawingml/2006/main">
              <a:ext uri="{FF2B5EF4-FFF2-40B4-BE49-F238E27FC236}">
                <a16:creationId xmlns:a16="http://schemas.microsoft.com/office/drawing/2014/main" id="{0D5DA5BE-D866-4DF9-A37F-B8379D5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191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El estudiante consulta solo sus datos propios</a:t>
            </a:r>
          </a:p>
          <a:p xmlns:a="http://schemas.openxmlformats.org/drawingml/2006/main">
            <a:pPr>
              <a:def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publicados.</a:t>
            </a:r>
          </a:p>
        </p:txBody>
      </p:sp>
      <p:sp>
        <p:nvSpPr>
          <p:cNvPr id="9" name="Vista móvil de prueba. Hasta 500 registros por sección,">
            <a:extLst xmlns:a="http://schemas.openxmlformats.org/drawingml/2006/main">
              <a:ext uri="{FF2B5EF4-FFF2-40B4-BE49-F238E27FC236}">
                <a16:creationId xmlns:a16="http://schemas.microsoft.com/office/drawing/2014/main" id="{1C419E0B-F517-487A-B937-40066F9D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Vista móvil de prueba. Hasta 500 registros por sección, con aviso de límite.</a:t>
            </a:r>
          </a:p>
        </p:txBody>
      </p:sp>
    </p:spTree>
    <p:extLst>
      <p:ext uri="{BB962C8B-B14F-4D97-AF65-F5344CB8AC3E}">
        <p14:creationId xmlns:p14="http://schemas.microsoft.com/office/powerpoint/2010/main" val="2089602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4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ERIFICACIÓN DEL 28 DE OCTUBRE">
            <a:extLst xmlns:a="http://schemas.openxmlformats.org/drawingml/2006/main">
              <a:ext uri="{FF2B5EF4-FFF2-40B4-BE49-F238E27FC236}">
                <a16:creationId xmlns:a16="http://schemas.microsoft.com/office/drawing/2014/main" id="{54762123-795E-4DA9-96B4-058F6F3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rPr>
              <a:t>VERIFICACIÓN DEL 28 DE OCTUBRE</a:t>
            </a:r>
          </a:p>
        </p:txBody>
      </p:sp>
      <p:sp>
        <p:nvSpPr>
          <p:cNvPr id="2" name="Evidencia de calidad del incremento">
            <a:extLst xmlns:a="http://schemas.openxmlformats.org/drawingml/2006/main">
              <a:ext uri="{FF2B5EF4-FFF2-40B4-BE49-F238E27FC236}">
                <a16:creationId xmlns:a16="http://schemas.microsoft.com/office/drawing/2014/main" id="{DD6F1106-88AD-4A5D-846E-16BC85E2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Evidencia de calidad del incremento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BE8713EB-5404-4599-A4C7-8F553B49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09   /   28 oct 2026">
            <a:extLst xmlns:a="http://schemas.openxmlformats.org/drawingml/2006/main">
              <a:ext uri="{FF2B5EF4-FFF2-40B4-BE49-F238E27FC236}">
                <a16:creationId xmlns:a16="http://schemas.microsoft.com/office/drawing/2014/main" id="{791463F9-640B-4F7F-8ACE-EDD06489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rPr>
              <a:t>09   /   28 oct 2026</a:t>
            </a:r>
          </a:p>
        </p:txBody>
      </p:sp>
      <p:sp>
        <p:nvSpPr>
          <p:cNvPr id="5" name="63">
            <a:extLst xmlns:a="http://schemas.openxmlformats.org/drawingml/2006/main">
              <a:ext uri="{FF2B5EF4-FFF2-40B4-BE49-F238E27FC236}">
                <a16:creationId xmlns:a16="http://schemas.microsoft.com/office/drawing/2014/main" id="{3A4ABC22-BFE6-4B5D-ACA4-17E3C98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63</a:t>
            </a:r>
          </a:p>
        </p:txBody>
      </p:sp>
      <p:sp>
        <p:nvSpPr>
          <p:cNvPr id="6" name="pruebas de servidor aprobadas">
            <a:extLst xmlns:a="http://schemas.openxmlformats.org/drawingml/2006/main">
              <a:ext uri="{FF2B5EF4-FFF2-40B4-BE49-F238E27FC236}">
                <a16:creationId xmlns:a16="http://schemas.microsoft.com/office/drawing/2014/main" id="{CE05CED9-87A8-4F52-A957-4FA61529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pruebas de servidor aprobadas</a:t>
            </a:r>
          </a:p>
        </p:txBody>
      </p:sp>
      <p:sp>
        <p:nvSpPr>
          <p:cNvPr id="7" name="6 unitarias + 57 de integración">
            <a:extLst xmlns:a="http://schemas.openxmlformats.org/drawingml/2006/main">
              <a:ext uri="{FF2B5EF4-FFF2-40B4-BE49-F238E27FC236}">
                <a16:creationId xmlns:a16="http://schemas.microsoft.com/office/drawing/2014/main" id="{305E0A29-71D1-4096-BAD5-DA1D0F9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rPr>
              <a:t>6 unitarias + 57 de integración</a:t>
            </a:r>
          </a:p>
        </p:txBody>
      </p:sp>
      <p:sp>
        <p:nvSpPr>
          <p:cNvPr id="8" name="19">
            <a:extLst xmlns:a="http://schemas.openxmlformats.org/drawingml/2006/main">
              <a:ext uri="{FF2B5EF4-FFF2-40B4-BE49-F238E27FC236}">
                <a16:creationId xmlns:a16="http://schemas.microsoft.com/office/drawing/2014/main" id="{E7F6F103-D1A1-42C7-9EDE-F0DE165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97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9" name="escenarios de navegador aprobados">
            <a:extLst xmlns:a="http://schemas.openxmlformats.org/drawingml/2006/main">
              <a:ext uri="{FF2B5EF4-FFF2-40B4-BE49-F238E27FC236}">
                <a16:creationId xmlns:a16="http://schemas.microsoft.com/office/drawing/2014/main" id="{E3D5A959-16E0-4D4D-A839-46D41B70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escenarios de navegador aprobados</a:t>
            </a:r>
          </a:p>
        </p:txBody>
      </p:sp>
      <p:sp>
        <p:nvSpPr>
          <p:cNvPr id="10" name="8 nuevos + 11 de regresión">
            <a:extLst xmlns:a="http://schemas.openxmlformats.org/drawingml/2006/main">
              <a:ext uri="{FF2B5EF4-FFF2-40B4-BE49-F238E27FC236}">
                <a16:creationId xmlns:a16="http://schemas.microsoft.com/office/drawing/2014/main" id="{543CDCAA-A2F4-4DF0-B0B3-8541BFE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D9BC7A"/>
                </a:solidFill>
                <a:latin typeface="DejaVu Sans"/>
                <a:ea typeface="DejaVu Sans"/>
                <a:cs typeface="DejaVu Sans"/>
              </a:rPr>
              <a:t>8 nuevos + 11 de regresión</a:t>
            </a:r>
          </a:p>
        </p:txBody>
      </p:sp>
      <p:sp>
        <p:nvSpPr>
          <p:cNvPr id="11" name="Compilación aprobada. Falta validar Docker/PG16, otros ">
            <a:extLst xmlns:a="http://schemas.openxmlformats.org/drawingml/2006/main">
              <a:ext uri="{FF2B5EF4-FFF2-40B4-BE49-F238E27FC236}">
                <a16:creationId xmlns:a16="http://schemas.microsoft.com/office/drawing/2014/main" id="{A8E11741-DBF7-4CA8-8181-56D33B7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Compilación aprobada. Falta validar Docker/PG16, otros navegadores, carga y restauración.</a:t>
            </a:r>
          </a:p>
        </p:txBody>
      </p:sp>
    </p:spTree>
    <p:extLst>
      <p:ext uri="{BB962C8B-B14F-4D97-AF65-F5344CB8AC3E}">
        <p14:creationId xmlns:p14="http://schemas.microsoft.com/office/powerpoint/2010/main" val="1909992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AFC13EB6-6BEC-4C13-9CAA-0868F42A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Jira refleja avance pendiente de aceptación">
            <a:extLst xmlns:a="http://schemas.openxmlformats.org/drawingml/2006/main">
              <a:ext uri="{FF2B5EF4-FFF2-40B4-BE49-F238E27FC236}">
                <a16:creationId xmlns:a16="http://schemas.microsoft.com/office/drawing/2014/main" id="{08022D36-920F-474B-97FD-1C4DCA1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Jira refleja avance pendiente de aceptación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41C6DA07-26A1-49AE-9DE0-3BA2DCE2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0   /   28 oct 2026">
            <a:extLst xmlns:a="http://schemas.openxmlformats.org/drawingml/2006/main">
              <a:ext uri="{FF2B5EF4-FFF2-40B4-BE49-F238E27FC236}">
                <a16:creationId xmlns:a16="http://schemas.microsoft.com/office/drawing/2014/main" id="{CB6D7D14-4F8E-4F11-A8FA-54F8C4C2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10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A5C11-3D87-4FFB-A569-85E7383A9C2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667000"/>
                <a:gridCol w="306705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Historias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Puntos estimados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Terminadas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revisión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156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 curso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Pendientes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52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255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print 5: 21 puntos en revisión y 5 pendientes. Ninguno">
            <a:extLst xmlns:a="http://schemas.openxmlformats.org/drawingml/2006/main">
              <a:ext uri="{FF2B5EF4-FFF2-40B4-BE49-F238E27FC236}">
                <a16:creationId xmlns:a16="http://schemas.microsoft.com/office/drawing/2014/main" id="{C7301207-3AE9-4FC0-89AB-F206845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Sprint 5: 21 puntos en revisión y 5 pendientes. Ninguno aceptado.</a:t>
            </a:r>
          </a:p>
        </p:txBody>
      </p:sp>
      <p:sp>
        <p:nvSpPr>
          <p:cNvPr id="7" name="Conteo de historias PB. Excluye tareas y subtareas. No ">
            <a:extLst xmlns:a="http://schemas.openxmlformats.org/drawingml/2006/main">
              <a:ext uri="{FF2B5EF4-FFF2-40B4-BE49-F238E27FC236}">
                <a16:creationId xmlns:a16="http://schemas.microsoft.com/office/drawing/2014/main" id="{A30B4650-64CE-4D2E-A84E-CA991A0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Conteo de historias PB. Excluye tareas y subtareas. No equivale a un porcentaje terminado.</a:t>
            </a:r>
          </a:p>
        </p:txBody>
      </p:sp>
    </p:spTree>
    <p:extLst>
      <p:ext uri="{BB962C8B-B14F-4D97-AF65-F5344CB8AC3E}">
        <p14:creationId xmlns:p14="http://schemas.microsoft.com/office/powerpoint/2010/main" val="6823578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F67BD188-B120-4A89-9AF7-462A025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Pendientes de desarrollo y operación">
            <a:extLst xmlns:a="http://schemas.openxmlformats.org/drawingml/2006/main">
              <a:ext uri="{FF2B5EF4-FFF2-40B4-BE49-F238E27FC236}">
                <a16:creationId xmlns:a16="http://schemas.microsoft.com/office/drawing/2014/main" id="{CA73687B-DE1E-4945-A01B-BCD94D67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Pendientes de desarrollo y operación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3A3F0B84-BB3A-4773-98B6-8D642CB8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1   /   28 oct 2026">
            <a:extLst xmlns:a="http://schemas.openxmlformats.org/drawingml/2006/main">
              <a:ext uri="{FF2B5EF4-FFF2-40B4-BE49-F238E27FC236}">
                <a16:creationId xmlns:a16="http://schemas.microsoft.com/office/drawing/2014/main" id="{C8F7C07C-927B-4FA7-B973-F373941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11   /   28 oct 2026</a:t>
            </a:r>
          </a:p>
        </p:txBody>
      </p:sp>
      <p:sp>
        <p:nvSpPr>
          <p:cNvPr id="5" name="PARA ASEGURAR EL CIERRE">
            <a:extLst xmlns:a="http://schemas.openxmlformats.org/drawingml/2006/main">
              <a:ext uri="{FF2B5EF4-FFF2-40B4-BE49-F238E27FC236}">
                <a16:creationId xmlns:a16="http://schemas.microsoft.com/office/drawing/2014/main" id="{C778B5C6-435A-42F6-8F08-02A90DE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PARA ASEGURAR EL CIERRE</a:t>
            </a:r>
          </a:p>
        </p:txBody>
      </p:sp>
      <p:sp>
        <p:nvSpPr>
          <p:cNvPr id="6" name="UML y alcance completo del estudiante.">
            <a:extLst xmlns:a="http://schemas.openxmlformats.org/drawingml/2006/main">
              <a:ext uri="{FF2B5EF4-FFF2-40B4-BE49-F238E27FC236}">
                <a16:creationId xmlns:a16="http://schemas.microsoft.com/office/drawing/2014/main" id="{530930B9-5233-49FD-88D0-064B9E44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UML y alcance completo del estudiante.</a:t>
            </a:r>
          </a:p>
        </p:txBody>
      </p:sp>
      <p:sp>
        <p:nvSpPr>
          <p:cNvPr id="7" name="Docker, aislamiento y HTTPS verificados.">
            <a:extLst xmlns:a="http://schemas.openxmlformats.org/drawingml/2006/main">
              <a:ext uri="{FF2B5EF4-FFF2-40B4-BE49-F238E27FC236}">
                <a16:creationId xmlns:a16="http://schemas.microsoft.com/office/drawing/2014/main" id="{C2C73E22-14E0-4946-9D7D-3F83B6E0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Docker, aislamiento y HTTPS verificados.</a:t>
            </a:r>
          </a:p>
        </p:txBody>
      </p:sp>
      <p:sp>
        <p:nvSpPr>
          <p:cNvPr id="8" name="Consulta de auditoría de cambios.">
            <a:extLst xmlns:a="http://schemas.openxmlformats.org/drawingml/2006/main">
              <a:ext uri="{FF2B5EF4-FFF2-40B4-BE49-F238E27FC236}">
                <a16:creationId xmlns:a16="http://schemas.microsoft.com/office/drawing/2014/main" id="{EA86996E-FA19-412E-95AD-B7E6A0C5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Consulta de auditoría de cambios.</a:t>
            </a:r>
          </a:p>
        </p:txBody>
      </p:sp>
      <p:sp>
        <p:nvSpPr>
          <p:cNvPr id="9" name="Pruebas, carga y restauración de respaldo.">
            <a:extLst xmlns:a="http://schemas.openxmlformats.org/drawingml/2006/main">
              <a:ext uri="{FF2B5EF4-FFF2-40B4-BE49-F238E27FC236}">
                <a16:creationId xmlns:a16="http://schemas.microsoft.com/office/drawing/2014/main" id="{40664B6D-9123-48E2-ACA7-C30F21B1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Pruebas, carga y restauración de respaldo.</a:t>
            </a:r>
          </a:p>
        </p:txBody>
      </p:sp>
      <p:sp>
        <p:nvSpPr>
          <p:cNvPr id="10" name="SUJETOS A DECISIÓN DE ALCANCE">
            <a:extLst xmlns:a="http://schemas.openxmlformats.org/drawingml/2006/main">
              <a:ext uri="{FF2B5EF4-FFF2-40B4-BE49-F238E27FC236}">
                <a16:creationId xmlns:a16="http://schemas.microsoft.com/office/drawing/2014/main" id="{4394BF3C-C2C4-4B29-8BCE-711A76EF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SUJETOS A DECISIÓN DE ALCANCE</a:t>
            </a:r>
          </a:p>
        </p:txBody>
      </p:sp>
      <p:sp>
        <p:nvSpPr>
          <p:cNvPr id="11" name="Notificaciones internas.">
            <a:extLst xmlns:a="http://schemas.openxmlformats.org/drawingml/2006/main">
              <a:ext uri="{FF2B5EF4-FFF2-40B4-BE49-F238E27FC236}">
                <a16:creationId xmlns:a16="http://schemas.microsoft.com/office/drawing/2014/main" id="{62969C79-5A1C-440C-8FB3-B78B48DD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Notificaciones internas.</a:t>
            </a:r>
          </a:p>
        </p:txBody>
      </p:sp>
      <p:sp>
        <p:nvSpPr>
          <p:cNvPr id="12" name="Indicadores agregados.">
            <a:extLst xmlns:a="http://schemas.openxmlformats.org/drawingml/2006/main">
              <a:ext uri="{FF2B5EF4-FFF2-40B4-BE49-F238E27FC236}">
                <a16:creationId xmlns:a16="http://schemas.microsoft.com/office/drawing/2014/main" id="{93AD54B2-873B-4F6D-B54A-EDA11755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432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Indicadores agregados.</a:t>
            </a:r>
          </a:p>
        </p:txBody>
      </p:sp>
      <p:sp>
        <p:nvSpPr>
          <p:cNvPr id="13" name="Importación validada.">
            <a:extLst xmlns:a="http://schemas.openxmlformats.org/drawingml/2006/main">
              <a:ext uri="{FF2B5EF4-FFF2-40B4-BE49-F238E27FC236}">
                <a16:creationId xmlns:a16="http://schemas.microsoft.com/office/drawing/2014/main" id="{56F111C3-9B2F-4266-B9BB-BEFD7D46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052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Importación validada.</a:t>
            </a:r>
          </a:p>
        </p:txBody>
      </p:sp>
      <p:sp>
        <p:nvSpPr>
          <p:cNvPr id="14" name="Exportación de reportes.">
            <a:extLst xmlns:a="http://schemas.openxmlformats.org/drawingml/2006/main">
              <a:ext uri="{FF2B5EF4-FFF2-40B4-BE49-F238E27FC236}">
                <a16:creationId xmlns:a16="http://schemas.microsoft.com/office/drawing/2014/main" id="{277836F6-1214-4FA9-A1DE-09F78E3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672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Exportación de reportes.</a:t>
            </a:r>
          </a:p>
        </p:txBody>
      </p:sp>
      <p:sp>
        <p:nvSpPr>
          <p:cNvPr id="15" name="Joel debe ratificar inclusiones o aplazamientos y conse">
            <a:extLst xmlns:a="http://schemas.openxmlformats.org/drawingml/2006/main">
              <a:ext uri="{FF2B5EF4-FFF2-40B4-BE49-F238E27FC236}">
                <a16:creationId xmlns:a16="http://schemas.microsoft.com/office/drawing/2014/main" id="{0DC84402-70D7-4FEB-8137-1A64CBF7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Joel debe ratificar inclusiones o aplazamientos y conservar la decisión en Jira.</a:t>
            </a:r>
          </a:p>
        </p:txBody>
      </p:sp>
    </p:spTree>
    <p:extLst>
      <p:ext uri="{BB962C8B-B14F-4D97-AF65-F5344CB8AC3E}">
        <p14:creationId xmlns:p14="http://schemas.microsoft.com/office/powerpoint/2010/main" val="671131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30C92E20-787B-434C-8B79-97E171B7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Documentación pendiente para la entrega">
            <a:extLst xmlns:a="http://schemas.openxmlformats.org/drawingml/2006/main">
              <a:ext uri="{FF2B5EF4-FFF2-40B4-BE49-F238E27FC236}">
                <a16:creationId xmlns:a16="http://schemas.microsoft.com/office/drawing/2014/main" id="{1B061673-388D-4816-AC09-D6838FD8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Documentación pendiente para la entrega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6E50DF29-523D-454F-8B2D-5979D04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2   /   28 oct 2026">
            <a:extLst xmlns:a="http://schemas.openxmlformats.org/drawingml/2006/main">
              <a:ext uri="{FF2B5EF4-FFF2-40B4-BE49-F238E27FC236}">
                <a16:creationId xmlns:a16="http://schemas.microsoft.com/office/drawing/2014/main" id="{58C8E243-0461-4BFB-A8A7-D8AD1E71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12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F012-96A9-4550-925C-D05DF9DC301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31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Documento o evidencia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Acción necesaria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Modelos y manuales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Actualizar UML, datos y manuales técnico y de usuario.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Formularios académicos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Completar formularios oficiales y validación personal.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Fase 2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Informe final, planillas y comprobante de entrega.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Fase 3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Presentación final, diarios y defensa.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Reuniones y aceptación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reuniones y aceptación cuando ocurran.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Un PDF en GitHub no acredita recepción ni aprobación en">
            <a:extLst xmlns:a="http://schemas.openxmlformats.org/drawingml/2006/main">
              <a:ext uri="{FF2B5EF4-FFF2-40B4-BE49-F238E27FC236}">
                <a16:creationId xmlns:a16="http://schemas.microsoft.com/office/drawing/2014/main" id="{799544EE-254C-4172-9A7D-68AA11FC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Un PDF en GitHub no acredita recepción ni aprobación en Campus.</a:t>
            </a:r>
          </a:p>
        </p:txBody>
      </p:sp>
    </p:spTree>
    <p:extLst>
      <p:ext uri="{BB962C8B-B14F-4D97-AF65-F5344CB8AC3E}">
        <p14:creationId xmlns:p14="http://schemas.microsoft.com/office/powerpoint/2010/main" val="1119492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123D41B2-541B-48F6-8B35-655B1292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Ruta de cierre propuesta">
            <a:extLst xmlns:a="http://schemas.openxmlformats.org/drawingml/2006/main">
              <a:ext uri="{FF2B5EF4-FFF2-40B4-BE49-F238E27FC236}">
                <a16:creationId xmlns:a16="http://schemas.microsoft.com/office/drawing/2014/main" id="{7CDEB634-11F1-41A9-B67E-F32841A9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Ruta de cierre propuesta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E259AE9F-6AEB-48A0-B28C-EA21F5D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3   /   28 oct 2026">
            <a:extLst xmlns:a="http://schemas.openxmlformats.org/drawingml/2006/main">
              <a:ext uri="{FF2B5EF4-FFF2-40B4-BE49-F238E27FC236}">
                <a16:creationId xmlns:a16="http://schemas.microsoft.com/office/drawing/2014/main" id="{89EAD721-0E7F-4814-9735-552BD3F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13   /   28 oct 2026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E0895-FABE-453C-91EA-6004ACCA0CC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7400925"/>
              </a:tblGrid>
              <a:tr h="625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Cuándo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esperado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T w="4763">
                      <a:solidFill>
                        <a:srgbClr val="D5DDD1"/>
                      </a:solidFill>
                      <a:prstDash val="solid"/>
                    </a:lnT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184C3B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28–31 oct · Sprint 5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Validación, revisión e integración del incremento.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2–14 nov · Sprint 6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Pruebas, auditoría, restauración, manuales y valor.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16–21 nov · Sprint 7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Producto estable y entrega final Fase 2 con comprobante.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22–28 nov · Sprint 7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Correcciones y preparación de defensa.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E9EEE5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 nov–12 dic · Fase 3</a:t>
                      </a:r>
                    </a:p>
                  </a:txBody>
                  <a:tcPr marL="152400" marR="152400" marT="114300" marB="114300" anchor="ctr">
                    <a:lnL w="4763">
                      <a:solidFill>
                        <a:srgbClr val="D5DDD1"/>
                      </a:solidFill>
                      <a:prstDash val="solid"/>
                    </a:lnL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D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Defensa, observaciones y cierre del proyecto.</a:t>
                      </a:r>
                    </a:p>
                  </a:txBody>
                  <a:tcPr marL="152400" marR="152400" marT="114300" marB="114300" anchor="ctr">
                    <a:lnR w="4763">
                      <a:solidFill>
                        <a:srgbClr val="D5DDD1"/>
                      </a:solidFill>
                      <a:prstDash val="solid"/>
                    </a:lnR>
                    <a:lnB w="4763">
                      <a:solidFill>
                        <a:srgbClr val="D5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entanas planificadas. Confirmar día y hora exactos de ">
            <a:extLst xmlns:a="http://schemas.openxmlformats.org/drawingml/2006/main">
              <a:ext uri="{FF2B5EF4-FFF2-40B4-BE49-F238E27FC236}">
                <a16:creationId xmlns:a16="http://schemas.microsoft.com/office/drawing/2014/main" id="{7BA060F7-F520-4546-9358-606C209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Ventanas planificadas. Confirmar día y hora exactos de entrega en Campus.</a:t>
            </a:r>
          </a:p>
        </p:txBody>
      </p:sp>
    </p:spTree>
    <p:extLst>
      <p:ext uri="{BB962C8B-B14F-4D97-AF65-F5344CB8AC3E}">
        <p14:creationId xmlns:p14="http://schemas.microsoft.com/office/powerpoint/2010/main" val="361563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ROPUESTA POR RATIFICAR CON EL EQUIPO">
            <a:extLst xmlns:a="http://schemas.openxmlformats.org/drawingml/2006/main">
              <a:ext uri="{FF2B5EF4-FFF2-40B4-BE49-F238E27FC236}">
                <a16:creationId xmlns:a16="http://schemas.microsoft.com/office/drawing/2014/main" id="{C63A4CD6-7E0D-4709-8C4B-15D0E42F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PROPUESTA POR RATIFICAR CON EL EQUIPO</a:t>
            </a:r>
          </a:p>
        </p:txBody>
      </p:sp>
      <p:sp>
        <p:nvSpPr>
          <p:cNvPr id="2" name="Responsabilidades para el tramo final">
            <a:extLst xmlns:a="http://schemas.openxmlformats.org/drawingml/2006/main">
              <a:ext uri="{FF2B5EF4-FFF2-40B4-BE49-F238E27FC236}">
                <a16:creationId xmlns:a16="http://schemas.microsoft.com/office/drawing/2014/main" id="{1447B9A8-634A-4CD0-914A-F9859546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Responsabilidades para el tramo final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C964E232-B971-42AB-868A-E5BD3672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4   /   28 oct 2026">
            <a:extLst xmlns:a="http://schemas.openxmlformats.org/drawingml/2006/main">
              <a:ext uri="{FF2B5EF4-FFF2-40B4-BE49-F238E27FC236}">
                <a16:creationId xmlns:a16="http://schemas.microsoft.com/office/drawing/2014/main" id="{14C72D6B-8398-45AB-91B9-7EA3F033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14   /   28 oct 2026</a:t>
            </a:r>
          </a:p>
        </p:txBody>
      </p:sp>
      <p:sp>
        <p:nvSpPr>
          <p:cNvPr id="5" name="Joel">
            <a:extLst xmlns:a="http://schemas.openxmlformats.org/drawingml/2006/main">
              <a:ext uri="{FF2B5EF4-FFF2-40B4-BE49-F238E27FC236}">
                <a16:creationId xmlns:a16="http://schemas.microsoft.com/office/drawing/2014/main" id="{E5FB186B-C859-4265-A633-6BD9608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Joel</a:t>
            </a:r>
          </a:p>
        </p:txBody>
      </p:sp>
      <p:sp>
        <p:nvSpPr>
          <p:cNvPr id="6" name="Auditoría de cambios.&#10;&#10;Manual técnico e integración.&#10;&#10;V">
            <a:extLst xmlns:a="http://schemas.openxmlformats.org/drawingml/2006/main">
              <a:ext uri="{FF2B5EF4-FFF2-40B4-BE49-F238E27FC236}">
                <a16:creationId xmlns:a16="http://schemas.microsoft.com/office/drawing/2014/main" id="{1ECEE891-06F4-4C6F-98E5-9BEBA252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238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Auditoría de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Manual técnico e integración.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Validación del producto</a:t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decisión de alcance.</a:t>
            </a:r>
          </a:p>
        </p:txBody>
      </p:sp>
      <p:sp>
        <p:nvSpPr>
          <p:cNvPr id="7" name="Matías">
            <a:extLst xmlns:a="http://schemas.openxmlformats.org/drawingml/2006/main">
              <a:ext uri="{FF2B5EF4-FFF2-40B4-BE49-F238E27FC236}">
                <a16:creationId xmlns:a16="http://schemas.microsoft.com/office/drawing/2014/main" id="{73592545-93D5-4AD9-9D23-8DB39409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Matías</a:t>
            </a:r>
          </a:p>
        </p:txBody>
      </p:sp>
      <p:sp>
        <p:nvSpPr>
          <p:cNvPr id="8" name="Docker y aislamiento.&#10;&#10;Pruebas y restauración.&#10;&#10;Evidenc">
            <a:extLst xmlns:a="http://schemas.openxmlformats.org/drawingml/2006/main">
              <a:ext uri="{FF2B5EF4-FFF2-40B4-BE49-F238E27FC236}">
                <a16:creationId xmlns:a16="http://schemas.microsoft.com/office/drawing/2014/main" id="{BFC900F2-FDA7-4CAC-9166-CB065AE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238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Docker y aislamiento.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Pruebas y restauración.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Evidencias técnicas</a:t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revisión de resultados.</a:t>
            </a:r>
          </a:p>
        </p:txBody>
      </p:sp>
      <p:sp>
        <p:nvSpPr>
          <p:cNvPr id="9" name="Agustín">
            <a:extLst xmlns:a="http://schemas.openxmlformats.org/drawingml/2006/main">
              <a:ext uri="{FF2B5EF4-FFF2-40B4-BE49-F238E27FC236}">
                <a16:creationId xmlns:a16="http://schemas.microsoft.com/office/drawing/2014/main" id="{263840A1-94DC-4E9E-9394-D0C5DD51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38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Agustín</a:t>
            </a:r>
          </a:p>
        </p:txBody>
      </p:sp>
      <p:sp>
        <p:nvSpPr>
          <p:cNvPr id="10" name="Vista del estudiante.&#10;&#10;Indicadores, si se incluyen.&#10;&#10;Ma">
            <a:extLst xmlns:a="http://schemas.openxmlformats.org/drawingml/2006/main">
              <a:ext uri="{FF2B5EF4-FFF2-40B4-BE49-F238E27FC236}">
                <a16:creationId xmlns:a16="http://schemas.microsoft.com/office/drawing/2014/main" id="{48D2D3FE-E263-4C84-8B7E-7F862D94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9875"/>
            <a:ext cx="3238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Vista del estudiante.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Indicadores, si se incluyen.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Manual de usuario</a:t>
            </a:r>
          </a:p>
          <a:p xmlns:a="http://schemas.openxmlformats.org/drawingml/2006/main">
            <a:pPr>
              <a:def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y recorridos por rol.</a:t>
            </a:r>
          </a:p>
        </p:txBody>
      </p:sp>
      <p:sp>
        <p:nvSpPr>
          <p:cNvPr id="11" name="Los tres: revisión cruzada, informe final, demostración">
            <a:extLst xmlns:a="http://schemas.openxmlformats.org/drawingml/2006/main">
              <a:ext uri="{FF2B5EF4-FFF2-40B4-BE49-F238E27FC236}">
                <a16:creationId xmlns:a16="http://schemas.microsoft.com/office/drawing/2014/main" id="{224835A6-5D30-424A-9878-D80B0B5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Los tres: revisión cruzada, informe final, demostración y defensa.</a:t>
            </a:r>
          </a:p>
        </p:txBody>
      </p:sp>
    </p:spTree>
    <p:extLst>
      <p:ext uri="{BB962C8B-B14F-4D97-AF65-F5344CB8AC3E}">
        <p14:creationId xmlns:p14="http://schemas.microsoft.com/office/powerpoint/2010/main" val="15922565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VANCE DEL PROYECTO">
            <a:extLst xmlns:a="http://schemas.openxmlformats.org/drawingml/2006/main">
              <a:ext uri="{FF2B5EF4-FFF2-40B4-BE49-F238E27FC236}">
                <a16:creationId xmlns:a16="http://schemas.microsoft.com/office/drawing/2014/main" id="{709D81A0-4FDE-4F1C-93E9-5888F56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58C3C"/>
                </a:solidFill>
                <a:latin typeface="DejaVu Sans"/>
                <a:ea typeface="DejaVu Sans"/>
                <a:cs typeface="DejaVu Sans"/>
              </a:rPr>
              <a:t>AVANCE DEL PROYECTO</a:t>
            </a:r>
          </a:p>
        </p:txBody>
      </p:sp>
      <p:sp>
        <p:nvSpPr>
          <p:cNvPr id="2" name="Evidencias necesarias para cerrar">
            <a:extLst xmlns:a="http://schemas.openxmlformats.org/drawingml/2006/main">
              <a:ext uri="{FF2B5EF4-FFF2-40B4-BE49-F238E27FC236}">
                <a16:creationId xmlns:a16="http://schemas.microsoft.com/office/drawing/2014/main" id="{405A0559-9239-46F0-8B06-921B33C8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84C3B"/>
                </a:solidFill>
                <a:latin typeface="DejaVu Sans"/>
                <a:ea typeface="DejaVu Sans"/>
                <a:cs typeface="DejaVu Sans"/>
              </a:rPr>
              <a:t>Evidencias necesarias para cerrar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4C8AD845-9E9B-4370-82D6-E83C2343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5   /   28 oct 2026">
            <a:extLst xmlns:a="http://schemas.openxmlformats.org/drawingml/2006/main">
              <a:ext uri="{FF2B5EF4-FFF2-40B4-BE49-F238E27FC236}">
                <a16:creationId xmlns:a16="http://schemas.microsoft.com/office/drawing/2014/main" id="{AE7F4D62-651E-45AD-B0E1-AFE77912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85D"/>
                </a:solidFill>
                <a:latin typeface="DejaVu Sans"/>
                <a:ea typeface="DejaVu Sans"/>
                <a:cs typeface="DejaVu Sans"/>
              </a:rPr>
              <a:t>15   /   28 oct 2026</a:t>
            </a:r>
          </a:p>
        </p:txBody>
      </p:sp>
      <p:sp>
        <p:nvSpPr>
          <p:cNvPr id="5" name="01   Alcance y aceptación registrados por el responsabl">
            <a:extLst xmlns:a="http://schemas.openxmlformats.org/drawingml/2006/main">
              <a:ext uri="{FF2B5EF4-FFF2-40B4-BE49-F238E27FC236}">
                <a16:creationId xmlns:a16="http://schemas.microsoft.com/office/drawing/2014/main" id="{A28FB4C6-D78F-4ECC-A737-F2172AA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01   Alcance y aceptación registrados por el responsable del producto.</a:t>
            </a:r>
          </a:p>
        </p:txBody>
      </p:sp>
      <p:sp>
        <p:nvSpPr>
          <p:cNvPr id="6" name="02   Código integrado y servidor verificado con HTTPS y">
            <a:extLst xmlns:a="http://schemas.openxmlformats.org/drawingml/2006/main">
              <a:ext uri="{FF2B5EF4-FFF2-40B4-BE49-F238E27FC236}">
                <a16:creationId xmlns:a16="http://schemas.microsoft.com/office/drawing/2014/main" id="{067E5EC9-ED0A-4B76-A166-9F982A85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02   Código integrado y servidor verificado con HTTPS y datos persistentes.</a:t>
            </a:r>
          </a:p>
        </p:txBody>
      </p:sp>
      <p:sp>
        <p:nvSpPr>
          <p:cNvPr id="7" name="03   Pruebas por rol y restauración de respaldo demostr">
            <a:extLst xmlns:a="http://schemas.openxmlformats.org/drawingml/2006/main">
              <a:ext uri="{FF2B5EF4-FFF2-40B4-BE49-F238E27FC236}">
                <a16:creationId xmlns:a16="http://schemas.microsoft.com/office/drawing/2014/main" id="{D075C169-4DA2-4BDC-AB99-61E05312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03   Pruebas por rol y restauración de respaldo demostradas.</a:t>
            </a:r>
          </a:p>
        </p:txBody>
      </p:sp>
      <p:sp>
        <p:nvSpPr>
          <p:cNvPr id="8" name="04   Manuales, modelos y entregas académicas completos.">
            <a:extLst xmlns:a="http://schemas.openxmlformats.org/drawingml/2006/main">
              <a:ext uri="{FF2B5EF4-FFF2-40B4-BE49-F238E27FC236}">
                <a16:creationId xmlns:a16="http://schemas.microsoft.com/office/drawing/2014/main" id="{36C06A81-79B6-40D8-8055-7FB549A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04   Manuales, modelos y entregas académicas completos.</a:t>
            </a:r>
          </a:p>
        </p:txBody>
      </p:sp>
      <p:sp>
        <p:nvSpPr>
          <p:cNvPr id="9" name="05   Comprobantes de entrega, defensa y retrospectiva r">
            <a:extLst xmlns:a="http://schemas.openxmlformats.org/drawingml/2006/main">
              <a:ext uri="{FF2B5EF4-FFF2-40B4-BE49-F238E27FC236}">
                <a16:creationId xmlns:a16="http://schemas.microsoft.com/office/drawing/2014/main" id="{33B3EFF0-48DE-41B6-9851-8602A92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D33"/>
                </a:solidFill>
                <a:latin typeface="DejaVu Sans"/>
                <a:ea typeface="DejaVu Sans"/>
                <a:cs typeface="DejaVu Sans"/>
              </a:rPr>
              <a:t>05   Comprobantes de entrega, defensa y retrospectiva real.</a:t>
            </a:r>
          </a:p>
        </p:txBody>
      </p:sp>
    </p:spTree>
    <p:extLst>
      <p:ext uri="{BB962C8B-B14F-4D97-AF65-F5344CB8AC3E}">
        <p14:creationId xmlns:p14="http://schemas.microsoft.com/office/powerpoint/2010/main" val="8936150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84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IERRE DEL SPRINT 5 Y PREPARACIÓN DEL SPRINT 6">
            <a:extLst xmlns:a="http://schemas.openxmlformats.org/drawingml/2006/main">
              <a:ext uri="{FF2B5EF4-FFF2-40B4-BE49-F238E27FC236}">
                <a16:creationId xmlns:a16="http://schemas.microsoft.com/office/drawing/2014/main" id="{0313AB0A-D3E0-4443-8D7B-D3057F5C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9BC7A"/>
                </a:solidFill>
                <a:latin typeface="DejaVu Sans"/>
                <a:ea typeface="DejaVu Sans"/>
                <a:cs typeface="DejaVu Sans"/>
              </a:rPr>
              <a:t>CIERRE DEL SPRINT 5 Y PREPARACIÓN DEL SPRINT 6</a:t>
            </a:r>
          </a:p>
        </p:txBody>
      </p:sp>
      <p:sp>
        <p:nvSpPr>
          <p:cNvPr id="2" name="Siguientes pasos">
            <a:extLst xmlns:a="http://schemas.openxmlformats.org/drawingml/2006/main">
              <a:ext uri="{FF2B5EF4-FFF2-40B4-BE49-F238E27FC236}">
                <a16:creationId xmlns:a16="http://schemas.microsoft.com/office/drawing/2014/main" id="{88927A84-D698-4447-BEE2-D52291F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Siguientes pasos</a:t>
            </a:r>
          </a:p>
        </p:txBody>
      </p:sp>
      <p:sp>
        <p:nvSpPr>
          <p:cNvPr id="3" name="SIGAA  /  Capstone 2026">
            <a:extLst xmlns:a="http://schemas.openxmlformats.org/drawingml/2006/main">
              <a:ext uri="{FF2B5EF4-FFF2-40B4-BE49-F238E27FC236}">
                <a16:creationId xmlns:a16="http://schemas.microsoft.com/office/drawing/2014/main" id="{B0A425A6-41A8-418A-9EC9-9BABECE3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rPr>
              <a:t>SIGAA  /  Capstone 2026</a:t>
            </a:r>
          </a:p>
        </p:txBody>
      </p:sp>
      <p:sp>
        <p:nvSpPr>
          <p:cNvPr id="4" name="16   /   28 oct 2026">
            <a:extLst xmlns:a="http://schemas.openxmlformats.org/drawingml/2006/main">
              <a:ext uri="{FF2B5EF4-FFF2-40B4-BE49-F238E27FC236}">
                <a16:creationId xmlns:a16="http://schemas.microsoft.com/office/drawing/2014/main" id="{B0112790-CDE0-4EB9-9F00-0684ECB7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D3E0D7"/>
                </a:solidFill>
                <a:latin typeface="DejaVu Sans"/>
                <a:ea typeface="DejaVu Sans"/>
                <a:cs typeface="DejaVu Sans"/>
              </a:rPr>
              <a:t>16   /   28 oct 2026</a:t>
            </a:r>
          </a:p>
        </p:txBody>
      </p:sp>
      <p:sp>
        <p:nvSpPr>
          <p:cNvPr id="5" name="1. Verificar Docker/PostgreSQL 16 y revisar los tres mó">
            <a:extLst xmlns:a="http://schemas.openxmlformats.org/drawingml/2006/main">
              <a:ext uri="{FF2B5EF4-FFF2-40B4-BE49-F238E27FC236}">
                <a16:creationId xmlns:a16="http://schemas.microsoft.com/office/drawing/2014/main" id="{76BD7A9B-9B31-41D4-B088-82DEAE07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Verificar Docker/PostgreSQL 16 y revisar los tres módulos.</a:t>
            </a:r>
          </a:p>
        </p:txBody>
      </p:sp>
      <p:sp>
        <p:nvSpPr>
          <p:cNvPr id="6" name="2. Resolver observaciones, aceptar e integrar el increm">
            <a:extLst xmlns:a="http://schemas.openxmlformats.org/drawingml/2006/main">
              <a:ext uri="{FF2B5EF4-FFF2-40B4-BE49-F238E27FC236}">
                <a16:creationId xmlns:a16="http://schemas.microsoft.com/office/drawing/2014/main" id="{CF64466E-CFD2-4800-8F98-64168E8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Resolver observaciones, aceptar e integrar el incremento.</a:t>
            </a:r>
          </a:p>
        </p:txBody>
      </p:sp>
      <p:sp>
        <p:nvSpPr>
          <p:cNvPr id="7" name="3. Desplegar con respaldo y comprobar los flujos por ro">
            <a:extLst xmlns:a="http://schemas.openxmlformats.org/drawingml/2006/main">
              <a:ext uri="{FF2B5EF4-FFF2-40B4-BE49-F238E27FC236}">
                <a16:creationId xmlns:a16="http://schemas.microsoft.com/office/drawing/2014/main" id="{0D6C44EF-46C2-42F6-9B56-EF3303B5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Desplegar con respaldo y comprobar los flujos por rol.</a:t>
            </a:r>
          </a:p>
        </p:txBody>
      </p:sp>
      <p:sp>
        <p:nvSpPr>
          <p:cNvPr id="8" name="4. Completar pendientes históricos y formularios indivi">
            <a:extLst xmlns:a="http://schemas.openxmlformats.org/drawingml/2006/main">
              <a:ext uri="{FF2B5EF4-FFF2-40B4-BE49-F238E27FC236}">
                <a16:creationId xmlns:a16="http://schemas.microsoft.com/office/drawing/2014/main" id="{B3D90523-0C2B-4655-A920-95C184C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4. Completar pendientes históricos y formularios individuales.</a:t>
            </a:r>
          </a:p>
        </p:txBody>
      </p:sp>
      <p:sp>
        <p:nvSpPr>
          <p:cNvPr id="9" name="Repositorio: github.com/joellopez775/SIGAA-Capstone-202">
            <a:extLst xmlns:a="http://schemas.openxmlformats.org/drawingml/2006/main">
              <a:ext uri="{FF2B5EF4-FFF2-40B4-BE49-F238E27FC236}">
                <a16:creationId xmlns:a16="http://schemas.microsoft.com/office/drawing/2014/main" id="{06A6DCB0-29BF-4DA6-BFB2-3B6504B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9BC7A"/>
                </a:solidFill>
                <a:latin typeface="DejaVu Sans"/>
                <a:ea typeface="DejaVu Sans"/>
                <a:cs typeface="DejaVu Sans"/>
              </a:rPr>
              <a:t>Repositorio: github.com/joellopez775/SIGAA-Capstone-2026</a:t>
            </a:r>
          </a:p>
        </p:txBody>
      </p:sp>
    </p:spTree>
    <p:extLst>
      <p:ext uri="{BB962C8B-B14F-4D97-AF65-F5344CB8AC3E}">
        <p14:creationId xmlns:p14="http://schemas.microsoft.com/office/powerpoint/2010/main" val="221891420"/>
      </p:ext>
    </p:extLst>
  </p:cSld>
</p:sld>
</file>

<file path=ppt/theme/theme1.xml><?xml version="1.0" encoding="utf-8"?>
<a:theme xmlns:a="http://schemas.openxmlformats.org/drawingml/2006/main" name="SIGAA">
  <a:themeElements>
    <a:clrScheme name="SIGA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IG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SIGAA</ns0:Application>
  <ns0:PresentationFormat>Presentación de avance</ns0:PresentationFormat>
  <ns0:Slides>16</ns0:Slides>
  <ns0:Notes>16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SIGAA</dc:creator>
  <ns0:lastModifiedBy>SIGAA</ns0:lastModifiedBy>
  <dc:title>Avance del proyecto SIGAA</dc:title>
  <ns2:created xsi:type="dcterms:W3CDTF">2026-10-28T23:57:36.3340000Z</ns2:created>
  <ns2:modified xsi:type="dcterms:W3CDTF">2026-10-28T23:57:36.3340000Z</ns2:modified>
</ns0:coreProperties>
</file>