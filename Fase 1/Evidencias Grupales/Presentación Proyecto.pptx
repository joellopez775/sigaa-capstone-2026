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e452464a08447a" /><Relationship Type="http://schemas.openxmlformats.org/officeDocument/2006/relationships/extended-properties" Target="/docProps/app.xml" Id="R61ca218a32414956" /><Relationship Type="http://schemas.openxmlformats.org/officeDocument/2006/relationships/officeDocument" Target="/ppt/presentation.xml" Id="R3cb202c1e0014d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6b0dc5e02243ff"/>
  </p:sldMasterIdLst>
  <p:notesMasterIdLst>
    <p:notesMasterId xmlns:r="http://schemas.openxmlformats.org/officeDocument/2006/relationships" r:id="R363d11ded86a4ab8"/>
  </p:notesMasterIdLst>
  <p:sldIdLst>
    <p:sldId xmlns:r="http://schemas.openxmlformats.org/officeDocument/2006/relationships" id="256" r:id="Rd070f0a04aa0443a"/>
    <p:sldId xmlns:r="http://schemas.openxmlformats.org/officeDocument/2006/relationships" id="257" r:id="Ref31d86911824a82"/>
    <p:sldId xmlns:r="http://schemas.openxmlformats.org/officeDocument/2006/relationships" id="258" r:id="R501eec359bea4443"/>
    <p:sldId xmlns:r="http://schemas.openxmlformats.org/officeDocument/2006/relationships" id="259" r:id="R5d5727911b3c4204"/>
    <p:sldId xmlns:r="http://schemas.openxmlformats.org/officeDocument/2006/relationships" id="260" r:id="R83dd30de3eff4750"/>
    <p:sldId xmlns:r="http://schemas.openxmlformats.org/officeDocument/2006/relationships" id="261" r:id="R0b46329c36854e05"/>
    <p:sldId xmlns:r="http://schemas.openxmlformats.org/officeDocument/2006/relationships" id="262" r:id="R84bf1824d6c6492d"/>
    <p:sldId xmlns:r="http://schemas.openxmlformats.org/officeDocument/2006/relationships" id="263" r:id="Rd1bc74e0ad454abe"/>
    <p:sldId xmlns:r="http://schemas.openxmlformats.org/officeDocument/2006/relationships" id="264" r:id="Rc5ff4be9ce194900"/>
    <p:sldId xmlns:r="http://schemas.openxmlformats.org/officeDocument/2006/relationships" id="265" r:id="R34b757e7a3e843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e0cb6294554041" /><Relationship Type="http://schemas.openxmlformats.org/officeDocument/2006/relationships/slideMaster" Target="/ppt/slideMasters/slideMaster1.xml" Id="Rcc6b0dc5e02243ff" /><Relationship Type="http://schemas.openxmlformats.org/officeDocument/2006/relationships/notesMaster" Target="/ppt/notesMasters/notesMaster1.xml" Id="R363d11ded86a4ab8" /><Relationship Type="http://schemas.openxmlformats.org/officeDocument/2006/relationships/presProps" Target="/ppt/presProps.xml" Id="R22df164e305f4e74" /><Relationship Type="http://schemas.openxmlformats.org/officeDocument/2006/relationships/tableStyles" Target="/ppt/tableStyles.xml" Id="Rf14df0c71fa34c55" /><Relationship Type="http://schemas.openxmlformats.org/officeDocument/2006/relationships/slide" Target="/ppt/slides/slide1.xml" Id="Rd070f0a04aa0443a" /><Relationship Type="http://schemas.openxmlformats.org/officeDocument/2006/relationships/slide" Target="/ppt/slides/slide2.xml" Id="Ref31d86911824a82" /><Relationship Type="http://schemas.openxmlformats.org/officeDocument/2006/relationships/slide" Target="/ppt/slides/slide3.xml" Id="R501eec359bea4443" /><Relationship Type="http://schemas.openxmlformats.org/officeDocument/2006/relationships/slide" Target="/ppt/slides/slide4.xml" Id="R5d5727911b3c4204" /><Relationship Type="http://schemas.openxmlformats.org/officeDocument/2006/relationships/slide" Target="/ppt/slides/slide5.xml" Id="R83dd30de3eff4750" /><Relationship Type="http://schemas.openxmlformats.org/officeDocument/2006/relationships/slide" Target="/ppt/slides/slide6.xml" Id="R0b46329c36854e05" /><Relationship Type="http://schemas.openxmlformats.org/officeDocument/2006/relationships/slide" Target="/ppt/slides/slide7.xml" Id="R84bf1824d6c6492d" /><Relationship Type="http://schemas.openxmlformats.org/officeDocument/2006/relationships/slide" Target="/ppt/slides/slide8.xml" Id="Rd1bc74e0ad454abe" /><Relationship Type="http://schemas.openxmlformats.org/officeDocument/2006/relationships/slide" Target="/ppt/slides/slide9.xml" Id="Rc5ff4be9ce194900" /><Relationship Type="http://schemas.openxmlformats.org/officeDocument/2006/relationships/slide" Target="/ppt/slides/slide10.xml" Id="R34b757e7a3e843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b16701e85047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GAA">
  <a:themeElements>
    <a:clrScheme name="SIGAA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IGA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1f210faa834449" /><Relationship Type="http://schemas.openxmlformats.org/officeDocument/2006/relationships/notesMaster" Target="/ppt/notesMasters/notesMaster1.xml" Id="Rde9c6383b5a44c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c01f4f310a4ac0" /><Relationship Type="http://schemas.openxmlformats.org/officeDocument/2006/relationships/notesMaster" Target="/ppt/notesMasters/notesMaster1.xml" Id="R28bf6f65572347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d3f381a5ef49e1" /><Relationship Type="http://schemas.openxmlformats.org/officeDocument/2006/relationships/notesMaster" Target="/ppt/notesMasters/notesMaster1.xml" Id="R4354c2163b4a4a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31a5667f8d4fcc" /><Relationship Type="http://schemas.openxmlformats.org/officeDocument/2006/relationships/notesMaster" Target="/ppt/notesMasters/notesMaster1.xml" Id="Rf8644aad86684e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483389480a432b" /><Relationship Type="http://schemas.openxmlformats.org/officeDocument/2006/relationships/notesMaster" Target="/ppt/notesMasters/notesMaster1.xml" Id="R0b1e6307bf0743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9b38a771c94804" /><Relationship Type="http://schemas.openxmlformats.org/officeDocument/2006/relationships/notesMaster" Target="/ppt/notesMasters/notesMaster1.xml" Id="R5d6e0d4b9b324b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565ddf535d492d" /><Relationship Type="http://schemas.openxmlformats.org/officeDocument/2006/relationships/notesMaster" Target="/ppt/notesMasters/notesMaster1.xml" Id="Rae1588b72a3f47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3884a5e0ef409a" /><Relationship Type="http://schemas.openxmlformats.org/officeDocument/2006/relationships/notesMaster" Target="/ppt/notesMasters/notesMaster1.xml" Id="R3863e565a62d4a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abe46ae32d4135" /><Relationship Type="http://schemas.openxmlformats.org/officeDocument/2006/relationships/notesMaster" Target="/ppt/notesMasters/notesMaster1.xml" Id="R48733c23909540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3c6e9cc4864b89" /><Relationship Type="http://schemas.openxmlformats.org/officeDocument/2006/relationships/notesMaster" Target="/ppt/notesMasters/notesMaster1.xml" Id="Ref7daedb1d9c46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situando el propósito del Sprint 1: convertir la definición inicial en decisiones técnicas y un prototipo verificable.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SIGAA/docs/scrum/sprint-1/00-sprint-planning.md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el problema con la necesidad de una vista integrada y acciones auditables.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SIGAA/docs/01-vision-y-alcance.md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 cadena de valor completa, evitando presentar SIGAA como un simple panel de indicadores.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SIGAA/docs/01-vision-y-alcance.md</a:t>
            </a:r>
          </a:p>
          <a:p xmlns:a="http://schemas.openxmlformats.org/drawingml/2006/main">
            <a:r>
              <a:t>- SIGAA/docs/design/03-uml-casos-de-uso.md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Reforzar que el prototipo se diseñó para varios actores, aunque la validación formal con usuarios aún está 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SIGAA/docs/01-vision-y-alcance.md</a:t>
            </a:r>
          </a:p>
          <a:p xmlns:a="http://schemas.openxmlformats.org/drawingml/2006/main">
            <a:r>
              <a:t>- SIGAA/docs/validacion/01-guion-validacion.md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exclusiones como una decisión de control del riesgo y no como una carencia.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SIGAA/docs/01-vision-y-alcance.md</a:t>
            </a:r>
          </a:p>
          <a:p xmlns:a="http://schemas.openxmlformats.org/drawingml/2006/main">
            <a:r>
              <a:t>- SIGAA/docs/03-product-backlog.md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Docker reduce diferencias de entorno, pero no reemplaza pruebas ni documentación.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SIGAA/docs/adr/ADR-001-stack-tecnologico.md</a:t>
            </a:r>
          </a:p>
          <a:p xmlns:a="http://schemas.openxmlformats.org/drawingml/2006/main">
            <a:r>
              <a:t>- SIGAA/docs/design/01-arquitectura-contenedores.md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Vincular el flujo con el modelo ER y destacar que los factores deben persistirse para explicar cada alerta.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SIGAA/docs/design/02-modelo-er-diccionario.md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Demostrar el recorrido; no presentar el prototipo como sistema productivo ni como validación con usuarios.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SIGAA/entregables/fase-1/evidencias/prototipo-dashboard.png</a:t>
            </a:r>
          </a:p>
          <a:p xmlns:a="http://schemas.openxmlformats.org/drawingml/2006/main">
            <a:r>
              <a:t>- SIGAA/docs/design/04-prototipo-navegable.md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por qué el burndown no baja con trabajo parcial: evita inflar avance antes de la aceptación.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SIGAA/docs/scrum/sprint-1/03-daily-semana-3.md</a:t>
            </a:r>
          </a:p>
          <a:p xmlns:a="http://schemas.openxmlformats.org/drawingml/2006/main">
            <a:r>
              <a:t>- SIGAA/docs/scrum/sprint-1/04-burndown.md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pidiendo decisiones concretas. La aprobación del Sprint 0 y la ratificación de roles también permanecen pendientes si el PO aún no las ha registrado.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SIGAA/docs/scrum/sprint-1/01-sprint-backlog.md</a:t>
            </a:r>
          </a:p>
          <a:p xmlns:a="http://schemas.openxmlformats.org/drawingml/2006/main">
            <a:r>
              <a:t>- SIGAA/docs/03-product-backlog.md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648230aa8649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b50a64f08f473e" /><Relationship Type="http://schemas.openxmlformats.org/officeDocument/2006/relationships/slideLayout" Target="/ppt/slideLayouts/slideLayout1.xml" Id="Rbfcc4cd4c67441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cc4cd4c67441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SIGAA">
  <a:themeElements>
    <a:clrScheme name="SIGAA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IGA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39c60dcb84876" /><Relationship Type="http://schemas.openxmlformats.org/officeDocument/2006/relationships/notesSlide" Target="/ppt/notesSlides/notesSlide1.xml" Id="R6018510f7b9544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df26443434538" /><Relationship Type="http://schemas.openxmlformats.org/officeDocument/2006/relationships/notesSlide" Target="/ppt/notesSlides/notesSlide2.xml" Id="R0e8f0128af5747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9a8a0da584c72" /><Relationship Type="http://schemas.openxmlformats.org/officeDocument/2006/relationships/notesSlide" Target="/ppt/notesSlides/notesSlide3.xml" Id="R40e977eb0bd24f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cdc5488cc4529" /><Relationship Type="http://schemas.openxmlformats.org/officeDocument/2006/relationships/notesSlide" Target="/ppt/notesSlides/notesSlide4.xml" Id="R737dedf3c1de4e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7091b7486486e" /><Relationship Type="http://schemas.openxmlformats.org/officeDocument/2006/relationships/notesSlide" Target="/ppt/notesSlides/notesSlide5.xml" Id="R3b05365dd4cb45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b08f8b1dd4001" /><Relationship Type="http://schemas.openxmlformats.org/officeDocument/2006/relationships/notesSlide" Target="/ppt/notesSlides/notesSlide6.xml" Id="R28a11ebf1f664c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29a8c60224ff7" /><Relationship Type="http://schemas.openxmlformats.org/officeDocument/2006/relationships/notesSlide" Target="/ppt/notesSlides/notesSlide7.xml" Id="Rec87d22eeb3c4e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2cc162642459c" /><Relationship Type="http://schemas.openxmlformats.org/officeDocument/2006/relationships/image" Target="/ppt/media/image.jpeg" Id="Ra414faeeca70481d" /><Relationship Type="http://schemas.openxmlformats.org/officeDocument/2006/relationships/notesSlide" Target="/ppt/notesSlides/notesSlide8.xml" Id="R3fb2cab05c1e44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592438591460f" /><Relationship Type="http://schemas.openxmlformats.org/officeDocument/2006/relationships/notesSlide" Target="/ppt/notesSlides/notesSlide9.xml" Id="R68c9f2a2f8de4d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1f5ebc3a04da7" /><Relationship Type="http://schemas.openxmlformats.org/officeDocument/2006/relationships/notesSlide" Target="/ppt/notesSlides/notesSlide10.xml" Id="R099c7e7177bd4a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EF590D-8AEE-415C-813C-69CD84D5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CAPSTONE 2026 · FASE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87A82-635E-43CF-9C01-DE3BF49B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34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SIGAA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9EFF0-497C-47BC-95B1-84031047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8286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Gestión académica con alertas tempranas y seguimiento trazable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474AE-335D-4943-8BF7-1449FF25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06BCA-C87D-46C7-8FC4-7FD5CC5D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Avance Sprint 1 · semana simulada 24–28 agosto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10CB6-DF44-459E-B2A7-D287E61C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530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Product Owner: Joel López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04E63-05B1-4415-B4E2-ED0D3270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Estado: evidencia preparada para revisión y aceptación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010AD-E8A6-4BB2-8390-AE4FE743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1430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3668F-E557-46F4-809D-9A61DD6F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1000"/>
            <a:ext cx="7620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085431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24B73C-3478-42DA-B2FE-30C0D6C6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CAPSTONE 2026 · SIGAA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D44E4-BEEE-440E-9E18-994CB268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El problema no es la falta de datos: es que llegan tarde y sin contexto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3D3EB-A9F2-452C-BB47-DA3E8C30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D8F64-FDB7-491C-8BE0-26387630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86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La información académica dispersa dificulta detectar riesgo, coordinar acciones y demostrar qué intervención se realizó.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7524750" y="1828800"/>
            <a:ext cx="4095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10A2E-5790-4CEE-A329-5E2F6447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720E2-9962-4441-BA7F-F7185CB6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Fragmentación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29CC2-30C7-4666-892C-878E72FF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Notas, asistencia y convivencia se consultan por separado.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7524750" y="3067050"/>
            <a:ext cx="4095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9F16D-51D7-4B82-87A2-1E5B578E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85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C3CB8-7B17-4A06-BCF6-3D5CB4E5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Reacción tardía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77F04-7911-4658-9954-16AD2E7B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Las señales se reconocen cuando el problema ya escaló.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7524750" y="4305300"/>
            <a:ext cx="4095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30628-19A7-4BB7-A089-E2AEC33B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269E1-E2ED-4516-8926-71A105A2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Baja trazabilidad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F2E1F-A804-49C5-8E87-207F9590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No existe una cadena clara entre alerta, responsable y resultado.</a:t>
            </a:r>
          </a:p>
        </p:txBody>
      </p:sp>
    </p:spTree>
    <p:extLst>
      <p:ext uri="{BB962C8B-B14F-4D97-AF65-F5344CB8AC3E}">
        <p14:creationId xmlns:p14="http://schemas.microsoft.com/office/powerpoint/2010/main" val="12867251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20B8E-43C2-4B2F-AEEB-5FCDF580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CAPSTONE 2026 · SIGAA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E6654-EC62-41F0-B866-F6CB65D6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79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SIGAA convierte señales académicas en acciones verificables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6A787-341A-404D-9066-7AF16AF2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1190625" y="3429000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6DCBF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A6727-E688-440A-BCD4-27E50B91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6D4F7-CCF1-4CF8-BC5F-42E25425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9925"/>
            <a:ext cx="781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D8D10-A2DC-43A0-BDA9-9D592182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43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Integrar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7EB48-752B-40FB-BF41-5432C187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Notas, asistencia y convivencia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42504-B919-48E7-97A9-5B7000BC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8AA76-5BD3-4897-8C1B-5052F44A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09925"/>
            <a:ext cx="781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84064-709A-4A26-A401-A54FFD69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43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Explicar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7C134-0473-4AAE-A4A5-16A6BF15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29150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Reglas y factores visibles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C8E35-D3CD-4C59-AB5C-72009914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3C753-0D28-4960-B185-05927A20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9925"/>
            <a:ext cx="781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8BB8BB-59CE-4B68-92A5-751CB380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43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Actuar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133CA-1DCA-45AE-A5D0-838D68E2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29150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Responsable, plazo e intervención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C4576C-BDCE-4F09-A040-A67DD7EB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A585F-8D15-48FB-861C-8870B53F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09925"/>
            <a:ext cx="781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3FF916-321C-4160-BE2E-EF950DB7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43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Aprender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D9AB35-84E6-4DC4-A0F5-1A791606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29150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Resultado e indicadores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E8FB40-FC8F-47D8-9DA3-029F5285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673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49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Principio del MVP: una alerta siempre debe poder explicar por qué existe y qué se hizo después.</a:t>
            </a:r>
          </a:p>
        </p:txBody>
      </p:sp>
    </p:spTree>
    <p:extLst>
      <p:ext uri="{BB962C8B-B14F-4D97-AF65-F5344CB8AC3E}">
        <p14:creationId xmlns:p14="http://schemas.microsoft.com/office/powerpoint/2010/main" val="1196631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74E2B4-BF2C-45D9-94DB-37B67F0F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CAPSTONE 2026 · SIGAA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F1111-16B5-42C4-A5F4-6A358DB4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Cuatro perfiles comparten una misma evidencia, con responsabilidades distintas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A01E5-3F5C-4C04-9A02-DE9714E3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7C5E1-CB2A-49DC-B447-4374B383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FF43A-8EF1-4CAD-AC2C-C975FAA0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8097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Dirección / UTP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50FAF-B5CE-4700-A511-3A1B9486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36220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Prioriza casos, revisa tendencias y controla tiempos de respuesta.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57200" y="3333750"/>
            <a:ext cx="51911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9FBE1-90E2-43AE-8ABD-6DC15D6F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5132C-32CD-4141-B233-06CD273E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8097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Docentes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C2E33-1554-4B98-AE7B-D140FE3D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6220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Registran observaciones y consultan antecedentes relevantes.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6229350" y="3333750"/>
            <a:ext cx="51911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D1481-4A12-44A4-A3EB-9955E14C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3533C-E7DD-4A86-9748-D74EE205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100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Inspectoría / convivencia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AD179-AA9C-4EB1-BE2B-66FA34AE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3624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Gestiona alertas operativas e intervenciones asignadas.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57200" y="5334000"/>
            <a:ext cx="51911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E80E9-2829-495E-865D-ED2F5267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100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C3196-E19E-46DC-8A09-B958FA68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8100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Estudiantes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E7267-90A9-4E57-B5B5-91DA14BD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3624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Reciben acompañamiento oportuno con decisiones fundamentadas.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6229350" y="5334000"/>
            <a:ext cx="51911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2705615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8834E-5730-4E1D-85C3-3C38B862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CAPSTONE 2026 · SIGAA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B8C83-8315-4C23-B0B1-BE54D1F6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El MVP prioriza detección y seguimiento; evita complejidad que aún no aporta evidencia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F0CCE-BCCE-4737-8B6D-02172FED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28463-127C-4AEB-9B50-8100BA2F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AF065-CF2A-43A1-9DBB-04AB7D99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5054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EAC10-843D-44D0-9F65-5B955287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57F3D"/>
                </a:solidFill>
                <a:latin typeface="Helvetica Neue"/>
                <a:ea typeface="Helvetica Neue"/>
                <a:cs typeface="Helvetica Neue"/>
              </a:rPr>
              <a:t>INCLUIDO EN EL MVP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341C2-A696-4090-9DC5-C837C415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4767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Acceso por rol</a:t>
            </a:r>
          </a:p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Panel de indicadores</a:t>
            </a:r>
          </a:p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Búsqueda y ficha de estudiante</a:t>
            </a:r>
          </a:p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Alertas explicables</a:t>
            </a:r>
          </a:p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Registro de intervenciones</a:t>
            </a:r>
          </a:p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Auditoría básica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360AC-C288-4360-8731-2A3ABC4C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FUERA DE ALCANCE INICIAL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4E029-A8A6-48C1-87DB-68635869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71750"/>
            <a:ext cx="461962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• Predicción sin datos validados</a:t>
            </a:r>
          </a:p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• Integraciones productivas con terceros</a:t>
            </a:r>
          </a:p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• Aplicación móvil nativa</a:t>
            </a:r>
          </a:p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• Automatización disciplinaria</a:t>
            </a:r>
          </a:p>
          <a:p xmlns:a="http://schemas.openxmlformats.org/drawingml/2006/main">
            <a:pPr algn="l">
              <a:def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• Decisiones sin supervisión humana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05E38-6CEB-4436-872A-A65E9C52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816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87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La frontera del alcance protege tiempo, privacidad y calidad de validación.</a:t>
            </a:r>
          </a:p>
        </p:txBody>
      </p:sp>
    </p:spTree>
    <p:extLst>
      <p:ext uri="{BB962C8B-B14F-4D97-AF65-F5344CB8AC3E}">
        <p14:creationId xmlns:p14="http://schemas.microsoft.com/office/powerpoint/2010/main" val="14352865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C4889-B462-4334-8485-F2D9BA59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CAPSTONE 2026 · SIGAA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DA55D-43BD-4E0C-A9B5-20ABDACE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La arquitectura separa experiencia, reglas y persistencia para evolucionar por incrementos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71877-A2A8-48C0-BDE7-88E21BBB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2905125" y="30956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29" name=""/>
          <p:cNvCxnSpPr/>
          <p:nvPr/>
        </p:nvCxnSpPr>
        <p:spPr>
          <a:xfrm xmlns:a="http://schemas.openxmlformats.org/drawingml/2006/main">
            <a:off x="5905500" y="30956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8905875" y="30956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A3144-4AAA-4203-B00A-9F03529F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2238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1D948-E785-4F34-9B3A-5F06BB5E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Usuario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DBC95-6ACD-4F53-932A-C64E6DEA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95625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Navegador</a:t>
            </a:r>
          </a:p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por 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32AC7-714A-4F52-878F-FF520134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86000"/>
            <a:ext cx="2238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0E468-B561-4CE8-AD33-2963592E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Web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ACC66-0DF9-49DF-B844-F7A41B80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95625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React + Vite</a:t>
            </a:r>
          </a:p>
          <a:p xmlns:a="http://schemas.openxmlformats.org/drawingml/2006/main">
            <a:pPr algn="ctr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interfaz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8E253-E1CD-4747-92B1-F462C606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2238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3BBD9-6D2A-46D3-AE12-93B18CC2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7175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28F69-190D-4C1F-8D78-340CF058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95625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Express</a:t>
            </a:r>
          </a:p>
          <a:p xmlns:a="http://schemas.openxmlformats.org/drawingml/2006/main">
            <a:pPr algn="ctr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reglas y acceso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8E97E-FA61-4361-A316-896E7598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86000"/>
            <a:ext cx="2238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80C1E-6A59-4739-B993-CADAC136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4D8E1-5661-49E9-996C-B33D9A56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95625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auditoría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75F66-15A1-4FD0-BD6E-8C0FBADF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24375"/>
            <a:ext cx="823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Docker Compose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3667125" y="4953000"/>
            <a:ext cx="823912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6DCBF4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0C466B-E0B7-4D72-B0F6-4904318C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191125"/>
            <a:ext cx="823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Misma ejecución para todo el equipo · servicios aislados · configuración reproducible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1C9135-5FCF-460B-9153-6125BF5D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Decisión ADR-001: React, Express y PostgreSQL; TypeScript se incorpora gradualmente.</a:t>
            </a:r>
          </a:p>
        </p:txBody>
      </p:sp>
    </p:spTree>
    <p:extLst>
      <p:ext uri="{BB962C8B-B14F-4D97-AF65-F5344CB8AC3E}">
        <p14:creationId xmlns:p14="http://schemas.microsoft.com/office/powerpoint/2010/main" val="6932278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CDDB0A-97B2-4334-AAE0-ABC69AA4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CAPSTONE 2026 · SIGAA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F5EF2-DBA4-4300-AD2A-8A343C67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4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Cada alerta conserva el rastro desde la señal hasta el resultado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1B202-6EFA-4CA1-9829-B3B5F1BC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1047750" y="3371850"/>
            <a:ext cx="971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73DC5-6D63-4EB6-A892-012EE0E7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DD3FA-8743-458D-BA1B-87AD9AB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A81F3-C0FC-4C7A-841B-E277DC2B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Señal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F6E19-E0F6-4BD8-AF6D-6BBA498E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Asistencia, nota u observación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A57BB-6CD5-4BBD-84E6-2CA261F8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C87A3-59BB-49B9-88A1-D580B767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718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BCB17-A901-4EB3-A538-B9C5CC59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95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Regla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7A353-F335-4F85-84D1-57A8B794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24375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Umbral y factor explicable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9F178-02CC-4AAA-8471-5C9E163B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289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1BF21-CD54-4361-91E8-3D68074A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8D9E1-1666-472A-AC5F-82886B8E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95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Alerta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58EED-CB9A-433D-82FA-54FABD7B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24375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Severidad y estado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140C67-AE9E-42ED-9A21-2F02E801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89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C99283-5F47-4152-A789-95187082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718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9B0A8-C524-4599-BEC3-80E102E7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95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Intervención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8816D4-9BDE-4C5B-970C-9B0ABDEB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24375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Responsable y fecha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1BACEC-B49C-4073-BD99-29186A20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883788-36EE-4498-A0A9-8D4155FF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718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240894-D19F-46BC-9C5F-F8B59738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Evidencia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1FC40A-89F2-4C08-BD60-EE8E8484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24375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Resultado y auditoría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473C35-3AAE-4100-999F-E89B18F1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29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78F4DF-386E-4CDF-87C1-090AFDAD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Entidades base: estudiante · alerta · regla · factor · intervención · usuario · auditoría</a:t>
            </a:r>
          </a:p>
        </p:txBody>
      </p:sp>
    </p:spTree>
    <p:extLst>
      <p:ext uri="{BB962C8B-B14F-4D97-AF65-F5344CB8AC3E}">
        <p14:creationId xmlns:p14="http://schemas.microsoft.com/office/powerpoint/2010/main" val="16773747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5E33A-A4F0-40B6-B660-653042FD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CAPSTONE 2026 · SIGAA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5CCFD-0F52-4CE4-9035-305335A6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El prototipo ya permite recorrer el flujo principal con datos sintéticos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C74BB-A5F1-4FF6-A8BF-15C04EF8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4faeeca70481d"/>
          <a:stretch xmlns:a="http://schemas.openxmlformats.org/drawingml/2006/main"/>
        </p:blipFill>
        <p:spPr>
          <a:xfrm xmlns:a="http://schemas.openxmlformats.org/drawingml/2006/main">
            <a:off x="723900" y="1714500"/>
            <a:ext cx="6705600" cy="419100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F3104-AE6D-4D3A-A1AC-BF1C8C2B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14500"/>
            <a:ext cx="36671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8E654-CCBD-41BB-BD4A-87D6EC4E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19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57F3D"/>
                </a:solidFill>
                <a:latin typeface="Helvetica Neue"/>
                <a:ea typeface="Helvetica Neue"/>
                <a:cs typeface="Helvetica Neue"/>
              </a:rPr>
              <a:t>VERIFICADO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98840-A711-4405-8B0E-AFED640B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29051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1. Inicio de sesión 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2. Búsqueda de estudiante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3. Ficha y factores de riesgo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4. Filtro de alertas críticas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5. Vista móvil sin desborde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8334375" y="521970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95601-E63F-4E5D-9348-72E88180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816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API: 6/6 pruebas</a:t>
            </a:r>
          </a:p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Web: build correcto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42072-7E23-4E71-A761-73040279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Datos visibles: exclusivamente sintéticos</a:t>
            </a:r>
          </a:p>
        </p:txBody>
      </p:sp>
    </p:spTree>
    <p:extLst>
      <p:ext uri="{BB962C8B-B14F-4D97-AF65-F5344CB8AC3E}">
        <p14:creationId xmlns:p14="http://schemas.microsoft.com/office/powerpoint/2010/main" val="10348533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C85ED8-4F81-4025-AA90-83DC49A9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CAPSTONE 2026 · SIGAA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67F5D-D324-4C0A-BAC4-64EF664F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La semana 3 produjo decisiones y evidencia; la aceptación sigue siendo el siguiente control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8E872-9F8A-41FE-8F30-9B6689DE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1000125" y="33813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0BCF5-56B6-496F-BB4C-EBF67C1E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05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ACF88-6C64-47CC-9AFF-AF831044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3C58D-27C8-4E1D-97A8-1BE13462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LUN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A5184-C5CC-4797-9B8B-51F0C8C1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Kickoff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15C96-71B2-4853-AAF0-F0B665BA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1762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Objetivo, capacidad y roles propuestos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2B698-6378-4458-BF27-FB6A01A9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05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4A275-5692-433C-A4B0-612C33BA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AF03EC-8380-41E6-ADE6-409BB233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MAR 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FE54B-5CFE-4C36-8F35-FEB12A5B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Diseño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BBCA3B-537C-4A34-85A4-B49D4DE5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00500"/>
            <a:ext cx="1762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Arquitectura, ER y casos de uso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52C23-953D-45B6-94AE-AF34EC16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05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6F4D5-1A1D-4FCA-B165-6715F2BE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19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986B3-4C0C-442B-BD8E-281C0B62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52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MIÉ 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977BD0-BEEB-4EAC-A4A2-1ACDB29B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860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Construcción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C8A5A8-21B7-401F-B9E8-2869895F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00500"/>
            <a:ext cx="1762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Datos sintéticos y navegación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78725C-E192-4730-8A24-E8A55F1F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FB1B08-375A-442A-A4EE-476EA8EA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ABC9B6-F018-430B-BE4B-60BE7B19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52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JUE 27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546428-1CA6-461E-B09E-2C50796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Verificación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D2DA11-EB51-4B82-873A-D661422C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1762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API, build, Docker y móvil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D5B161-7B63-44DD-A3C0-49A19D6A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05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2A20B5-ED2D-4C50-B0D9-25E5BA30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19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AE4CCA-C59A-4FE7-A767-375142AD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52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VIE 28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2BC8EB-3EF4-4A0E-AEF2-CA667909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860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Evidencia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7C1A98-F3E3-47E2-87F2-DBA8E63D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0"/>
            <a:ext cx="1762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Documento, deck y revisión PO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0E58BF-FF7F-4B02-BFE2-71AD498F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D9513A-DCBD-4589-9777-818A0625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Burndown real: 30 puntos pendientes. No se descuentan puntos hasta que las historias cumplan DoD y sean aceptadas.</a:t>
            </a:r>
          </a:p>
        </p:txBody>
      </p:sp>
    </p:spTree>
    <p:extLst>
      <p:ext uri="{BB962C8B-B14F-4D97-AF65-F5344CB8AC3E}">
        <p14:creationId xmlns:p14="http://schemas.microsoft.com/office/powerpoint/2010/main" val="9762290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93FE8-69D4-488F-8A10-41978D41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CAPSTONE 2026 · SIGAA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C8C10-91E7-4DCC-9DE9-74FAC92D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8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Sprint 1 queda listo para revisión, no para cierre automático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DF25F-AC68-4F9F-8AB1-E7CE4B7F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10CC4-8080-4E74-B4CC-860B835E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Evidencia preparada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15A36-551D-4714-BDB1-9B76D9C8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Backlog, tablero, dailies y burndown</a:t>
            </a:r>
          </a:p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ADR, arquitectura, ER y UML</a:t>
            </a:r>
          </a:p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Prototipo navegable con Docker</a:t>
            </a:r>
          </a:p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Pruebas, capturas y documento Fase 1</a:t>
            </a:r>
          </a:p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Presentación institucional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5905500" y="1809750"/>
            <a:ext cx="0" cy="3714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43BC4-0420-4F00-B20A-E7815787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DECISIONES SOLICITADAS AL 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DF8CE-CF69-4D72-8B16-B4FAA33F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1. Aceptar o devolver PB-006 a PB-010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2. Priorizar validación con usuarios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3. Ratificar responsables del equipo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4. Autorizar el cierre formal del Sprint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4796D-6402-4D6B-890A-D6EE71E1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91125"/>
            <a:ext cx="457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A6B7E-1441-4704-8113-9C820A78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2447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55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Recomendación: aprobar con observaciones y abrir la validación formal como primera actividad del siguiente incremento.</a:t>
            </a:r>
          </a:p>
        </p:txBody>
      </p:sp>
    </p:spTree>
    <p:extLst>
      <p:ext uri="{BB962C8B-B14F-4D97-AF65-F5344CB8AC3E}">
        <p14:creationId xmlns:p14="http://schemas.microsoft.com/office/powerpoint/2010/main" val="105405556"/>
      </p:ext>
    </p:extLst>
  </p:cSld>
</p:sld>
</file>

<file path=ppt/theme/theme1.xml><?xml version="1.0" encoding="utf-8"?>
<a:theme xmlns:a="http://schemas.openxmlformats.org/drawingml/2006/main" name="SIGAA">
  <a:themeElements>
    <a:clrScheme name="SIGAA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IGA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lastModifiedBy>Walnut Exporter</lastModifiedBy>
  <dc:title>Presentation</dc:title>
  <dcterms:created xsi:type="dcterms:W3CDTF">2026-08-22T00:03:29.0060000Z</dcterms:created>
  <dcterms:modified xsi:type="dcterms:W3CDTF">2026-08-22T00:03:29.0060000Z</dcterms:modified>
</coreProperties>
</file>